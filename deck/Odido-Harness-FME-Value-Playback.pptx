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notesMasters/notesMaster1.xml" ContentType="application/vnd.openxmlformats-officedocument.presentationml.notesMaster+xml"/>
  <Override PartName="/ppt/slides/slide3.xml" ContentType="application/vnd.openxmlformats-officedocument.presentationml.slide+xml"/>
  <Override PartName="/ppt/slides/slide11.xml" ContentType="application/vnd.openxmlformats-officedocument.presentationml.slide+xml"/>
  <Override PartName="/ppt/slides/slide6.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6.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notesSlides/notesSlide3.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 name="PlaceHolder 1"/>
          <p:cNvSpPr>
            <a:spLocks noGrp="1"/>
          </p:cNvSpPr>
          <p:nvPr>
            <p:ph type="sldImg"/>
          </p:nvPr>
        </p:nvSpPr>
        <p:spPr>
          <a:xfrm>
            <a:off x="216000" y="812520"/>
            <a:ext cx="7127280" cy="4008960"/>
          </a:xfrm>
          <a:prstGeom prst="rect">
            <a:avLst/>
          </a:prstGeom>
          <a:noFill/>
          <a:ln w="0">
            <a:noFill/>
          </a:ln>
        </p:spPr>
        <p:txBody>
          <a:bodyPr lIns="0" tIns="0" r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6"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a:t>
            </a:r>
            <a:r>
              <a:rPr lang="en-US" sz="2000" b="0" u="none" strike="noStrike">
                <a:solidFill>
                  <a:srgbClr val="000000"/>
                </a:solidFill>
                <a:effectLst/>
                <a:uFillTx/>
                <a:latin typeface="Arial"/>
              </a:rPr>
              <a:t>notes format</a:t>
            </a:r>
            <a:endParaRPr lang="en-US" sz="2000" b="0" u="none" strike="noStrike">
              <a:solidFill>
                <a:srgbClr val="000000"/>
              </a:solidFill>
              <a:effectLst/>
              <a:uFillTx/>
              <a:latin typeface="Arial"/>
            </a:endParaRPr>
          </a:p>
        </p:txBody>
      </p:sp>
      <p:sp>
        <p:nvSpPr>
          <p:cNvPr id="7"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8" name="PlaceHolder 4"/>
          <p:cNvSpPr>
            <a:spLocks noGrp="1"/>
          </p:cNvSpPr>
          <p:nvPr>
            <p:ph type="dt" idx="2"/>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9" name="PlaceHolder 5"/>
          <p:cNvSpPr>
            <a:spLocks noGrp="1"/>
          </p:cNvSpPr>
          <p:nvPr>
            <p:ph type="ftr" idx="3"/>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0" name="PlaceHolder 6"/>
          <p:cNvSpPr>
            <a:spLocks noGrp="1"/>
          </p:cNvSpPr>
          <p:nvPr>
            <p:ph type="sldNum" idx="4"/>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04FE6AFC-99C2-4CFE-9FAA-ADE3EC458CFA}"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sldImg"/>
          </p:nvPr>
        </p:nvSpPr>
        <p:spPr>
          <a:xfrm>
            <a:off x="685800" y="1143000"/>
            <a:ext cx="5485680" cy="3085560"/>
          </a:xfrm>
          <a:prstGeom prst="rect">
            <a:avLst/>
          </a:prstGeom>
          <a:ln w="0">
            <a:noFill/>
          </a:ln>
        </p:spPr>
      </p:sp>
      <p:sp>
        <p:nvSpPr>
          <p:cNvPr id="35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Open with the why, in one breath: "Odido reaches 7.5 million customers through one app. Today is about making every release to them safe, measurable and worth more." One line about you: FME specialist since Split's first EMEA SE hire. Confirm time and what each person needs to leave with. Context to hold lightly: IPO shelved, Apax buyout, February breach. Trust and growth are both board topics.</a:t>
            </a:r>
            <a:endParaRPr lang="en-US" sz="2000" b="0" u="none" strike="noStrike">
              <a:solidFill>
                <a:srgbClr val="000000"/>
              </a:solidFill>
              <a:effectLst/>
              <a:uFillTx/>
              <a:latin typeface="Arial"/>
            </a:endParaRPr>
          </a:p>
        </p:txBody>
      </p:sp>
      <p:sp>
        <p:nvSpPr>
          <p:cNvPr id="359" name="PlaceHolder 3"/>
          <p:cNvSpPr>
            <a:spLocks noGrp="1"/>
          </p:cNvSpPr>
          <p:nvPr>
            <p:ph type="sldNum" idx="1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97ECC07-6297-4AB0-A2F4-A957421AFA3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0" name="PlaceHolder 1"/>
          <p:cNvSpPr>
            <a:spLocks noGrp="1"/>
          </p:cNvSpPr>
          <p:nvPr>
            <p:ph type="sldImg"/>
          </p:nvPr>
        </p:nvSpPr>
        <p:spPr>
          <a:xfrm>
            <a:off x="685800" y="1143000"/>
            <a:ext cx="5485680" cy="3085560"/>
          </a:xfrm>
          <a:prstGeom prst="rect">
            <a:avLst/>
          </a:prstGeom>
          <a:ln w="0">
            <a:noFill/>
          </a:ln>
        </p:spPr>
      </p:sp>
      <p:sp>
        <p:nvSpPr>
          <p:cNvPr id="36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Pause here. Thank them for their time, confirm everyone has until the end of the hour, and check the roles in the room before showing the agenda.</a:t>
            </a:r>
            <a:endParaRPr lang="en-US" sz="2000" b="0" u="none" strike="noStrike">
              <a:solidFill>
                <a:srgbClr val="000000"/>
              </a:solidFill>
              <a:effectLst/>
              <a:uFillTx/>
              <a:latin typeface="Arial"/>
            </a:endParaRPr>
          </a:p>
        </p:txBody>
      </p:sp>
      <p:sp>
        <p:nvSpPr>
          <p:cNvPr id="362" name="PlaceHolder 3"/>
          <p:cNvSpPr>
            <a:spLocks noGrp="1"/>
          </p:cNvSpPr>
          <p:nvPr>
            <p:ph type="sldNum" idx="1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86C2DB32-5F2E-4A8E-A12B-C79C944A0E1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sldImg"/>
          </p:nvPr>
        </p:nvSpPr>
        <p:spPr>
          <a:xfrm>
            <a:off x="685800" y="1143000"/>
            <a:ext cx="5485680" cy="3085560"/>
          </a:xfrm>
          <a:prstGeom prst="rect">
            <a:avLst/>
          </a:prstGeom>
          <a:ln w="0">
            <a:noFill/>
          </a:ln>
        </p:spPr>
      </p:sp>
      <p:sp>
        <p:nvSpPr>
          <p:cNvPr id="36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Agree the agenda, then ask: "Is there anything you need to leave with today that isn't on here?" Note it and close on it in Next Steps.</a:t>
            </a:r>
            <a:endParaRPr lang="en-US" sz="2000" b="0" u="none" strike="noStrike">
              <a:solidFill>
                <a:srgbClr val="000000"/>
              </a:solidFill>
              <a:effectLst/>
              <a:uFillTx/>
              <a:latin typeface="Arial"/>
            </a:endParaRPr>
          </a:p>
        </p:txBody>
      </p:sp>
      <p:sp>
        <p:nvSpPr>
          <p:cNvPr id="365" name="PlaceHolder 3"/>
          <p:cNvSpPr>
            <a:spLocks noGrp="1"/>
          </p:cNvSpPr>
          <p:nvPr>
            <p:ph type="sldNum" idx="1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D873D0D-86C7-48AD-9B7C-4B015B4B488D}"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6" name="PlaceHolder 1"/>
          <p:cNvSpPr>
            <a:spLocks noGrp="1"/>
          </p:cNvSpPr>
          <p:nvPr>
            <p:ph type="sldImg"/>
          </p:nvPr>
        </p:nvSpPr>
        <p:spPr>
          <a:xfrm>
            <a:off x="685800" y="1143000"/>
            <a:ext cx="5485680" cy="3085560"/>
          </a:xfrm>
          <a:prstGeom prst="rect">
            <a:avLst/>
          </a:prstGeom>
          <a:ln w="0">
            <a:noFill/>
          </a:ln>
        </p:spPr>
      </p:sp>
      <p:sp>
        <p:nvSpPr>
          <p:cNvPr id="36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Walk left to right, then the bottom. Check each block: "Is that fair?" Ask Ali: "How long does an experiment readout take today?" and "When did a release last hurt conversion, and how did you find out?" Ask Alex: "Which of these outcomes would your CFO care about most?" Ask Rich: "Client or server-side evaluation in the app today?" The required capabilities are vendor-neutral on purpose: agree them before showing Harness.</a:t>
            </a:r>
            <a:endParaRPr lang="en-US" sz="2000" b="0" u="none" strike="noStrike">
              <a:solidFill>
                <a:srgbClr val="000000"/>
              </a:solidFill>
              <a:effectLst/>
              <a:uFillTx/>
              <a:latin typeface="Arial"/>
            </a:endParaRPr>
          </a:p>
        </p:txBody>
      </p:sp>
      <p:sp>
        <p:nvSpPr>
          <p:cNvPr id="368" name="PlaceHolder 3"/>
          <p:cNvSpPr>
            <a:spLocks noGrp="1"/>
          </p:cNvSpPr>
          <p:nvPr>
            <p:ph type="sldNum" idx="2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76387A5-E6CB-4AC8-8196-D6A8EE0D9FB2}"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sldImg"/>
          </p:nvPr>
        </p:nvSpPr>
        <p:spPr>
          <a:xfrm>
            <a:off x="685800" y="1143000"/>
            <a:ext cx="5485680" cy="3085560"/>
          </a:xfrm>
          <a:prstGeom prst="rect">
            <a:avLst/>
          </a:prstGeom>
          <a:ln w="0">
            <a:noFill/>
          </a:ln>
        </p:spPr>
      </p:sp>
      <p:sp>
        <p:nvSpPr>
          <p:cNvPr id="37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Keep this to 3 minutes; the demo proves it. Don't attack LD: "LD is a good flag tool. The question is whether flags alone get Odido to the future state we just agreed." For Rich: if Harness is down, the SDK serves cached rules or the safe fallback, so FME is never a single point of failure. For Alex on migration: "You don't migrate stale flags, you delete them. That's a clean-up win on its own."</a:t>
            </a:r>
            <a:endParaRPr lang="en-US" sz="2000" b="0" u="none" strike="noStrike">
              <a:solidFill>
                <a:srgbClr val="000000"/>
              </a:solidFill>
              <a:effectLst/>
              <a:uFillTx/>
              <a:latin typeface="Arial"/>
            </a:endParaRPr>
          </a:p>
        </p:txBody>
      </p:sp>
      <p:sp>
        <p:nvSpPr>
          <p:cNvPr id="371" name="PlaceHolder 3"/>
          <p:cNvSpPr>
            <a:spLocks noGrp="1"/>
          </p:cNvSpPr>
          <p:nvPr>
            <p:ph type="sldNum" idx="2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24FC7A0-79A8-49F5-8FF1-0DEF24B58605}"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sldImg"/>
          </p:nvPr>
        </p:nvSpPr>
        <p:spPr>
          <a:xfrm>
            <a:off x="685800" y="1143000"/>
            <a:ext cx="5485680" cy="3085560"/>
          </a:xfrm>
          <a:prstGeom prst="rect">
            <a:avLst/>
          </a:prstGeom>
          <a:ln w="0">
            <a:noFill/>
          </a:ln>
        </p:spPr>
      </p:sp>
      <p:sp>
        <p:nvSpPr>
          <p:cNvPr id="37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Bridge: "You told us releases are a light switch and experiments take weeks. Let me show you the same journey with a meter on it." Then switch to the app and the FME console.</a:t>
            </a:r>
            <a:endParaRPr lang="en-US" sz="2000" b="0" u="none" strike="noStrike">
              <a:solidFill>
                <a:srgbClr val="000000"/>
              </a:solidFill>
              <a:effectLst/>
              <a:uFillTx/>
              <a:latin typeface="Arial"/>
            </a:endParaRPr>
          </a:p>
        </p:txBody>
      </p:sp>
      <p:sp>
        <p:nvSpPr>
          <p:cNvPr id="374" name="PlaceHolder 3"/>
          <p:cNvSpPr>
            <a:spLocks noGrp="1"/>
          </p:cNvSpPr>
          <p:nvPr>
            <p:ph type="sldNum" idx="22"/>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11EE61A1-49E0-43D1-8C03-A9877B9EB9C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sldImg"/>
          </p:nvPr>
        </p:nvSpPr>
        <p:spPr>
          <a:xfrm>
            <a:off x="685800" y="1143000"/>
            <a:ext cx="5485680" cy="3085560"/>
          </a:xfrm>
          <a:prstGeom prst="rect">
            <a:avLst/>
          </a:prstGeom>
          <a:ln w="0">
            <a:noFill/>
          </a:ln>
        </p:spPr>
      </p:sp>
      <p:sp>
        <p:nvSpPr>
          <p:cNvPr id="37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TELL (30-45 seconds), before switching to the live app. Read only the bold action and the blue business value, one breath per row: "I'll target precisely, so you release to the right people first...". Point out that each row maps to a line in Required Capabilities on Our Understanding, and that the recap after the demo ticks them off.</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Then switch to the live app (persona bar at the top, FME decision panel on the right). Numbers come from pre-seeded simulated traffic; recalculate the experiment before the call and confirm rows 5 and 6 match. Backup if the network fails: start the app in offline mode (VITE_FME_CLIENT_KEY=localhost) and talk through this table.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Live setup: IramsDemoOrgFME / Global / Prod-Default. Flags odido_upgrade_journey_v2, odido_upgrade_offer, ops_upgrade_checkout_enabled; segments odido_staff, beta_testers, upgrade_eligible (rule-based). All created via the Harness MCP server.</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Reset before the call: Rotterdam NOT in the city rule, no flags killed, regression box unticked. Seed traffic the night before: npm run traffic -- --users 3000.</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Code to show: src/fme.js (SDK init + impression listener), src/flags.js (getTreatmentsWithConfig + safe control fallback), src/telemetry.js (track events for metrics).</a:t>
            </a:r>
            <a:endParaRPr lang="en-US" sz="2000" b="0" u="none" strike="noStrike">
              <a:solidFill>
                <a:srgbClr val="000000"/>
              </a:solidFill>
              <a:effectLst/>
              <a:uFillTx/>
              <a:latin typeface="Arial"/>
            </a:endParaRPr>
          </a:p>
        </p:txBody>
      </p:sp>
      <p:sp>
        <p:nvSpPr>
          <p:cNvPr id="377" name="PlaceHolder 3"/>
          <p:cNvSpPr>
            <a:spLocks noGrp="1"/>
          </p:cNvSpPr>
          <p:nvPr>
            <p:ph type="sldNum" idx="2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64F1F34-176F-4D44-97D3-FF18EEA42CBA}"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sldImg"/>
          </p:nvPr>
        </p:nvSpPr>
        <p:spPr>
          <a:xfrm>
            <a:off x="685800" y="1143000"/>
            <a:ext cx="5485680" cy="3085560"/>
          </a:xfrm>
          <a:prstGeom prst="rect">
            <a:avLst/>
          </a:prstGeom>
          <a:ln w="0">
            <a:noFill/>
          </a:ln>
        </p:spPr>
      </p:sp>
      <p:sp>
        <p:nvSpPr>
          <p:cNvPr id="37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TELL AGAIN (1-2 minutes), straight after the demo. Go row by row and ask the room to confirm: "We said you needed X. You saw Y. That moves Z. Fair?" Only claim the rows you actually showed; if you skipped a beat (for example the guardrail alert or governance), say so and offer it in the pilot.</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Then ask: "Which of these matters most to you?" Write the answer down and use it on the Next Steps slide.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Bridge: "You've seen it on your journey. Here is where we've done it for real, in regulated, high-scale environments."</a:t>
            </a:r>
            <a:endParaRPr lang="en-US" sz="2000" b="0" u="none" strike="noStrike">
              <a:solidFill>
                <a:srgbClr val="000000"/>
              </a:solidFill>
              <a:effectLst/>
              <a:uFillTx/>
              <a:latin typeface="Arial"/>
            </a:endParaRPr>
          </a:p>
        </p:txBody>
      </p:sp>
      <p:sp>
        <p:nvSpPr>
          <p:cNvPr id="380" name="PlaceHolder 3"/>
          <p:cNvSpPr>
            <a:spLocks noGrp="1"/>
          </p:cNvSpPr>
          <p:nvPr>
            <p:ph type="sldNum" idx="24"/>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13AFF721-F860-4619-A09E-8FA969860160}"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sldImg"/>
          </p:nvPr>
        </p:nvSpPr>
        <p:spPr>
          <a:xfrm>
            <a:off x="685800" y="1143000"/>
            <a:ext cx="5485680" cy="3085560"/>
          </a:xfrm>
          <a:prstGeom prst="rect">
            <a:avLst/>
          </a:prstGeom>
          <a:ln w="0">
            <a:noFill/>
          </a:ln>
        </p:spPr>
      </p:sp>
      <p:sp>
        <p:nvSpPr>
          <p:cNvPr id="38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Tell ONE story in full (60-90 seconds): Barclays. It is the closest match to Odido's required capabilities and it is a programme you ran personally (Ali asked for one).</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Barclays: Problem: configuration was hardcoded, so every change needed a deploy (2-3 week delays, 4-6 h recovery, no A/B testing), and security would not allow customer context to be sent to a SaaS. What we did: 6-week POC with the CISO and the product team; Java/Spring Boot plus Android and iOS SDKs with local evaluation and a Relay Proxy inside the bank's VPC. About 40 flags mapped. Outcome: rollout 1% → 10% → 50% → 100% for UK premium customers, switched off in under 3 seconds without a pipeline, p99 evaluation 1.4 ms; a loan CTA experiment reached 95% significance in 11 days with +23% CTR. The audit-log export gap was closed in the next major release. Tie it back: "Same privacy concern Rich raised, same kill switch, same experiment loop you just saw."</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Citi Lightspeed, 30 seconds: feature flagging was homegrown in each team (environment variables, configs, some third-party toggles), all different. Lightspeed chose Harness FME as the one standard. In the POV, all traffic went through the Harness forward and reverse proxy, linked to the Citi proxy, so nothing bypassed their network controls. Outcome so far (implementation ongoing): Lightspeed deploys and governs flags and experiments for app teams such as fraud, market controls and payments, targeting by version, team type, location and %, and testing which variant works best internally. Individual teams use the same targeting and experimentation themselves. Tie it back: "Same move Odido wants: one standard, central governance, and teams free to target and experiment." You owned FME (the wider scope included CD and Database DevOps). Don't name the champion without permission.</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ADP and Speedway Motors, one line each: public case studies for standardised rollouts at scale and for progressive delivery plus experimentation.</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Before external use: verify the Barclays figures (source and methodology), confirm both Barclays and Citi can be named to Odido, and remove the bracketed Barclays marker. Discovery baselines (incidents per month, delayed features, decisions waiting on evidence) are not outcomes, so don't present them as results.</a:t>
            </a:r>
            <a:endParaRPr lang="en-US" sz="2000" b="0" u="none" strike="noStrike">
              <a:solidFill>
                <a:srgbClr val="000000"/>
              </a:solidFill>
              <a:effectLst/>
              <a:uFillTx/>
              <a:latin typeface="Arial"/>
            </a:endParaRPr>
          </a:p>
        </p:txBody>
      </p:sp>
      <p:sp>
        <p:nvSpPr>
          <p:cNvPr id="383" name="PlaceHolder 3"/>
          <p:cNvSpPr>
            <a:spLocks noGrp="1"/>
          </p:cNvSpPr>
          <p:nvPr>
            <p:ph type="sldNum" idx="2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C973624-0D6C-4467-B434-29E1BFD0DFBB}"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sldImg"/>
          </p:nvPr>
        </p:nvSpPr>
        <p:spPr>
          <a:xfrm>
            <a:off x="685800" y="1143000"/>
            <a:ext cx="5485680" cy="3085560"/>
          </a:xfrm>
          <a:prstGeom prst="rect">
            <a:avLst/>
          </a:prstGeom>
          <a:ln w="0">
            <a:noFill/>
          </a:ln>
        </p:spPr>
      </p:sp>
      <p:sp>
        <p:nvSpPr>
          <p:cNvPr id="38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Before moving on, ask: "What would you need answered before taking this further?" Handle each concern (acknowledge, clarify, answer, check), then show the plan.</a:t>
            </a:r>
            <a:endParaRPr lang="en-US" sz="2000" b="0" u="none" strike="noStrike">
              <a:solidFill>
                <a:srgbClr val="000000"/>
              </a:solidFill>
              <a:effectLst/>
              <a:uFillTx/>
              <a:latin typeface="Arial"/>
            </a:endParaRPr>
          </a:p>
        </p:txBody>
      </p:sp>
      <p:sp>
        <p:nvSpPr>
          <p:cNvPr id="386" name="PlaceHolder 3"/>
          <p:cNvSpPr>
            <a:spLocks noGrp="1"/>
          </p:cNvSpPr>
          <p:nvPr>
            <p:ph type="sldNum" idx="26"/>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F7CAE936-33C4-452F-AB30-936F48FF71BC}"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sldImg"/>
          </p:nvPr>
        </p:nvSpPr>
        <p:spPr>
          <a:xfrm>
            <a:off x="685800" y="1143000"/>
            <a:ext cx="5485680" cy="3085560"/>
          </a:xfrm>
          <a:prstGeom prst="rect">
            <a:avLst/>
          </a:prstGeom>
          <a:ln w="0">
            <a:noFill/>
          </a:ln>
        </p:spPr>
      </p:sp>
      <p:sp>
        <p:nvSpPr>
          <p:cNvPr id="38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Before this slide, ask: "What would you need answered before taking this further?" and handle concerns (acknowledge, clarify, answer, check). For Alex, walk the formula, not the number, and ask what he would plug in. Close with the ask and stay silent. Then summarise their #1 priority and how the pilot proves it.</a:t>
            </a:r>
            <a:endParaRPr lang="en-US" sz="2000" b="0" u="none" strike="noStrike">
              <a:solidFill>
                <a:srgbClr val="000000"/>
              </a:solidFill>
              <a:effectLst/>
              <a:uFillTx/>
              <a:latin typeface="Arial"/>
            </a:endParaRPr>
          </a:p>
        </p:txBody>
      </p:sp>
      <p:sp>
        <p:nvSpPr>
          <p:cNvPr id="389" name="PlaceHolder 3"/>
          <p:cNvSpPr>
            <a:spLocks noGrp="1"/>
          </p:cNvSpPr>
          <p:nvPr>
            <p:ph type="sldNum" idx="2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8509C68-E1D9-445D-8CBF-A10B3BC386D0}"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sldImg"/>
          </p:nvPr>
        </p:nvSpPr>
        <p:spPr>
          <a:xfrm>
            <a:off x="685800" y="1143000"/>
            <a:ext cx="5485680" cy="3085560"/>
          </a:xfrm>
          <a:prstGeom prst="rect">
            <a:avLst/>
          </a:prstGeom>
          <a:ln w="0">
            <a:noFill/>
          </a:ln>
        </p:spPr>
      </p:sp>
      <p:sp>
        <p:nvSpPr>
          <p:cNvPr id="39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Before moving on, ask: "What would you need answered before taking this further?" Handle each concern (acknowledge, clarify, answer, check), then show the plan.</a:t>
            </a:r>
            <a:endParaRPr lang="en-US" sz="2000" b="0" u="none" strike="noStrike">
              <a:solidFill>
                <a:srgbClr val="000000"/>
              </a:solidFill>
              <a:effectLst/>
              <a:uFillTx/>
              <a:latin typeface="Arial"/>
            </a:endParaRPr>
          </a:p>
        </p:txBody>
      </p:sp>
      <p:sp>
        <p:nvSpPr>
          <p:cNvPr id="392" name="PlaceHolder 3"/>
          <p:cNvSpPr>
            <a:spLocks noGrp="1"/>
          </p:cNvSpPr>
          <p:nvPr>
            <p:ph type="sldNum" idx="28"/>
          </p:nvPr>
        </p:nvSpPr>
        <p:spPr>
          <a:xfrm>
            <a:off x="3884760" y="8685360"/>
            <a:ext cx="2971080" cy="457920"/>
          </a:xfrm>
          <a:prstGeom prst="rect">
            <a:avLst/>
          </a:prstGeom>
          <a:noFill/>
          <a:ln w="0">
            <a:noFill/>
          </a:ln>
        </p:spPr>
        <p:txBody>
          <a:bodyPr lIns="91440" tIns="45720" rIns="91440" bIns="45720" anchor="b">
            <a:noAutofit/>
          </a:bodyPr>
          <a:lstStyle>
            <a:lvl1pPr indent="0" algn="r">
              <a:lnSpc>
                <a:spcPct val="100000"/>
              </a:lnSpc>
              <a:buNone/>
              <a:tabLst>
                <a:tab pos="0" algn="l"/>
              </a:tabLst>
              <a:defRPr lang="en-US" sz="1200" b="0" u="none" strike="noStrike">
                <a:solidFill>
                  <a:srgbClr val="000000"/>
                </a:solidFill>
                <a:effectLst/>
                <a:uFillTx/>
                <a:latin typeface="Times New Roman"/>
              </a:defRPr>
            </a:lvl1pPr>
          </a:lstStyle>
          <a:p>
            <a:pPr indent="0" algn="r">
              <a:lnSpc>
                <a:spcPct val="100000"/>
              </a:lnSpc>
              <a:buNone/>
              <a:tabLst>
                <a:tab pos="0" algn="l"/>
              </a:tabLst>
            </a:pPr>
            <a:fld id="{86D5A59A-530D-4438-9FA6-F2A515B2C648}" type="slidenum">
              <a:rPr lang="en-US" sz="1200" b="0" u="none" strike="noStrike">
                <a:solidFill>
                  <a:srgbClr val="000000"/>
                </a:solidFill>
                <a:effectLst/>
                <a:uFillTx/>
                <a:latin typeface="Times New Roman"/>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75970179-4B54-43AA-9B37-BA745BAE9722}" type="slidenum">
              <a:t>&lt;#&gt;</a:t>
            </a:fld>
          </a:p>
        </p:txBody>
      </p:sp>
    </p:spTree>
  </p:cSld>
  <p:clrMapOvr>
    <a:masterClrMapping/>
  </p:clrMapOvr>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sldNum" idx="1"/>
          </p:nvPr>
        </p:nvSpPr>
        <p:spPr>
          <a:xfrm>
            <a:off x="11338560" y="6519600"/>
            <a:ext cx="456480" cy="2736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900" b="0" u="none" strike="noStrike">
                <a:solidFill>
                  <a:srgbClr val="9FB3C8"/>
                </a:solidFill>
                <a:effectLst/>
                <a:uFillTx/>
                <a:latin typeface="Arial"/>
                <a:ea typeface="Arial"/>
              </a:defRPr>
            </a:lvl1pPr>
          </a:lstStyle>
          <a:p>
            <a:pPr indent="0" algn="l" defTabSz="914400">
              <a:lnSpc>
                <a:spcPct val="100000"/>
              </a:lnSpc>
              <a:buNone/>
              <a:tabLst>
                <a:tab pos="0" algn="l"/>
              </a:tabLst>
            </a:pPr>
            <a:fld id="{CD08AA3B-63E4-42C1-A3BA-A1F658E59632}" type="slidenum">
              <a:rPr lang="en-US" sz="900" b="0" u="none" strike="noStrike">
                <a:solidFill>
                  <a:srgbClr val="9FB3C8"/>
                </a:solidFill>
                <a:effectLst/>
                <a:uFillTx/>
                <a:latin typeface="Arial"/>
                <a:ea typeface="Arial"/>
              </a:rPr>
              <a:t>&lt;number&gt;</a:t>
            </a:fld>
            <a:endParaRPr lang="en-US" sz="900" b="0" u="none" strike="noStrike">
              <a:solidFill>
                <a:srgbClr val="000000"/>
              </a:solidFill>
              <a:effectLst/>
              <a:uFillTx/>
              <a:latin typeface="Times New Roman"/>
            </a:endParaRPr>
          </a:p>
        </p:txBody>
      </p:sp>
      <p:sp>
        <p:nvSpPr>
          <p:cNvPr id="3"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tabLst>
                <a:tab pos="0" algn="l"/>
              </a:tabLst>
              <a:defRPr lang="en-US" sz="1800" b="0" u="none" strike="noStrike">
                <a:solidFill>
                  <a:schemeClr val="dk1"/>
                </a:solidFill>
                <a:effectLst/>
                <a:uFillTx/>
                <a:latin typeface="Calibri"/>
              </a:defRPr>
            </a:lvl1pPr>
          </a:lstStyle>
          <a:p>
            <a:pPr indent="0" algn="l">
              <a:buNone/>
              <a:tabLst>
                <a:tab pos="0" algn="l"/>
              </a:tabLst>
            </a:pPr>
            <a:r>
              <a:rPr lang="en-US" sz="1800" b="0" u="none" strike="noStrike">
                <a:solidFill>
                  <a:schemeClr val="dk1"/>
                </a:solidFill>
                <a:effectLst/>
                <a:uFillTx/>
                <a:latin typeface="Calibri"/>
              </a:rPr>
              <a:t>Click to edit the title </a:t>
            </a:r>
            <a:r>
              <a:rPr lang="en-US" sz="1800" b="0" u="none" strike="noStrike">
                <a:solidFill>
                  <a:schemeClr val="dk1"/>
                </a:solidFill>
                <a:effectLst/>
                <a:uFillTx/>
                <a:latin typeface="Calibri"/>
              </a:rPr>
              <a:t>text format</a:t>
            </a:r>
            <a:endParaRPr lang="en-US" sz="1800" b="0" u="none" strike="noStrike">
              <a:solidFill>
                <a:schemeClr val="dk1"/>
              </a:solidFill>
              <a:effectLst/>
              <a:uFillTx/>
              <a:latin typeface="Calibri"/>
            </a:endParaRPr>
          </a:p>
        </p:txBody>
      </p:sp>
      <p:sp>
        <p:nvSpPr>
          <p:cNvPr id="4"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 Id="rId10" Type="http://schemas.openxmlformats.org/officeDocument/2006/relationships/image" Target="../media/image13.png"/><Relationship Id="rId11" Type="http://schemas.openxmlformats.org/officeDocument/2006/relationships/image" Target="../media/image14.png"/><Relationship Id="rId12" Type="http://schemas.openxmlformats.org/officeDocument/2006/relationships/image" Target="../media/image15.png"/><Relationship Id="rId13" Type="http://schemas.openxmlformats.org/officeDocument/2006/relationships/image" Target="../media/image3.png"/><Relationship Id="rId14" Type="http://schemas.openxmlformats.org/officeDocument/2006/relationships/slideLayout" Target="../slideLayouts/slideLayout1.xml"/><Relationship Id="rId15"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82B"/>
        </a:solidFill>
      </p:bgPr>
    </p:bg>
    <p:spTree>
      <p:nvGrpSpPr>
        <p:cNvPr id="1" name=""/>
        <p:cNvGrpSpPr/>
        <p:nvPr/>
      </p:nvGrpSpPr>
      <p:grpSpPr>
        <a:xfrm>
          <a:off x="0" y="0"/>
          <a:ext cx="0" cy="0"/>
          <a:chOff x="0" y="0"/>
          <a:chExt cx="0" cy="0"/>
        </a:xfrm>
      </p:grpSpPr>
      <p:sp>
        <p:nvSpPr>
          <p:cNvPr id="11" name="Text 0"/>
          <p:cNvSpPr/>
          <p:nvPr/>
        </p:nvSpPr>
        <p:spPr>
          <a:xfrm>
            <a:off x="457200" y="6464880"/>
            <a:ext cx="27424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harness</a:t>
            </a:r>
            <a:r>
              <a:rPr lang="en-US" sz="1200" b="1" u="none" strike="noStrike">
                <a:solidFill>
                  <a:srgbClr val="00ADE4"/>
                </a:solidFill>
                <a:effectLst/>
                <a:uFillTx/>
                <a:latin typeface="Arial"/>
                <a:ea typeface="Arial"/>
              </a:rPr>
              <a:t>  FME</a:t>
            </a:r>
            <a:endParaRPr lang="en-US" sz="1200" b="0" u="none" strike="noStrike">
              <a:solidFill>
                <a:srgbClr val="FFFFFF"/>
              </a:solidFill>
              <a:effectLst/>
              <a:uFillTx/>
              <a:latin typeface="Arial"/>
            </a:endParaRPr>
          </a:p>
        </p:txBody>
      </p:sp>
      <p:sp>
        <p:nvSpPr>
          <p:cNvPr id="12" name="Text 1"/>
          <p:cNvSpPr/>
          <p:nvPr/>
        </p:nvSpPr>
        <p:spPr>
          <a:xfrm>
            <a:off x="5943600" y="6464880"/>
            <a:ext cx="5211360" cy="365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9FB3C8"/>
                </a:solidFill>
                <a:effectLst/>
                <a:uFillTx/>
                <a:latin typeface="Arial"/>
                <a:ea typeface="Arial"/>
              </a:rPr>
              <a:t>Odido × Harness  |  Confidential</a:t>
            </a:r>
            <a:endParaRPr lang="en-US" sz="900" b="0" u="none" strike="noStrike">
              <a:solidFill>
                <a:srgbClr val="FFFFFF"/>
              </a:solidFill>
              <a:effectLst/>
              <a:uFillTx/>
              <a:latin typeface="Arial"/>
            </a:endParaRPr>
          </a:p>
        </p:txBody>
      </p:sp>
      <p:sp>
        <p:nvSpPr>
          <p:cNvPr id="13" name="Shape 2"/>
          <p:cNvSpPr/>
          <p:nvPr/>
        </p:nvSpPr>
        <p:spPr>
          <a:xfrm>
            <a:off x="7863840" y="-2194560"/>
            <a:ext cx="6765840" cy="6765840"/>
          </a:xfrm>
          <a:prstGeom prst="ellipse">
            <a:avLst/>
          </a:prstGeom>
          <a:solidFill>
            <a:srgbClr val="0278D5">
              <a:alpha val="75000"/>
            </a:srgbClr>
          </a:solidFill>
          <a:ln w="12700">
            <a:solidFill>
              <a:srgbClr val="0278D5">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14" name="Shape 3"/>
          <p:cNvSpPr/>
          <p:nvPr/>
        </p:nvSpPr>
        <p:spPr>
          <a:xfrm>
            <a:off x="9692640" y="1828800"/>
            <a:ext cx="3839760" cy="3839760"/>
          </a:xfrm>
          <a:prstGeom prst="ellipse">
            <a:avLst/>
          </a:prstGeom>
          <a:solidFill>
            <a:srgbClr val="7D4DD3">
              <a:alpha val="70000"/>
            </a:srgbClr>
          </a:solidFill>
          <a:ln w="12700">
            <a:solidFill>
              <a:srgbClr val="7D4DD3">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15" name="Text 4"/>
          <p:cNvSpPr/>
          <p:nvPr/>
        </p:nvSpPr>
        <p:spPr>
          <a:xfrm>
            <a:off x="548640" y="685800"/>
            <a:ext cx="64000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400" b="1" u="none" spc="300" strike="noStrike">
                <a:solidFill>
                  <a:srgbClr val="00ADE4"/>
                </a:solidFill>
                <a:effectLst/>
                <a:uFillTx/>
                <a:latin typeface="Arial"/>
                <a:ea typeface="Arial"/>
              </a:rPr>
              <a:t>ODIDO × </a:t>
            </a:r>
            <a:r>
              <a:rPr lang="en-US" sz="1400" b="1" u="none" spc="300" strike="noStrike">
                <a:solidFill>
                  <a:srgbClr val="00ADE4"/>
                </a:solidFill>
                <a:effectLst/>
                <a:uFillTx/>
                <a:latin typeface="Arial"/>
                <a:ea typeface="Arial"/>
              </a:rPr>
              <a:t>HARNESS</a:t>
            </a:r>
            <a:endParaRPr lang="en-US" sz="1400" b="0" u="none" strike="noStrike">
              <a:solidFill>
                <a:srgbClr val="FFFFFF"/>
              </a:solidFill>
              <a:effectLst/>
              <a:uFillTx/>
              <a:latin typeface="Arial"/>
            </a:endParaRPr>
          </a:p>
        </p:txBody>
      </p:sp>
      <p:sp>
        <p:nvSpPr>
          <p:cNvPr id="16" name="Text 5"/>
          <p:cNvSpPr/>
          <p:nvPr/>
        </p:nvSpPr>
        <p:spPr>
          <a:xfrm>
            <a:off x="548640" y="1143000"/>
            <a:ext cx="7863120" cy="173664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4400" b="1" u="none" strike="noStrike">
                <a:solidFill>
                  <a:srgbClr val="FFFFFF"/>
                </a:solidFill>
                <a:effectLst/>
                <a:uFillTx/>
                <a:latin typeface="Arial"/>
                <a:ea typeface="Arial"/>
              </a:rPr>
              <a:t>Release </a:t>
            </a:r>
            <a:r>
              <a:rPr lang="en-US" sz="4400" b="1" u="none" strike="noStrike">
                <a:solidFill>
                  <a:srgbClr val="FFFFFF"/>
                </a:solidFill>
                <a:effectLst/>
                <a:uFillTx/>
                <a:latin typeface="Arial"/>
                <a:ea typeface="Arial"/>
              </a:rPr>
              <a:t>with </a:t>
            </a:r>
            <a:r>
              <a:rPr lang="en-US" sz="4400" b="1" u="none" strike="noStrike">
                <a:solidFill>
                  <a:srgbClr val="FFFFFF"/>
                </a:solidFill>
                <a:effectLst/>
                <a:uFillTx/>
                <a:latin typeface="Arial"/>
                <a:ea typeface="Arial"/>
              </a:rPr>
              <a:t>confide</a:t>
            </a:r>
            <a:r>
              <a:rPr lang="en-US" sz="4400" b="1" u="none" strike="noStrike">
                <a:solidFill>
                  <a:srgbClr val="FFFFFF"/>
                </a:solidFill>
                <a:effectLst/>
                <a:uFillTx/>
                <a:latin typeface="Arial"/>
                <a:ea typeface="Arial"/>
              </a:rPr>
              <a:t>nce.</a:t>
            </a:r>
            <a:endParaRPr lang="en-US" sz="4400" b="0" u="none" strike="noStrike">
              <a:solidFill>
                <a:srgbClr val="FFFFFF"/>
              </a:solidFill>
              <a:effectLst/>
              <a:uFillTx/>
              <a:latin typeface="Arial"/>
            </a:endParaRPr>
          </a:p>
          <a:p>
            <a:pPr defTabSz="914400">
              <a:lnSpc>
                <a:spcPct val="100000"/>
              </a:lnSpc>
              <a:tabLst>
                <a:tab pos="0" algn="l"/>
              </a:tabLst>
            </a:pPr>
            <a:r>
              <a:rPr lang="en-US" sz="4400" b="1" u="none" strike="noStrike">
                <a:solidFill>
                  <a:srgbClr val="FFFFFF"/>
                </a:solidFill>
                <a:effectLst/>
                <a:uFillTx/>
                <a:latin typeface="Arial"/>
                <a:ea typeface="Arial"/>
              </a:rPr>
              <a:t>Grow </a:t>
            </a:r>
            <a:r>
              <a:rPr lang="en-US" sz="4400" b="1" u="none" strike="noStrike">
                <a:solidFill>
                  <a:srgbClr val="FFFFFF"/>
                </a:solidFill>
                <a:effectLst/>
                <a:uFillTx/>
                <a:latin typeface="Arial"/>
                <a:ea typeface="Arial"/>
              </a:rPr>
              <a:t>with </a:t>
            </a:r>
            <a:r>
              <a:rPr lang="en-US" sz="4400" b="1" u="none" strike="noStrike">
                <a:solidFill>
                  <a:srgbClr val="FFFFFF"/>
                </a:solidFill>
                <a:effectLst/>
                <a:uFillTx/>
                <a:latin typeface="Arial"/>
                <a:ea typeface="Arial"/>
              </a:rPr>
              <a:t>evidenc</a:t>
            </a:r>
            <a:r>
              <a:rPr lang="en-US" sz="4400" b="1" u="none" strike="noStrike">
                <a:solidFill>
                  <a:srgbClr val="FFFFFF"/>
                </a:solidFill>
                <a:effectLst/>
                <a:uFillTx/>
                <a:latin typeface="Arial"/>
                <a:ea typeface="Arial"/>
              </a:rPr>
              <a:t>e.</a:t>
            </a:r>
            <a:endParaRPr lang="en-US" sz="4400" b="0" u="none" strike="noStrike">
              <a:solidFill>
                <a:srgbClr val="FFFFFF"/>
              </a:solidFill>
              <a:effectLst/>
              <a:uFillTx/>
              <a:latin typeface="Arial"/>
            </a:endParaRPr>
          </a:p>
        </p:txBody>
      </p:sp>
      <p:sp>
        <p:nvSpPr>
          <p:cNvPr id="17" name="Text 6"/>
          <p:cNvSpPr/>
          <p:nvPr/>
        </p:nvSpPr>
        <p:spPr>
          <a:xfrm>
            <a:off x="548640" y="2926080"/>
            <a:ext cx="7314480" cy="639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rgbClr val="9FB3C8"/>
                </a:solidFill>
                <a:effectLst/>
                <a:uFillTx/>
                <a:latin typeface="Arial"/>
                <a:ea typeface="Arial"/>
              </a:rPr>
              <a:t>Ha</a:t>
            </a:r>
            <a:r>
              <a:rPr lang="en-US" sz="1600" b="0" u="none" strike="noStrike">
                <a:solidFill>
                  <a:srgbClr val="9FB3C8"/>
                </a:solidFill>
                <a:effectLst/>
                <a:uFillTx/>
                <a:latin typeface="Arial"/>
                <a:ea typeface="Arial"/>
              </a:rPr>
              <a:t>rn</a:t>
            </a:r>
            <a:r>
              <a:rPr lang="en-US" sz="1600" b="0" u="none" strike="noStrike">
                <a:solidFill>
                  <a:srgbClr val="9FB3C8"/>
                </a:solidFill>
                <a:effectLst/>
                <a:uFillTx/>
                <a:latin typeface="Arial"/>
                <a:ea typeface="Arial"/>
              </a:rPr>
              <a:t>es</a:t>
            </a:r>
            <a:r>
              <a:rPr lang="en-US" sz="1600" b="0" u="none" strike="noStrike">
                <a:solidFill>
                  <a:srgbClr val="9FB3C8"/>
                </a:solidFill>
                <a:effectLst/>
                <a:uFillTx/>
                <a:latin typeface="Arial"/>
                <a:ea typeface="Arial"/>
              </a:rPr>
              <a:t>s </a:t>
            </a:r>
            <a:r>
              <a:rPr lang="en-US" sz="1600" b="0" u="none" strike="noStrike">
                <a:solidFill>
                  <a:srgbClr val="9FB3C8"/>
                </a:solidFill>
                <a:effectLst/>
                <a:uFillTx/>
                <a:latin typeface="Arial"/>
                <a:ea typeface="Arial"/>
              </a:rPr>
              <a:t>Fe</a:t>
            </a:r>
            <a:r>
              <a:rPr lang="en-US" sz="1600" b="0" u="none" strike="noStrike">
                <a:solidFill>
                  <a:srgbClr val="9FB3C8"/>
                </a:solidFill>
                <a:effectLst/>
                <a:uFillTx/>
                <a:latin typeface="Arial"/>
                <a:ea typeface="Arial"/>
              </a:rPr>
              <a:t>at</a:t>
            </a:r>
            <a:r>
              <a:rPr lang="en-US" sz="1600" b="0" u="none" strike="noStrike">
                <a:solidFill>
                  <a:srgbClr val="9FB3C8"/>
                </a:solidFill>
                <a:effectLst/>
                <a:uFillTx/>
                <a:latin typeface="Arial"/>
                <a:ea typeface="Arial"/>
              </a:rPr>
              <a:t>ur</a:t>
            </a:r>
            <a:r>
              <a:rPr lang="en-US" sz="1600" b="0" u="none" strike="noStrike">
                <a:solidFill>
                  <a:srgbClr val="9FB3C8"/>
                </a:solidFill>
                <a:effectLst/>
                <a:uFillTx/>
                <a:latin typeface="Arial"/>
                <a:ea typeface="Arial"/>
              </a:rPr>
              <a:t>e </a:t>
            </a:r>
            <a:r>
              <a:rPr lang="en-US" sz="1600" b="0" u="none" strike="noStrike">
                <a:solidFill>
                  <a:srgbClr val="9FB3C8"/>
                </a:solidFill>
                <a:effectLst/>
                <a:uFillTx/>
                <a:latin typeface="Arial"/>
                <a:ea typeface="Arial"/>
              </a:rPr>
              <a:t>M</a:t>
            </a:r>
            <a:r>
              <a:rPr lang="en-US" sz="1600" b="0" u="none" strike="noStrike">
                <a:solidFill>
                  <a:srgbClr val="9FB3C8"/>
                </a:solidFill>
                <a:effectLst/>
                <a:uFillTx/>
                <a:latin typeface="Arial"/>
                <a:ea typeface="Arial"/>
              </a:rPr>
              <a:t>an</a:t>
            </a:r>
            <a:r>
              <a:rPr lang="en-US" sz="1600" b="0" u="none" strike="noStrike">
                <a:solidFill>
                  <a:srgbClr val="9FB3C8"/>
                </a:solidFill>
                <a:effectLst/>
                <a:uFillTx/>
                <a:latin typeface="Arial"/>
                <a:ea typeface="Arial"/>
              </a:rPr>
              <a:t>ag</a:t>
            </a:r>
            <a:r>
              <a:rPr lang="en-US" sz="1600" b="0" u="none" strike="noStrike">
                <a:solidFill>
                  <a:srgbClr val="9FB3C8"/>
                </a:solidFill>
                <a:effectLst/>
                <a:uFillTx/>
                <a:latin typeface="Arial"/>
                <a:ea typeface="Arial"/>
              </a:rPr>
              <a:t>e</a:t>
            </a:r>
            <a:r>
              <a:rPr lang="en-US" sz="1600" b="0" u="none" strike="noStrike">
                <a:solidFill>
                  <a:srgbClr val="9FB3C8"/>
                </a:solidFill>
                <a:effectLst/>
                <a:uFillTx/>
                <a:latin typeface="Arial"/>
                <a:ea typeface="Arial"/>
              </a:rPr>
              <a:t>m</a:t>
            </a:r>
            <a:r>
              <a:rPr lang="en-US" sz="1600" b="0" u="none" strike="noStrike">
                <a:solidFill>
                  <a:srgbClr val="9FB3C8"/>
                </a:solidFill>
                <a:effectLst/>
                <a:uFillTx/>
                <a:latin typeface="Arial"/>
                <a:ea typeface="Arial"/>
              </a:rPr>
              <a:t>en</a:t>
            </a:r>
            <a:r>
              <a:rPr lang="en-US" sz="1600" b="0" u="none" strike="noStrike">
                <a:solidFill>
                  <a:srgbClr val="9FB3C8"/>
                </a:solidFill>
                <a:effectLst/>
                <a:uFillTx/>
                <a:latin typeface="Arial"/>
                <a:ea typeface="Arial"/>
              </a:rPr>
              <a:t>t &amp; </a:t>
            </a:r>
            <a:r>
              <a:rPr lang="en-US" sz="1600" b="0" u="none" strike="noStrike">
                <a:solidFill>
                  <a:srgbClr val="9FB3C8"/>
                </a:solidFill>
                <a:effectLst/>
                <a:uFillTx/>
                <a:latin typeface="Arial"/>
                <a:ea typeface="Arial"/>
              </a:rPr>
              <a:t>Ex</a:t>
            </a:r>
            <a:r>
              <a:rPr lang="en-US" sz="1600" b="0" u="none" strike="noStrike">
                <a:solidFill>
                  <a:srgbClr val="9FB3C8"/>
                </a:solidFill>
                <a:effectLst/>
                <a:uFillTx/>
                <a:latin typeface="Arial"/>
                <a:ea typeface="Arial"/>
              </a:rPr>
              <a:t>pe</a:t>
            </a:r>
            <a:r>
              <a:rPr lang="en-US" sz="1600" b="0" u="none" strike="noStrike">
                <a:solidFill>
                  <a:srgbClr val="9FB3C8"/>
                </a:solidFill>
                <a:effectLst/>
                <a:uFillTx/>
                <a:latin typeface="Arial"/>
                <a:ea typeface="Arial"/>
              </a:rPr>
              <a:t>ri</a:t>
            </a:r>
            <a:r>
              <a:rPr lang="en-US" sz="1600" b="0" u="none" strike="noStrike">
                <a:solidFill>
                  <a:srgbClr val="9FB3C8"/>
                </a:solidFill>
                <a:effectLst/>
                <a:uFillTx/>
                <a:latin typeface="Arial"/>
                <a:ea typeface="Arial"/>
              </a:rPr>
              <a:t>m</a:t>
            </a:r>
            <a:r>
              <a:rPr lang="en-US" sz="1600" b="0" u="none" strike="noStrike">
                <a:solidFill>
                  <a:srgbClr val="9FB3C8"/>
                </a:solidFill>
                <a:effectLst/>
                <a:uFillTx/>
                <a:latin typeface="Arial"/>
                <a:ea typeface="Arial"/>
              </a:rPr>
              <a:t>en</a:t>
            </a:r>
            <a:r>
              <a:rPr lang="en-US" sz="1600" b="0" u="none" strike="noStrike">
                <a:solidFill>
                  <a:srgbClr val="9FB3C8"/>
                </a:solidFill>
                <a:effectLst/>
                <a:uFillTx/>
                <a:latin typeface="Arial"/>
                <a:ea typeface="Arial"/>
              </a:rPr>
              <a:t>tati</a:t>
            </a:r>
            <a:r>
              <a:rPr lang="en-US" sz="1600" b="0" u="none" strike="noStrike">
                <a:solidFill>
                  <a:srgbClr val="9FB3C8"/>
                </a:solidFill>
                <a:effectLst/>
                <a:uFillTx/>
                <a:latin typeface="Arial"/>
                <a:ea typeface="Arial"/>
              </a:rPr>
              <a:t>on </a:t>
            </a:r>
            <a:r>
              <a:rPr lang="en-US" sz="1600" b="0" u="none" strike="noStrike">
                <a:solidFill>
                  <a:srgbClr val="9FB3C8"/>
                </a:solidFill>
                <a:effectLst/>
                <a:uFillTx/>
                <a:latin typeface="Arial"/>
                <a:ea typeface="Arial"/>
              </a:rPr>
              <a:t>for </a:t>
            </a:r>
            <a:r>
              <a:rPr lang="en-US" sz="1600" b="0" u="none" strike="noStrike">
                <a:solidFill>
                  <a:srgbClr val="9FB3C8"/>
                </a:solidFill>
                <a:effectLst/>
                <a:uFillTx/>
                <a:latin typeface="Arial"/>
                <a:ea typeface="Arial"/>
              </a:rPr>
              <a:t>th</a:t>
            </a:r>
            <a:r>
              <a:rPr lang="en-US" sz="1600" b="0" u="none" strike="noStrike">
                <a:solidFill>
                  <a:srgbClr val="9FB3C8"/>
                </a:solidFill>
                <a:effectLst/>
                <a:uFillTx/>
                <a:latin typeface="Arial"/>
                <a:ea typeface="Arial"/>
              </a:rPr>
              <a:t>e </a:t>
            </a:r>
            <a:r>
              <a:rPr lang="en-US" sz="1600" b="0" u="none" strike="noStrike">
                <a:solidFill>
                  <a:srgbClr val="9FB3C8"/>
                </a:solidFill>
                <a:effectLst/>
                <a:uFillTx/>
                <a:latin typeface="Arial"/>
                <a:ea typeface="Arial"/>
              </a:rPr>
              <a:t>Od</a:t>
            </a:r>
            <a:r>
              <a:rPr lang="en-US" sz="1600" b="0" u="none" strike="noStrike">
                <a:solidFill>
                  <a:srgbClr val="9FB3C8"/>
                </a:solidFill>
                <a:effectLst/>
                <a:uFillTx/>
                <a:latin typeface="Arial"/>
                <a:ea typeface="Arial"/>
              </a:rPr>
              <a:t>ido </a:t>
            </a:r>
            <a:r>
              <a:rPr lang="en-US" sz="1600" b="0" u="none" strike="noStrike">
                <a:solidFill>
                  <a:srgbClr val="9FB3C8"/>
                </a:solidFill>
                <a:effectLst/>
                <a:uFillTx/>
                <a:latin typeface="Arial"/>
                <a:ea typeface="Arial"/>
              </a:rPr>
              <a:t>ap</a:t>
            </a:r>
            <a:r>
              <a:rPr lang="en-US" sz="1600" b="0" u="none" strike="noStrike">
                <a:solidFill>
                  <a:srgbClr val="9FB3C8"/>
                </a:solidFill>
                <a:effectLst/>
                <a:uFillTx/>
                <a:latin typeface="Arial"/>
                <a:ea typeface="Arial"/>
              </a:rPr>
              <a:t>p: </a:t>
            </a:r>
            <a:r>
              <a:rPr lang="en-US" sz="1600" b="0" u="none" strike="noStrike">
                <a:solidFill>
                  <a:srgbClr val="9FB3C8"/>
                </a:solidFill>
                <a:effectLst/>
                <a:uFillTx/>
                <a:latin typeface="Arial"/>
                <a:ea typeface="Arial"/>
              </a:rPr>
              <a:t>dis</a:t>
            </a:r>
            <a:r>
              <a:rPr lang="en-US" sz="1600" b="0" u="none" strike="noStrike">
                <a:solidFill>
                  <a:srgbClr val="9FB3C8"/>
                </a:solidFill>
                <a:effectLst/>
                <a:uFillTx/>
                <a:latin typeface="Arial"/>
                <a:ea typeface="Arial"/>
              </a:rPr>
              <a:t>co</a:t>
            </a:r>
            <a:r>
              <a:rPr lang="en-US" sz="1600" b="0" u="none" strike="noStrike">
                <a:solidFill>
                  <a:srgbClr val="9FB3C8"/>
                </a:solidFill>
                <a:effectLst/>
                <a:uFillTx/>
                <a:latin typeface="Arial"/>
                <a:ea typeface="Arial"/>
              </a:rPr>
              <a:t>ve</a:t>
            </a:r>
            <a:r>
              <a:rPr lang="en-US" sz="1600" b="0" u="none" strike="noStrike">
                <a:solidFill>
                  <a:srgbClr val="9FB3C8"/>
                </a:solidFill>
                <a:effectLst/>
                <a:uFillTx/>
                <a:latin typeface="Arial"/>
                <a:ea typeface="Arial"/>
              </a:rPr>
              <a:t>ry </a:t>
            </a:r>
            <a:r>
              <a:rPr lang="en-US" sz="1600" b="0" u="none" strike="noStrike">
                <a:solidFill>
                  <a:srgbClr val="9FB3C8"/>
                </a:solidFill>
                <a:effectLst/>
                <a:uFillTx/>
                <a:latin typeface="Arial"/>
                <a:ea typeface="Arial"/>
              </a:rPr>
              <a:t>pla</a:t>
            </a:r>
            <a:r>
              <a:rPr lang="en-US" sz="1600" b="0" u="none" strike="noStrike">
                <a:solidFill>
                  <a:srgbClr val="9FB3C8"/>
                </a:solidFill>
                <a:effectLst/>
                <a:uFillTx/>
                <a:latin typeface="Arial"/>
                <a:ea typeface="Arial"/>
              </a:rPr>
              <a:t>yb</a:t>
            </a:r>
            <a:r>
              <a:rPr lang="en-US" sz="1600" b="0" u="none" strike="noStrike">
                <a:solidFill>
                  <a:srgbClr val="9FB3C8"/>
                </a:solidFill>
                <a:effectLst/>
                <a:uFillTx/>
                <a:latin typeface="Arial"/>
                <a:ea typeface="Arial"/>
              </a:rPr>
              <a:t>ac</a:t>
            </a:r>
            <a:r>
              <a:rPr lang="en-US" sz="1600" b="0" u="none" strike="noStrike">
                <a:solidFill>
                  <a:srgbClr val="9FB3C8"/>
                </a:solidFill>
                <a:effectLst/>
                <a:uFillTx/>
                <a:latin typeface="Arial"/>
                <a:ea typeface="Arial"/>
              </a:rPr>
              <a:t>k </a:t>
            </a:r>
            <a:r>
              <a:rPr lang="en-US" sz="1600" b="0" u="none" strike="noStrike">
                <a:solidFill>
                  <a:srgbClr val="9FB3C8"/>
                </a:solidFill>
                <a:effectLst/>
                <a:uFillTx/>
                <a:latin typeface="Arial"/>
                <a:ea typeface="Arial"/>
              </a:rPr>
              <a:t>an</a:t>
            </a:r>
            <a:r>
              <a:rPr lang="en-US" sz="1600" b="0" u="none" strike="noStrike">
                <a:solidFill>
                  <a:srgbClr val="9FB3C8"/>
                </a:solidFill>
                <a:effectLst/>
                <a:uFillTx/>
                <a:latin typeface="Arial"/>
                <a:ea typeface="Arial"/>
              </a:rPr>
              <a:t>d </a:t>
            </a:r>
            <a:r>
              <a:rPr lang="en-US" sz="1600" b="0" u="none" strike="noStrike">
                <a:solidFill>
                  <a:srgbClr val="9FB3C8"/>
                </a:solidFill>
                <a:effectLst/>
                <a:uFillTx/>
                <a:latin typeface="Arial"/>
                <a:ea typeface="Arial"/>
              </a:rPr>
              <a:t>liv</a:t>
            </a:r>
            <a:r>
              <a:rPr lang="en-US" sz="1600" b="0" u="none" strike="noStrike">
                <a:solidFill>
                  <a:srgbClr val="9FB3C8"/>
                </a:solidFill>
                <a:effectLst/>
                <a:uFillTx/>
                <a:latin typeface="Arial"/>
                <a:ea typeface="Arial"/>
              </a:rPr>
              <a:t>e </a:t>
            </a:r>
            <a:r>
              <a:rPr lang="en-US" sz="1600" b="0" u="none" strike="noStrike">
                <a:solidFill>
                  <a:srgbClr val="9FB3C8"/>
                </a:solidFill>
                <a:effectLst/>
                <a:uFillTx/>
                <a:latin typeface="Arial"/>
                <a:ea typeface="Arial"/>
              </a:rPr>
              <a:t>de</a:t>
            </a:r>
            <a:r>
              <a:rPr lang="en-US" sz="1600" b="0" u="none" strike="noStrike">
                <a:solidFill>
                  <a:srgbClr val="9FB3C8"/>
                </a:solidFill>
                <a:effectLst/>
                <a:uFillTx/>
                <a:latin typeface="Arial"/>
                <a:ea typeface="Arial"/>
              </a:rPr>
              <a:t>m</a:t>
            </a:r>
            <a:r>
              <a:rPr lang="en-US" sz="1600" b="0" u="none" strike="noStrike">
                <a:solidFill>
                  <a:srgbClr val="9FB3C8"/>
                </a:solidFill>
                <a:effectLst/>
                <a:uFillTx/>
                <a:latin typeface="Arial"/>
                <a:ea typeface="Arial"/>
              </a:rPr>
              <a:t>o</a:t>
            </a:r>
            <a:endParaRPr lang="en-US" sz="1600" b="0" u="none" strike="noStrike">
              <a:solidFill>
                <a:srgbClr val="FFFFFF"/>
              </a:solidFill>
              <a:effectLst/>
              <a:uFillTx/>
              <a:latin typeface="Arial"/>
            </a:endParaRPr>
          </a:p>
        </p:txBody>
      </p:sp>
      <p:sp>
        <p:nvSpPr>
          <p:cNvPr id="18" name="Text 7"/>
          <p:cNvSpPr/>
          <p:nvPr/>
        </p:nvSpPr>
        <p:spPr>
          <a:xfrm>
            <a:off x="548640" y="3703320"/>
            <a:ext cx="82288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1" u="none" strike="noStrike">
                <a:solidFill>
                  <a:srgbClr val="FFFFFF"/>
                </a:solidFill>
                <a:effectLst/>
                <a:uFillTx/>
                <a:latin typeface="Arial"/>
                <a:ea typeface="Arial"/>
              </a:rPr>
              <a:t>Iram Khan</a:t>
            </a:r>
            <a:r>
              <a:rPr lang="en-US" sz="1300" b="0" u="none" strike="noStrike">
                <a:solidFill>
                  <a:srgbClr val="9FB3C8"/>
                </a:solidFill>
                <a:effectLst/>
                <a:uFillTx/>
                <a:latin typeface="Arial"/>
                <a:ea typeface="Arial"/>
              </a:rPr>
              <a:t>  ·  Senior Enterprise Sales Engineer, Harness</a:t>
            </a:r>
            <a:endParaRPr lang="en-US" sz="1300" b="0" u="none" strike="noStrike">
              <a:solidFill>
                <a:srgbClr val="FFFFFF"/>
              </a:solidFill>
              <a:effectLst/>
              <a:uFillTx/>
              <a:latin typeface="Arial"/>
            </a:endParaRPr>
          </a:p>
        </p:txBody>
      </p:sp>
      <p:sp>
        <p:nvSpPr>
          <p:cNvPr id="19" name="Shape 8"/>
          <p:cNvSpPr/>
          <p:nvPr/>
        </p:nvSpPr>
        <p:spPr>
          <a:xfrm>
            <a:off x="548640" y="4572000"/>
            <a:ext cx="2651040" cy="1416600"/>
          </a:xfrm>
          <a:prstGeom prst="rect">
            <a:avLst/>
          </a:prstGeom>
          <a:solidFill>
            <a:srgbClr val="112F50"/>
          </a:solidFill>
          <a:ln w="12700">
            <a:solidFill>
              <a:srgbClr val="112F50"/>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20" name="Text 9"/>
          <p:cNvSpPr/>
          <p:nvPr/>
        </p:nvSpPr>
        <p:spPr>
          <a:xfrm>
            <a:off x="731520" y="4681800"/>
            <a:ext cx="237672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00ADE4"/>
                </a:solidFill>
                <a:effectLst/>
                <a:uFillTx/>
                <a:latin typeface="Arial"/>
                <a:ea typeface="Arial"/>
              </a:rPr>
              <a:t>~7.5</a:t>
            </a:r>
            <a:r>
              <a:rPr lang="en-US" sz="2600" b="1" u="none" strike="noStrike">
                <a:solidFill>
                  <a:srgbClr val="00ADE4"/>
                </a:solidFill>
                <a:effectLst/>
                <a:uFillTx/>
                <a:latin typeface="Arial"/>
                <a:ea typeface="Arial"/>
              </a:rPr>
              <a:t>M</a:t>
            </a:r>
            <a:endParaRPr lang="en-US" sz="2600" b="0" u="none" strike="noStrike">
              <a:solidFill>
                <a:srgbClr val="FFFFFF"/>
              </a:solidFill>
              <a:effectLst/>
              <a:uFillTx/>
              <a:latin typeface="Arial"/>
            </a:endParaRPr>
          </a:p>
        </p:txBody>
      </p:sp>
      <p:sp>
        <p:nvSpPr>
          <p:cNvPr id="21" name="Text 10"/>
          <p:cNvSpPr/>
          <p:nvPr/>
        </p:nvSpPr>
        <p:spPr>
          <a:xfrm>
            <a:off x="731520" y="5230440"/>
            <a:ext cx="2331000" cy="639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0" u="none" strike="noStrike">
                <a:solidFill>
                  <a:srgbClr val="D6E2EE"/>
                </a:solidFill>
                <a:effectLst/>
                <a:uFillTx/>
                <a:latin typeface="Arial"/>
                <a:ea typeface="Arial"/>
              </a:rPr>
              <a:t>customers, #1 mobile operator in NL</a:t>
            </a:r>
            <a:endParaRPr lang="en-US" sz="1150" b="0" u="none" strike="noStrike">
              <a:solidFill>
                <a:srgbClr val="FFFFFF"/>
              </a:solidFill>
              <a:effectLst/>
              <a:uFillTx/>
              <a:latin typeface="Arial"/>
            </a:endParaRPr>
          </a:p>
        </p:txBody>
      </p:sp>
      <p:sp>
        <p:nvSpPr>
          <p:cNvPr id="22" name="Shape 11"/>
          <p:cNvSpPr/>
          <p:nvPr/>
        </p:nvSpPr>
        <p:spPr>
          <a:xfrm>
            <a:off x="3364920" y="4572000"/>
            <a:ext cx="2651040" cy="1416600"/>
          </a:xfrm>
          <a:prstGeom prst="rect">
            <a:avLst/>
          </a:prstGeom>
          <a:solidFill>
            <a:srgbClr val="112F50"/>
          </a:solidFill>
          <a:ln w="12700">
            <a:solidFill>
              <a:srgbClr val="112F50"/>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23" name="Text 12"/>
          <p:cNvSpPr/>
          <p:nvPr/>
        </p:nvSpPr>
        <p:spPr>
          <a:xfrm>
            <a:off x="3547800" y="4681800"/>
            <a:ext cx="237672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00ADE4"/>
                </a:solidFill>
                <a:effectLst/>
                <a:uFillTx/>
                <a:latin typeface="Arial"/>
                <a:ea typeface="Arial"/>
              </a:rPr>
              <a:t>€2.4</a:t>
            </a:r>
            <a:r>
              <a:rPr lang="en-US" sz="2600" b="1" u="none" strike="noStrike">
                <a:solidFill>
                  <a:srgbClr val="00ADE4"/>
                </a:solidFill>
                <a:effectLst/>
                <a:uFillTx/>
                <a:latin typeface="Arial"/>
                <a:ea typeface="Arial"/>
              </a:rPr>
              <a:t>bn</a:t>
            </a:r>
            <a:endParaRPr lang="en-US" sz="2600" b="0" u="none" strike="noStrike">
              <a:solidFill>
                <a:srgbClr val="FFFFFF"/>
              </a:solidFill>
              <a:effectLst/>
              <a:uFillTx/>
              <a:latin typeface="Arial"/>
            </a:endParaRPr>
          </a:p>
        </p:txBody>
      </p:sp>
      <p:sp>
        <p:nvSpPr>
          <p:cNvPr id="24" name="Text 13"/>
          <p:cNvSpPr/>
          <p:nvPr/>
        </p:nvSpPr>
        <p:spPr>
          <a:xfrm>
            <a:off x="3547800" y="5230440"/>
            <a:ext cx="2331000" cy="639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0" u="none" strike="noStrike">
                <a:solidFill>
                  <a:srgbClr val="D6E2EE"/>
                </a:solidFill>
                <a:effectLst/>
                <a:uFillTx/>
                <a:latin typeface="Arial"/>
                <a:ea typeface="Arial"/>
              </a:rPr>
              <a:t>2025 revenue, +3%: growth must come from ARPU</a:t>
            </a:r>
            <a:endParaRPr lang="en-US" sz="1150" b="0" u="none" strike="noStrike">
              <a:solidFill>
                <a:srgbClr val="FFFFFF"/>
              </a:solidFill>
              <a:effectLst/>
              <a:uFillTx/>
              <a:latin typeface="Arial"/>
            </a:endParaRPr>
          </a:p>
        </p:txBody>
      </p:sp>
      <p:sp>
        <p:nvSpPr>
          <p:cNvPr id="25" name="Shape 14"/>
          <p:cNvSpPr/>
          <p:nvPr/>
        </p:nvSpPr>
        <p:spPr>
          <a:xfrm>
            <a:off x="6181200" y="4572000"/>
            <a:ext cx="2651040" cy="1416600"/>
          </a:xfrm>
          <a:prstGeom prst="rect">
            <a:avLst/>
          </a:prstGeom>
          <a:solidFill>
            <a:srgbClr val="112F50"/>
          </a:solidFill>
          <a:ln w="12700">
            <a:solidFill>
              <a:srgbClr val="112F50"/>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26" name="Text 15"/>
          <p:cNvSpPr/>
          <p:nvPr/>
        </p:nvSpPr>
        <p:spPr>
          <a:xfrm>
            <a:off x="6364080" y="4681800"/>
            <a:ext cx="237672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00ADE4"/>
                </a:solidFill>
                <a:effectLst/>
                <a:uFillTx/>
                <a:latin typeface="Arial"/>
                <a:ea typeface="Arial"/>
              </a:rPr>
              <a:t>15%</a:t>
            </a:r>
            <a:endParaRPr lang="en-US" sz="2600" b="0" u="none" strike="noStrike">
              <a:solidFill>
                <a:srgbClr val="FFFFFF"/>
              </a:solidFill>
              <a:effectLst/>
              <a:uFillTx/>
              <a:latin typeface="Arial"/>
            </a:endParaRPr>
          </a:p>
        </p:txBody>
      </p:sp>
      <p:sp>
        <p:nvSpPr>
          <p:cNvPr id="27" name="Text 16"/>
          <p:cNvSpPr/>
          <p:nvPr/>
        </p:nvSpPr>
        <p:spPr>
          <a:xfrm>
            <a:off x="6364080" y="5230440"/>
            <a:ext cx="2331000" cy="639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0" u="none" strike="noStrike">
                <a:solidFill>
                  <a:srgbClr val="D6E2EE"/>
                </a:solidFill>
                <a:effectLst/>
                <a:uFillTx/>
                <a:latin typeface="Arial"/>
                <a:ea typeface="Arial"/>
              </a:rPr>
              <a:t>broadband share: fibre and bundles are </a:t>
            </a:r>
            <a:r>
              <a:rPr lang="en-US" sz="1150" b="0" u="none" strike="noStrike">
                <a:solidFill>
                  <a:srgbClr val="D6E2EE"/>
                </a:solidFill>
                <a:effectLst/>
                <a:uFillTx/>
                <a:latin typeface="Arial"/>
                <a:ea typeface="Arial"/>
              </a:rPr>
              <a:t>the bet</a:t>
            </a:r>
            <a:endParaRPr lang="en-US" sz="1150" b="0" u="none" strike="noStrike">
              <a:solidFill>
                <a:srgbClr val="FFFFFF"/>
              </a:solidFill>
              <a:effectLst/>
              <a:uFillTx/>
              <a:latin typeface="Arial"/>
            </a:endParaRPr>
          </a:p>
        </p:txBody>
      </p:sp>
      <p:sp>
        <p:nvSpPr>
          <p:cNvPr id="28" name="Shape 17"/>
          <p:cNvSpPr/>
          <p:nvPr/>
        </p:nvSpPr>
        <p:spPr>
          <a:xfrm>
            <a:off x="8997840" y="4572000"/>
            <a:ext cx="2651040" cy="1416600"/>
          </a:xfrm>
          <a:prstGeom prst="rect">
            <a:avLst/>
          </a:prstGeom>
          <a:solidFill>
            <a:srgbClr val="112F50"/>
          </a:solidFill>
          <a:ln w="12700">
            <a:solidFill>
              <a:srgbClr val="112F50"/>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29" name="Text 18"/>
          <p:cNvSpPr/>
          <p:nvPr/>
        </p:nvSpPr>
        <p:spPr>
          <a:xfrm>
            <a:off x="9180720" y="4681800"/>
            <a:ext cx="2376720" cy="5479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600" b="1" u="none" strike="noStrike">
                <a:solidFill>
                  <a:srgbClr val="00ADE4"/>
                </a:solidFill>
                <a:effectLst/>
                <a:uFillTx/>
                <a:latin typeface="Arial"/>
                <a:ea typeface="Arial"/>
              </a:rPr>
              <a:t>1 app</a:t>
            </a:r>
            <a:endParaRPr lang="en-US" sz="2600" b="0" u="none" strike="noStrike">
              <a:solidFill>
                <a:srgbClr val="FFFFFF"/>
              </a:solidFill>
              <a:effectLst/>
              <a:uFillTx/>
              <a:latin typeface="Arial"/>
            </a:endParaRPr>
          </a:p>
        </p:txBody>
      </p:sp>
      <p:sp>
        <p:nvSpPr>
          <p:cNvPr id="30" name="Text 19"/>
          <p:cNvSpPr/>
          <p:nvPr/>
        </p:nvSpPr>
        <p:spPr>
          <a:xfrm>
            <a:off x="9180720" y="5230440"/>
            <a:ext cx="2331000" cy="63936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150" b="0" u="none" strike="noStrike">
                <a:solidFill>
                  <a:srgbClr val="D6E2EE"/>
                </a:solidFill>
                <a:effectLst/>
                <a:uFillTx/>
                <a:latin typeface="Arial"/>
                <a:ea typeface="Arial"/>
              </a:rPr>
              <a:t>for Mobile, Internet + TV, </a:t>
            </a:r>
            <a:r>
              <a:rPr lang="en-US" sz="1150" b="0" u="none" strike="noStrike">
                <a:solidFill>
                  <a:srgbClr val="D6E2EE"/>
                </a:solidFill>
                <a:effectLst/>
                <a:uFillTx/>
                <a:latin typeface="Arial"/>
                <a:ea typeface="Arial"/>
              </a:rPr>
              <a:t>Business, Prepaid</a:t>
            </a:r>
            <a:endParaRPr lang="en-US" sz="1150" b="0" u="none" strike="noStrike">
              <a:solidFill>
                <a:srgbClr val="FFFFFF"/>
              </a:solidFill>
              <a:effectLst/>
              <a:uFillTx/>
              <a:latin typeface="Arial"/>
            </a:endParaRPr>
          </a:p>
        </p:txBody>
      </p:sp>
      <p:sp>
        <p:nvSpPr>
          <p:cNvPr id="31" name="Text 20"/>
          <p:cNvSpPr/>
          <p:nvPr/>
        </p:nvSpPr>
        <p:spPr>
          <a:xfrm>
            <a:off x="548640" y="6172200"/>
            <a:ext cx="8228880" cy="2278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00" b="0" i="1" u="none" strike="noStrike">
                <a:solidFill>
                  <a:srgbClr val="9FB3C8"/>
                </a:solidFill>
                <a:effectLst/>
                <a:uFillTx/>
                <a:latin typeface="Arial"/>
                <a:ea typeface="Arial"/>
              </a:rPr>
              <a:t>Sources: Techzine / FT (2026), Telecompaper </a:t>
            </a:r>
            <a:r>
              <a:rPr lang="en-US" sz="800" b="0" i="1" u="none" strike="noStrike">
                <a:solidFill>
                  <a:srgbClr val="9FB3C8"/>
                </a:solidFill>
                <a:effectLst/>
                <a:uFillTx/>
                <a:latin typeface="Arial"/>
                <a:ea typeface="Arial"/>
              </a:rPr>
              <a:t>(2025 results), Apax, odido.nl. Figures </a:t>
            </a:r>
            <a:r>
              <a:rPr lang="en-US" sz="800" b="0" i="1" u="none" strike="noStrike">
                <a:solidFill>
                  <a:srgbClr val="9FB3C8"/>
                </a:solidFill>
                <a:effectLst/>
                <a:uFillTx/>
                <a:latin typeface="Arial"/>
                <a:ea typeface="Arial"/>
              </a:rPr>
              <a:t>rounded.</a:t>
            </a:r>
            <a:endParaRPr lang="en-US" sz="800" b="0" u="none" strike="noStrike">
              <a:solidFill>
                <a:srgbClr val="FFFFFF"/>
              </a:solidFill>
              <a:effectLst/>
              <a:uFillTx/>
              <a:latin typeface="Arial"/>
            </a:endParaRPr>
          </a:p>
        </p:txBody>
      </p:sp>
      <p:sp>
        <p:nvSpPr>
          <p:cNvPr id="32" name="PlaceHolder 1"/>
          <p:cNvSpPr>
            <a:spLocks noGrp="1"/>
          </p:cNvSpPr>
          <p:nvPr>
            <p:ph type="sldNum" idx="5"/>
          </p:nvPr>
        </p:nvSpPr>
        <p:spPr>
          <a:xfrm>
            <a:off x="11338560" y="6519600"/>
            <a:ext cx="456480" cy="2736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900" b="0" u="none" strike="noStrike">
                <a:solidFill>
                  <a:srgbClr val="9FB3C8"/>
                </a:solidFill>
                <a:effectLst/>
                <a:uFillTx/>
                <a:latin typeface="Arial"/>
                <a:ea typeface="Arial"/>
              </a:defRPr>
            </a:lvl1pPr>
          </a:lstStyle>
          <a:p>
            <a:pPr indent="0" algn="l" defTabSz="914400">
              <a:lnSpc>
                <a:spcPct val="100000"/>
              </a:lnSpc>
              <a:buNone/>
              <a:tabLst>
                <a:tab pos="0" algn="l"/>
              </a:tabLst>
            </a:pPr>
            <a:fld id="{E7D3D2F7-1A81-4D05-B982-07E03FEFF93C}" type="slidenum">
              <a:rPr lang="en-US" sz="900" b="0" u="none" strike="noStrike">
                <a:solidFill>
                  <a:srgbClr val="9FB3C8"/>
                </a:solidFill>
                <a:effectLst/>
                <a:uFillTx/>
                <a:latin typeface="Arial"/>
                <a:ea typeface="Arial"/>
              </a:rPr>
              <a:t>1</a:t>
            </a:fld>
            <a:endParaRPr lang="en-US" sz="900" b="0" u="none" strike="noStrike">
              <a:solidFill>
                <a:srgbClr val="FFFFFF"/>
              </a:solidFill>
              <a:effectLst/>
              <a:uFillTx/>
              <a:latin typeface="Times New Roman"/>
            </a:endParaRPr>
          </a:p>
        </p:txBody>
      </p:sp>
      <p:pic>
        <p:nvPicPr>
          <p:cNvPr id="33" name=""/>
          <p:cNvPicPr/>
          <p:nvPr/>
        </p:nvPicPr>
        <p:blipFill>
          <a:blip r:embed="rId1"/>
          <a:stretch/>
        </p:blipFill>
        <p:spPr>
          <a:xfrm>
            <a:off x="10744200" y="6155280"/>
            <a:ext cx="1033200" cy="245520"/>
          </a:xfrm>
          <a:prstGeom prst="rect">
            <a:avLst/>
          </a:prstGeom>
          <a:noFill/>
          <a:ln w="38160">
            <a:noFill/>
          </a:ln>
        </p:spPr>
      </p:pic>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fill="hold" nodeType="with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par>
                                <p:cTn id="11" presetID="1" presetClass="entr"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par>
                                <p:cTn id="15" presetID="1" presetClass="entr"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fill="hold"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par>
                                <p:cTn id="23" presetID="1" presetClass="entr"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par>
                                <p:cTn id="25" presetID="1" presetClass="entr" fill="hold" nodeType="withEffect">
                                  <p:stCondLst>
                                    <p:cond delay="0"/>
                                  </p:stCondLst>
                                  <p:childTnLst>
                                    <p:set>
                                      <p:cBhvr>
                                        <p:cTn id="26" dur="1" fill="hold">
                                          <p:stCondLst>
                                            <p:cond delay="0"/>
                                          </p:stCondLst>
                                        </p:cTn>
                                        <p:tgtEl>
                                          <p:spTgt spid="29"/>
                                        </p:tgtEl>
                                        <p:attrNameLst>
                                          <p:attrName>style.visibility</p:attrName>
                                        </p:attrNameLst>
                                      </p:cBhvr>
                                      <p:to>
                                        <p:strVal val="visible"/>
                                      </p:to>
                                    </p:set>
                                  </p:childTnLst>
                                </p:cTn>
                              </p:par>
                              <p:par>
                                <p:cTn id="27" presetID="1" presetClass="entr" fill="hold" nodeType="withEffect">
                                  <p:stCondLst>
                                    <p:cond delay="0"/>
                                  </p:stCondLst>
                                  <p:childTnLst>
                                    <p:set>
                                      <p:cBhvr>
                                        <p:cTn id="28" dur="1" fill="hold">
                                          <p:stCondLst>
                                            <p:cond delay="0"/>
                                          </p:stCondLst>
                                        </p:cTn>
                                        <p:tgtEl>
                                          <p:spTgt spid="30"/>
                                        </p:tgtEl>
                                        <p:attrNameLst>
                                          <p:attrName>style.visibility</p:attrName>
                                        </p:attrNameLst>
                                      </p:cBhvr>
                                      <p:to>
                                        <p:strVal val="visible"/>
                                      </p:to>
                                    </p:set>
                                  </p:childTnLst>
                                </p:cTn>
                              </p:par>
                              <p:par>
                                <p:cTn id="29" presetID="1" presetClass="entr" fill="hold" nodeType="with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82B"/>
        </a:solidFill>
      </p:bgPr>
    </p:bg>
    <p:spTree>
      <p:nvGrpSpPr>
        <p:cNvPr id="1" name=""/>
        <p:cNvGrpSpPr/>
        <p:nvPr/>
      </p:nvGrpSpPr>
      <p:grpSpPr>
        <a:xfrm>
          <a:off x="0" y="0"/>
          <a:ext cx="0" cy="0"/>
          <a:chOff x="0" y="0"/>
          <a:chExt cx="0" cy="0"/>
        </a:xfrm>
      </p:grpSpPr>
      <p:sp>
        <p:nvSpPr>
          <p:cNvPr id="34" name="Text 0"/>
          <p:cNvSpPr/>
          <p:nvPr/>
        </p:nvSpPr>
        <p:spPr>
          <a:xfrm>
            <a:off x="457200" y="6464880"/>
            <a:ext cx="27424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harness</a:t>
            </a:r>
            <a:r>
              <a:rPr lang="en-US" sz="1200" b="1" u="none" strike="noStrike">
                <a:solidFill>
                  <a:srgbClr val="00ADE4"/>
                </a:solidFill>
                <a:effectLst/>
                <a:uFillTx/>
                <a:latin typeface="Arial"/>
                <a:ea typeface="Arial"/>
              </a:rPr>
              <a:t>  FME</a:t>
            </a:r>
            <a:endParaRPr lang="en-US" sz="1200" b="0" u="none" strike="noStrike">
              <a:solidFill>
                <a:srgbClr val="FFFFFF"/>
              </a:solidFill>
              <a:effectLst/>
              <a:uFillTx/>
              <a:latin typeface="Arial"/>
            </a:endParaRPr>
          </a:p>
        </p:txBody>
      </p:sp>
      <p:sp>
        <p:nvSpPr>
          <p:cNvPr id="35" name="Text 1"/>
          <p:cNvSpPr/>
          <p:nvPr/>
        </p:nvSpPr>
        <p:spPr>
          <a:xfrm>
            <a:off x="5943600" y="6464880"/>
            <a:ext cx="5211360" cy="365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9FB3C8"/>
                </a:solidFill>
                <a:effectLst/>
                <a:uFillTx/>
                <a:latin typeface="Arial"/>
                <a:ea typeface="Arial"/>
              </a:rPr>
              <a:t>Odido × Harness  |  Confidential</a:t>
            </a:r>
            <a:endParaRPr lang="en-US" sz="900" b="0" u="none" strike="noStrike">
              <a:solidFill>
                <a:srgbClr val="FFFFFF"/>
              </a:solidFill>
              <a:effectLst/>
              <a:uFillTx/>
              <a:latin typeface="Arial"/>
            </a:endParaRPr>
          </a:p>
        </p:txBody>
      </p:sp>
      <p:sp>
        <p:nvSpPr>
          <p:cNvPr id="36" name="Shape 2"/>
          <p:cNvSpPr/>
          <p:nvPr/>
        </p:nvSpPr>
        <p:spPr>
          <a:xfrm>
            <a:off x="7863840" y="-2194560"/>
            <a:ext cx="6765840" cy="6765840"/>
          </a:xfrm>
          <a:prstGeom prst="ellipse">
            <a:avLst/>
          </a:prstGeom>
          <a:solidFill>
            <a:srgbClr val="0278D5">
              <a:alpha val="75000"/>
            </a:srgbClr>
          </a:solidFill>
          <a:ln w="12700">
            <a:solidFill>
              <a:srgbClr val="0278D5">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37" name="Shape 3"/>
          <p:cNvSpPr/>
          <p:nvPr/>
        </p:nvSpPr>
        <p:spPr>
          <a:xfrm>
            <a:off x="9692640" y="1828800"/>
            <a:ext cx="3839760" cy="3839760"/>
          </a:xfrm>
          <a:prstGeom prst="ellipse">
            <a:avLst/>
          </a:prstGeom>
          <a:solidFill>
            <a:srgbClr val="7D4DD3">
              <a:alpha val="70000"/>
            </a:srgbClr>
          </a:solidFill>
          <a:ln w="12700">
            <a:solidFill>
              <a:srgbClr val="7D4DD3">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38" name="PlaceHolder 1"/>
          <p:cNvSpPr>
            <a:spLocks noGrp="1"/>
          </p:cNvSpPr>
          <p:nvPr>
            <p:ph type="sldNum" idx="6"/>
          </p:nvPr>
        </p:nvSpPr>
        <p:spPr>
          <a:xfrm>
            <a:off x="11338560" y="6519600"/>
            <a:ext cx="456480" cy="2736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900" b="0" u="none" strike="noStrike">
                <a:solidFill>
                  <a:srgbClr val="9FB3C8"/>
                </a:solidFill>
                <a:effectLst/>
                <a:uFillTx/>
                <a:latin typeface="Arial"/>
                <a:ea typeface="Arial"/>
              </a:defRPr>
            </a:lvl1pPr>
          </a:lstStyle>
          <a:p>
            <a:pPr indent="0" algn="l" defTabSz="914400">
              <a:lnSpc>
                <a:spcPct val="100000"/>
              </a:lnSpc>
              <a:buNone/>
              <a:tabLst>
                <a:tab pos="0" algn="l"/>
              </a:tabLst>
            </a:pPr>
            <a:fld id="{AEEEE573-CBA1-4D2D-A56B-DD6D790301E5}" type="slidenum">
              <a:rPr lang="en-US" sz="900" b="0" u="none" strike="noStrike">
                <a:solidFill>
                  <a:srgbClr val="9FB3C8"/>
                </a:solidFill>
                <a:effectLst/>
                <a:uFillTx/>
                <a:latin typeface="Arial"/>
                <a:ea typeface="Arial"/>
              </a:rPr>
              <a:t>1</a:t>
            </a:fld>
            <a:endParaRPr lang="en-US" sz="900" b="0" u="none" strike="noStrike">
              <a:solidFill>
                <a:srgbClr val="FFFFFF"/>
              </a:solidFill>
              <a:effectLst/>
              <a:uFillTx/>
              <a:latin typeface="Times New Roman"/>
            </a:endParaRPr>
          </a:p>
        </p:txBody>
      </p:sp>
      <p:sp>
        <p:nvSpPr>
          <p:cNvPr id="39" name="Rectangle 25"/>
          <p:cNvSpPr/>
          <p:nvPr/>
        </p:nvSpPr>
        <p:spPr>
          <a:xfrm>
            <a:off x="548640" y="2240280"/>
            <a:ext cx="822240" cy="63360"/>
          </a:xfrm>
          <a:prstGeom prst="rect">
            <a:avLst/>
          </a:prstGeom>
          <a:solidFill>
            <a:srgbClr val="00ADE4"/>
          </a:solidFill>
          <a:ln>
            <a:noFill/>
          </a:ln>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40" name="TextBox 26"/>
          <p:cNvSpPr/>
          <p:nvPr/>
        </p:nvSpPr>
        <p:spPr>
          <a:xfrm>
            <a:off x="548640" y="2468880"/>
            <a:ext cx="5485680" cy="6393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3000" b="1" u="none" strike="noStrike">
                <a:solidFill>
                  <a:srgbClr val="00ADE4"/>
                </a:solidFill>
                <a:effectLst/>
                <a:uFillTx/>
                <a:latin typeface="Arial"/>
              </a:rPr>
              <a:t>ODIDO × </a:t>
            </a:r>
            <a:r>
              <a:rPr lang="en-US" sz="3000" b="1" u="none" strike="noStrike">
                <a:solidFill>
                  <a:srgbClr val="00ADE4"/>
                </a:solidFill>
                <a:effectLst/>
                <a:uFillTx/>
                <a:latin typeface="Arial"/>
              </a:rPr>
              <a:t>HARNESS</a:t>
            </a:r>
            <a:endParaRPr lang="en-US" sz="3000" b="0" u="none" strike="noStrike">
              <a:solidFill>
                <a:srgbClr val="FFFFFF"/>
              </a:solidFill>
              <a:effectLst/>
              <a:uFillTx/>
              <a:latin typeface="Arial"/>
            </a:endParaRPr>
          </a:p>
        </p:txBody>
      </p:sp>
      <p:sp>
        <p:nvSpPr>
          <p:cNvPr id="41" name="TextBox 27"/>
          <p:cNvSpPr/>
          <p:nvPr/>
        </p:nvSpPr>
        <p:spPr>
          <a:xfrm>
            <a:off x="548640" y="3063240"/>
            <a:ext cx="7771680" cy="10051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5400" b="1" u="none" strike="noStrike">
                <a:solidFill>
                  <a:srgbClr val="FFFFFF"/>
                </a:solidFill>
                <a:effectLst/>
                <a:uFillTx/>
                <a:latin typeface="Arial"/>
              </a:rPr>
              <a:t>A</a:t>
            </a:r>
            <a:r>
              <a:rPr lang="en-US" sz="5400" b="1" u="none" strike="noStrike">
                <a:solidFill>
                  <a:srgbClr val="FFFFFF"/>
                </a:solidFill>
                <a:effectLst/>
                <a:uFillTx/>
                <a:latin typeface="Arial"/>
              </a:rPr>
              <a:t>g</a:t>
            </a:r>
            <a:r>
              <a:rPr lang="en-US" sz="5400" b="1" u="none" strike="noStrike">
                <a:solidFill>
                  <a:srgbClr val="FFFFFF"/>
                </a:solidFill>
                <a:effectLst/>
                <a:uFillTx/>
                <a:latin typeface="Arial"/>
              </a:rPr>
              <a:t>e</a:t>
            </a:r>
            <a:r>
              <a:rPr lang="en-US" sz="5400" b="1" u="none" strike="noStrike">
                <a:solidFill>
                  <a:srgbClr val="FFFFFF"/>
                </a:solidFill>
                <a:effectLst/>
                <a:uFillTx/>
                <a:latin typeface="Arial"/>
              </a:rPr>
              <a:t>n</a:t>
            </a:r>
            <a:r>
              <a:rPr lang="en-US" sz="5400" b="1" u="none" strike="noStrike">
                <a:solidFill>
                  <a:srgbClr val="FFFFFF"/>
                </a:solidFill>
                <a:effectLst/>
                <a:uFillTx/>
                <a:latin typeface="Arial"/>
              </a:rPr>
              <a:t>d</a:t>
            </a:r>
            <a:r>
              <a:rPr lang="en-US" sz="5400" b="1" u="none" strike="noStrike">
                <a:solidFill>
                  <a:srgbClr val="FFFFFF"/>
                </a:solidFill>
                <a:effectLst/>
                <a:uFillTx/>
                <a:latin typeface="Arial"/>
              </a:rPr>
              <a:t>a</a:t>
            </a:r>
            <a:endParaRPr lang="en-US" sz="5400" b="0" u="none" strike="noStrike">
              <a:solidFill>
                <a:srgbClr val="FFFFFF"/>
              </a:solidFill>
              <a:effectLst/>
              <a:uFillTx/>
              <a:latin typeface="Arial"/>
            </a:endParaRPr>
          </a:p>
        </p:txBody>
      </p:sp>
      <p:sp>
        <p:nvSpPr>
          <p:cNvPr id="42" name="TextBox 28"/>
          <p:cNvSpPr/>
          <p:nvPr/>
        </p:nvSpPr>
        <p:spPr>
          <a:xfrm>
            <a:off x="548640" y="4114800"/>
            <a:ext cx="7497360" cy="27468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800" b="0" u="none" strike="noStrike">
                <a:solidFill>
                  <a:srgbClr val="C9D6E3"/>
                </a:solidFill>
                <a:effectLst/>
                <a:uFillTx/>
                <a:latin typeface="Arial"/>
              </a:rPr>
              <a:t>45 minutes, built around your goals. Interrupt any time.</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A"/>
        </a:solidFill>
      </p:bgPr>
    </p:bg>
    <p:spTree>
      <p:nvGrpSpPr>
        <p:cNvPr id="1" name=""/>
        <p:cNvGrpSpPr/>
        <p:nvPr/>
      </p:nvGrpSpPr>
      <p:grpSpPr>
        <a:xfrm>
          <a:off x="0" y="0"/>
          <a:ext cx="0" cy="0"/>
          <a:chOff x="0" y="0"/>
          <a:chExt cx="0" cy="0"/>
        </a:xfrm>
      </p:grpSpPr>
      <p:sp>
        <p:nvSpPr>
          <p:cNvPr id="43" name="Shape 0"/>
          <p:cNvSpPr/>
          <p:nvPr/>
        </p:nvSpPr>
        <p:spPr>
          <a:xfrm>
            <a:off x="0" y="6446520"/>
            <a:ext cx="12191040" cy="410760"/>
          </a:xfrm>
          <a:prstGeom prst="rect">
            <a:avLst/>
          </a:prstGeom>
          <a:solidFill>
            <a:srgbClr val="07182B"/>
          </a:solidFill>
          <a:ln w="12700">
            <a:solidFill>
              <a:srgbClr val="07182B"/>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44" name="Text 1"/>
          <p:cNvSpPr/>
          <p:nvPr/>
        </p:nvSpPr>
        <p:spPr>
          <a:xfrm>
            <a:off x="457200" y="6464880"/>
            <a:ext cx="27424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harness</a:t>
            </a:r>
            <a:r>
              <a:rPr lang="en-US" sz="1200" b="1" u="none" strike="noStrike">
                <a:solidFill>
                  <a:srgbClr val="00ADE4"/>
                </a:solidFill>
                <a:effectLst/>
                <a:uFillTx/>
                <a:latin typeface="Arial"/>
                <a:ea typeface="Arial"/>
              </a:rPr>
              <a:t>  FME</a:t>
            </a:r>
            <a:endParaRPr lang="en-US" sz="1200" b="0" u="none" strike="noStrike">
              <a:solidFill>
                <a:srgbClr val="000000"/>
              </a:solidFill>
              <a:effectLst/>
              <a:uFillTx/>
              <a:latin typeface="Arial"/>
            </a:endParaRPr>
          </a:p>
        </p:txBody>
      </p:sp>
      <p:sp>
        <p:nvSpPr>
          <p:cNvPr id="45" name="Text 2"/>
          <p:cNvSpPr/>
          <p:nvPr/>
        </p:nvSpPr>
        <p:spPr>
          <a:xfrm>
            <a:off x="5943600" y="6464880"/>
            <a:ext cx="5211360" cy="365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9FB3C8"/>
                </a:solidFill>
                <a:effectLst/>
                <a:uFillTx/>
                <a:latin typeface="Arial"/>
                <a:ea typeface="Arial"/>
              </a:rPr>
              <a:t>Odido × Harness  |  Confidential</a:t>
            </a:r>
            <a:endParaRPr lang="en-US" sz="900" b="0" u="none" strike="noStrike">
              <a:solidFill>
                <a:srgbClr val="000000"/>
              </a:solidFill>
              <a:effectLst/>
              <a:uFillTx/>
              <a:latin typeface="Arial"/>
            </a:endParaRPr>
          </a:p>
        </p:txBody>
      </p:sp>
      <p:sp>
        <p:nvSpPr>
          <p:cNvPr id="46" name="Text 3"/>
          <p:cNvSpPr/>
          <p:nvPr/>
        </p:nvSpPr>
        <p:spPr>
          <a:xfrm>
            <a:off x="457200" y="274320"/>
            <a:ext cx="1124640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0B1A2B"/>
                </a:solidFill>
                <a:effectLst/>
                <a:uFillTx/>
                <a:latin typeface="Arial"/>
                <a:ea typeface="Arial"/>
              </a:rPr>
              <a:t>A</a:t>
            </a:r>
            <a:r>
              <a:rPr lang="en-US" sz="2800" b="1" u="none" strike="noStrike">
                <a:solidFill>
                  <a:srgbClr val="0B1A2B"/>
                </a:solidFill>
                <a:effectLst/>
                <a:uFillTx/>
                <a:latin typeface="Arial"/>
                <a:ea typeface="Arial"/>
              </a:rPr>
              <a:t>g</a:t>
            </a:r>
            <a:r>
              <a:rPr lang="en-US" sz="2800" b="1" u="none" strike="noStrike">
                <a:solidFill>
                  <a:srgbClr val="0B1A2B"/>
                </a:solidFill>
                <a:effectLst/>
                <a:uFillTx/>
                <a:latin typeface="Arial"/>
                <a:ea typeface="Arial"/>
              </a:rPr>
              <a:t>e</a:t>
            </a:r>
            <a:r>
              <a:rPr lang="en-US" sz="2800" b="1" u="none" strike="noStrike">
                <a:solidFill>
                  <a:srgbClr val="0B1A2B"/>
                </a:solidFill>
                <a:effectLst/>
                <a:uFillTx/>
                <a:latin typeface="Arial"/>
                <a:ea typeface="Arial"/>
              </a:rPr>
              <a:t>n</a:t>
            </a:r>
            <a:r>
              <a:rPr lang="en-US" sz="2800" b="1" u="none" strike="noStrike">
                <a:solidFill>
                  <a:srgbClr val="0B1A2B"/>
                </a:solidFill>
                <a:effectLst/>
                <a:uFillTx/>
                <a:latin typeface="Arial"/>
                <a:ea typeface="Arial"/>
              </a:rPr>
              <a:t>d</a:t>
            </a:r>
            <a:r>
              <a:rPr lang="en-US" sz="2800" b="1" u="none" strike="noStrike">
                <a:solidFill>
                  <a:srgbClr val="0B1A2B"/>
                </a:solidFill>
                <a:effectLst/>
                <a:uFillTx/>
                <a:latin typeface="Arial"/>
                <a:ea typeface="Arial"/>
              </a:rPr>
              <a:t>a</a:t>
            </a:r>
            <a:endParaRPr lang="en-US" sz="2800" b="0" u="none" strike="noStrike">
              <a:solidFill>
                <a:srgbClr val="000000"/>
              </a:solidFill>
              <a:effectLst/>
              <a:uFillTx/>
              <a:latin typeface="Arial"/>
            </a:endParaRPr>
          </a:p>
        </p:txBody>
      </p:sp>
      <p:sp>
        <p:nvSpPr>
          <p:cNvPr id="47" name="Text 4"/>
          <p:cNvSpPr/>
          <p:nvPr/>
        </p:nvSpPr>
        <p:spPr>
          <a:xfrm>
            <a:off x="457200" y="841320"/>
            <a:ext cx="1124640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B6B7F"/>
                </a:solidFill>
                <a:effectLst/>
                <a:uFillTx/>
                <a:latin typeface="Arial"/>
                <a:ea typeface="Arial"/>
              </a:rPr>
              <a:t>35 minutes, built around your </a:t>
            </a:r>
            <a:r>
              <a:rPr lang="en-US" sz="1300" b="0" i="1" u="none" strike="noStrike">
                <a:solidFill>
                  <a:srgbClr val="5B6B7F"/>
                </a:solidFill>
                <a:effectLst/>
                <a:uFillTx/>
                <a:latin typeface="Arial"/>
                <a:ea typeface="Arial"/>
              </a:rPr>
              <a:t>goals. Interrupt any time.</a:t>
            </a:r>
            <a:endParaRPr lang="en-US" sz="1300" b="0" u="none" strike="noStrike">
              <a:solidFill>
                <a:srgbClr val="000000"/>
              </a:solidFill>
              <a:effectLst/>
              <a:uFillTx/>
              <a:latin typeface="Arial"/>
            </a:endParaRPr>
          </a:p>
        </p:txBody>
      </p:sp>
      <p:sp>
        <p:nvSpPr>
          <p:cNvPr id="48" name="Shape 5"/>
          <p:cNvSpPr/>
          <p:nvPr/>
        </p:nvSpPr>
        <p:spPr>
          <a:xfrm>
            <a:off x="457200" y="1417320"/>
            <a:ext cx="11246400" cy="822240"/>
          </a:xfrm>
          <a:prstGeom prst="rect">
            <a:avLst/>
          </a:prstGeom>
          <a:solidFill>
            <a:srgbClr val="FFFFFF"/>
          </a:solidFill>
          <a:ln w="9525">
            <a:solidFill>
              <a:srgbClr val="DFE6EE"/>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49" name="Shape 6"/>
          <p:cNvSpPr/>
          <p:nvPr/>
        </p:nvSpPr>
        <p:spPr>
          <a:xfrm>
            <a:off x="457200" y="1417320"/>
            <a:ext cx="72360" cy="822240"/>
          </a:xfrm>
          <a:prstGeom prst="rect">
            <a:avLst/>
          </a:prstGeom>
          <a:solidFill>
            <a:srgbClr val="0278D5"/>
          </a:solidFill>
          <a:ln w="12700">
            <a:solidFill>
              <a:srgbClr val="0278D5"/>
            </a:solidFill>
            <a:round/>
          </a:ln>
        </p:spPr>
        <p:style>
          <a:lnRef idx="0"/>
          <a:fillRef idx="0"/>
          <a:effectRef idx="0"/>
          <a:fontRef idx="minor"/>
        </p:style>
        <p:txBody>
          <a:bodyPr lIns="36360" tIns="45000" rIns="36360" bIns="45000" anchor="t">
            <a:noAutofit/>
          </a:bodyPr>
          <a:p>
            <a:pPr/>
            <a:endParaRPr lang="en-US" sz="1800" b="0" u="none" strike="noStrike">
              <a:solidFill>
                <a:schemeClr val="dk1"/>
              </a:solidFill>
              <a:effectLst/>
              <a:uFillTx/>
              <a:latin typeface="Calibri"/>
            </a:endParaRPr>
          </a:p>
        </p:txBody>
      </p:sp>
      <p:sp>
        <p:nvSpPr>
          <p:cNvPr id="50" name="Text 7"/>
          <p:cNvSpPr/>
          <p:nvPr/>
        </p:nvSpPr>
        <p:spPr>
          <a:xfrm>
            <a:off x="731520" y="1417320"/>
            <a:ext cx="73080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278D5"/>
                </a:solidFill>
                <a:effectLst/>
                <a:uFillTx/>
                <a:latin typeface="Arial"/>
                <a:ea typeface="Arial"/>
              </a:rPr>
              <a:t>01</a:t>
            </a:r>
            <a:endParaRPr lang="en-US" sz="2400" b="0" u="none" strike="noStrike">
              <a:solidFill>
                <a:srgbClr val="000000"/>
              </a:solidFill>
              <a:effectLst/>
              <a:uFillTx/>
              <a:latin typeface="Arial"/>
            </a:endParaRPr>
          </a:p>
        </p:txBody>
      </p:sp>
      <p:sp>
        <p:nvSpPr>
          <p:cNvPr id="51" name="Text 8"/>
          <p:cNvSpPr/>
          <p:nvPr/>
        </p:nvSpPr>
        <p:spPr>
          <a:xfrm>
            <a:off x="1463040" y="1417320"/>
            <a:ext cx="301680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0B1A2B"/>
                </a:solidFill>
                <a:effectLst/>
                <a:uFillTx/>
                <a:latin typeface="Arial"/>
                <a:ea typeface="Arial"/>
              </a:rPr>
              <a:t>Our Understanding</a:t>
            </a:r>
            <a:endParaRPr lang="en-US" sz="1900" b="0" u="none" strike="noStrike">
              <a:solidFill>
                <a:srgbClr val="000000"/>
              </a:solidFill>
              <a:effectLst/>
              <a:uFillTx/>
              <a:latin typeface="Arial"/>
            </a:endParaRPr>
          </a:p>
        </p:txBody>
      </p:sp>
      <p:sp>
        <p:nvSpPr>
          <p:cNvPr id="52" name="Text 9"/>
          <p:cNvSpPr/>
          <p:nvPr/>
        </p:nvSpPr>
        <p:spPr>
          <a:xfrm>
            <a:off x="4480560" y="1417320"/>
            <a:ext cx="612576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2B3947"/>
                </a:solidFill>
                <a:effectLst/>
                <a:uFillTx/>
                <a:latin typeface="Arial"/>
                <a:ea typeface="Arial"/>
              </a:rPr>
              <a:t>Where Odido is today, where you want to get to, and what it takes. Correct us.</a:t>
            </a:r>
            <a:endParaRPr lang="en-US" sz="1350" b="0" u="none" strike="noStrike">
              <a:solidFill>
                <a:srgbClr val="000000"/>
              </a:solidFill>
              <a:effectLst/>
              <a:uFillTx/>
              <a:latin typeface="Arial"/>
            </a:endParaRPr>
          </a:p>
        </p:txBody>
      </p:sp>
      <p:sp>
        <p:nvSpPr>
          <p:cNvPr id="53" name="Text 10"/>
          <p:cNvSpPr/>
          <p:nvPr/>
        </p:nvSpPr>
        <p:spPr>
          <a:xfrm>
            <a:off x="10607040" y="1417320"/>
            <a:ext cx="913680" cy="822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300" b="1" u="none" strike="noStrike">
                <a:solidFill>
                  <a:srgbClr val="5B6B7F"/>
                </a:solidFill>
                <a:effectLst/>
                <a:uFillTx/>
                <a:latin typeface="Arial"/>
                <a:ea typeface="Arial"/>
              </a:rPr>
              <a:t>5 min</a:t>
            </a:r>
            <a:endParaRPr lang="en-US" sz="1300" b="0" u="none" strike="noStrike">
              <a:solidFill>
                <a:srgbClr val="000000"/>
              </a:solidFill>
              <a:effectLst/>
              <a:uFillTx/>
              <a:latin typeface="Arial"/>
            </a:endParaRPr>
          </a:p>
        </p:txBody>
      </p:sp>
      <p:sp>
        <p:nvSpPr>
          <p:cNvPr id="54" name="Shape 11"/>
          <p:cNvSpPr/>
          <p:nvPr/>
        </p:nvSpPr>
        <p:spPr>
          <a:xfrm>
            <a:off x="457200" y="2368440"/>
            <a:ext cx="11246400" cy="822240"/>
          </a:xfrm>
          <a:prstGeom prst="rect">
            <a:avLst/>
          </a:prstGeom>
          <a:solidFill>
            <a:srgbClr val="FFFFFF"/>
          </a:solidFill>
          <a:ln w="9525">
            <a:solidFill>
              <a:srgbClr val="DFE6EE"/>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55" name="Shape 12"/>
          <p:cNvSpPr/>
          <p:nvPr/>
        </p:nvSpPr>
        <p:spPr>
          <a:xfrm>
            <a:off x="457200" y="2368440"/>
            <a:ext cx="72360" cy="822240"/>
          </a:xfrm>
          <a:prstGeom prst="rect">
            <a:avLst/>
          </a:prstGeom>
          <a:solidFill>
            <a:srgbClr val="00ADE4"/>
          </a:solidFill>
          <a:ln w="12700">
            <a:solidFill>
              <a:srgbClr val="00ADE4"/>
            </a:solidFill>
            <a:round/>
          </a:ln>
        </p:spPr>
        <p:style>
          <a:lnRef idx="0"/>
          <a:fillRef idx="0"/>
          <a:effectRef idx="0"/>
          <a:fontRef idx="minor"/>
        </p:style>
        <p:txBody>
          <a:bodyPr lIns="36360" tIns="45000" rIns="36360" bIns="45000" anchor="t">
            <a:noAutofit/>
          </a:bodyPr>
          <a:p>
            <a:pPr/>
            <a:endParaRPr lang="en-US" sz="1800" b="0" u="none" strike="noStrike">
              <a:solidFill>
                <a:schemeClr val="dk1"/>
              </a:solidFill>
              <a:effectLst/>
              <a:uFillTx/>
              <a:latin typeface="Calibri"/>
            </a:endParaRPr>
          </a:p>
        </p:txBody>
      </p:sp>
      <p:sp>
        <p:nvSpPr>
          <p:cNvPr id="56" name="Text 13"/>
          <p:cNvSpPr/>
          <p:nvPr/>
        </p:nvSpPr>
        <p:spPr>
          <a:xfrm>
            <a:off x="731520" y="2368440"/>
            <a:ext cx="73080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00ADE4"/>
                </a:solidFill>
                <a:effectLst/>
                <a:uFillTx/>
                <a:latin typeface="Arial"/>
                <a:ea typeface="Arial"/>
              </a:rPr>
              <a:t>02</a:t>
            </a:r>
            <a:endParaRPr lang="en-US" sz="2400" b="0" u="none" strike="noStrike">
              <a:solidFill>
                <a:srgbClr val="000000"/>
              </a:solidFill>
              <a:effectLst/>
              <a:uFillTx/>
              <a:latin typeface="Arial"/>
            </a:endParaRPr>
          </a:p>
        </p:txBody>
      </p:sp>
      <p:sp>
        <p:nvSpPr>
          <p:cNvPr id="57" name="Text 14"/>
          <p:cNvSpPr/>
          <p:nvPr/>
        </p:nvSpPr>
        <p:spPr>
          <a:xfrm>
            <a:off x="1463040" y="2368440"/>
            <a:ext cx="301680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0B1A2B"/>
                </a:solidFill>
                <a:effectLst/>
                <a:uFillTx/>
                <a:latin typeface="Arial"/>
                <a:ea typeface="Arial"/>
              </a:rPr>
              <a:t>Why Harness</a:t>
            </a:r>
            <a:endParaRPr lang="en-US" sz="1900" b="0" u="none" strike="noStrike">
              <a:solidFill>
                <a:srgbClr val="000000"/>
              </a:solidFill>
              <a:effectLst/>
              <a:uFillTx/>
              <a:latin typeface="Arial"/>
            </a:endParaRPr>
          </a:p>
        </p:txBody>
      </p:sp>
      <p:sp>
        <p:nvSpPr>
          <p:cNvPr id="58" name="Text 15"/>
          <p:cNvSpPr/>
          <p:nvPr/>
        </p:nvSpPr>
        <p:spPr>
          <a:xfrm>
            <a:off x="4480560" y="2368440"/>
            <a:ext cx="612576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2B3947"/>
                </a:solidFill>
                <a:effectLst/>
                <a:uFillTx/>
                <a:latin typeface="Arial"/>
                <a:ea typeface="Arial"/>
              </a:rPr>
              <a:t>What is different about FME, </a:t>
            </a:r>
            <a:r>
              <a:rPr lang="en-US" sz="1350" b="0" u="none" strike="noStrike">
                <a:solidFill>
                  <a:srgbClr val="2B3947"/>
                </a:solidFill>
                <a:effectLst/>
                <a:uFillTx/>
                <a:latin typeface="Arial"/>
                <a:ea typeface="Arial"/>
              </a:rPr>
              <a:t>how it works, and how you </a:t>
            </a:r>
            <a:r>
              <a:rPr lang="en-US" sz="1350" b="0" u="none" strike="noStrike">
                <a:solidFill>
                  <a:srgbClr val="2B3947"/>
                </a:solidFill>
                <a:effectLst/>
                <a:uFillTx/>
                <a:latin typeface="Arial"/>
                <a:ea typeface="Arial"/>
              </a:rPr>
              <a:t>move from LaunchDarkly.</a:t>
            </a:r>
            <a:endParaRPr lang="en-US" sz="1350" b="0" u="none" strike="noStrike">
              <a:solidFill>
                <a:srgbClr val="000000"/>
              </a:solidFill>
              <a:effectLst/>
              <a:uFillTx/>
              <a:latin typeface="Arial"/>
            </a:endParaRPr>
          </a:p>
        </p:txBody>
      </p:sp>
      <p:sp>
        <p:nvSpPr>
          <p:cNvPr id="59" name="Text 16"/>
          <p:cNvSpPr/>
          <p:nvPr/>
        </p:nvSpPr>
        <p:spPr>
          <a:xfrm>
            <a:off x="10607040" y="2368440"/>
            <a:ext cx="913680" cy="822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300" b="1" u="none" strike="noStrike">
                <a:solidFill>
                  <a:srgbClr val="5B6B7F"/>
                </a:solidFill>
                <a:effectLst/>
                <a:uFillTx/>
                <a:latin typeface="Arial"/>
                <a:ea typeface="Arial"/>
              </a:rPr>
              <a:t>5 min</a:t>
            </a:r>
            <a:endParaRPr lang="en-US" sz="1300" b="0" u="none" strike="noStrike">
              <a:solidFill>
                <a:srgbClr val="000000"/>
              </a:solidFill>
              <a:effectLst/>
              <a:uFillTx/>
              <a:latin typeface="Arial"/>
            </a:endParaRPr>
          </a:p>
        </p:txBody>
      </p:sp>
      <p:sp>
        <p:nvSpPr>
          <p:cNvPr id="60" name="Shape 17"/>
          <p:cNvSpPr/>
          <p:nvPr/>
        </p:nvSpPr>
        <p:spPr>
          <a:xfrm>
            <a:off x="457200" y="3319200"/>
            <a:ext cx="11246400" cy="822240"/>
          </a:xfrm>
          <a:prstGeom prst="rect">
            <a:avLst/>
          </a:prstGeom>
          <a:solidFill>
            <a:srgbClr val="FFFFFF"/>
          </a:solidFill>
          <a:ln w="9525">
            <a:solidFill>
              <a:srgbClr val="DFE6EE"/>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61" name="Shape 18"/>
          <p:cNvSpPr/>
          <p:nvPr/>
        </p:nvSpPr>
        <p:spPr>
          <a:xfrm>
            <a:off x="457200" y="3319200"/>
            <a:ext cx="72360" cy="822240"/>
          </a:xfrm>
          <a:prstGeom prst="rect">
            <a:avLst/>
          </a:prstGeom>
          <a:solidFill>
            <a:srgbClr val="7D4DD3"/>
          </a:solidFill>
          <a:ln w="12700">
            <a:solidFill>
              <a:srgbClr val="7D4DD3"/>
            </a:solidFill>
            <a:round/>
          </a:ln>
        </p:spPr>
        <p:style>
          <a:lnRef idx="0"/>
          <a:fillRef idx="0"/>
          <a:effectRef idx="0"/>
          <a:fontRef idx="minor"/>
        </p:style>
        <p:txBody>
          <a:bodyPr lIns="36360" tIns="45000" rIns="36360" bIns="45000" anchor="t">
            <a:noAutofit/>
          </a:bodyPr>
          <a:p>
            <a:pPr/>
            <a:endParaRPr lang="en-US" sz="1800" b="0" u="none" strike="noStrike">
              <a:solidFill>
                <a:schemeClr val="dk1"/>
              </a:solidFill>
              <a:effectLst/>
              <a:uFillTx/>
              <a:latin typeface="Calibri"/>
            </a:endParaRPr>
          </a:p>
        </p:txBody>
      </p:sp>
      <p:sp>
        <p:nvSpPr>
          <p:cNvPr id="62" name="Text 19"/>
          <p:cNvSpPr/>
          <p:nvPr/>
        </p:nvSpPr>
        <p:spPr>
          <a:xfrm>
            <a:off x="731520" y="3319200"/>
            <a:ext cx="73080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7D4DD3"/>
                </a:solidFill>
                <a:effectLst/>
                <a:uFillTx/>
                <a:latin typeface="Arial"/>
                <a:ea typeface="Arial"/>
              </a:rPr>
              <a:t>03</a:t>
            </a:r>
            <a:endParaRPr lang="en-US" sz="2400" b="0" u="none" strike="noStrike">
              <a:solidFill>
                <a:srgbClr val="000000"/>
              </a:solidFill>
              <a:effectLst/>
              <a:uFillTx/>
              <a:latin typeface="Arial"/>
            </a:endParaRPr>
          </a:p>
        </p:txBody>
      </p:sp>
      <p:sp>
        <p:nvSpPr>
          <p:cNvPr id="63" name="Text 20"/>
          <p:cNvSpPr/>
          <p:nvPr/>
        </p:nvSpPr>
        <p:spPr>
          <a:xfrm>
            <a:off x="1463040" y="3319200"/>
            <a:ext cx="301680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0B1A2B"/>
                </a:solidFill>
                <a:effectLst/>
                <a:uFillTx/>
                <a:latin typeface="Arial"/>
                <a:ea typeface="Arial"/>
              </a:rPr>
              <a:t>Demo</a:t>
            </a:r>
            <a:endParaRPr lang="en-US" sz="1900" b="0" u="none" strike="noStrike">
              <a:solidFill>
                <a:srgbClr val="000000"/>
              </a:solidFill>
              <a:effectLst/>
              <a:uFillTx/>
              <a:latin typeface="Arial"/>
            </a:endParaRPr>
          </a:p>
        </p:txBody>
      </p:sp>
      <p:sp>
        <p:nvSpPr>
          <p:cNvPr id="64" name="Text 21"/>
          <p:cNvSpPr/>
          <p:nvPr/>
        </p:nvSpPr>
        <p:spPr>
          <a:xfrm>
            <a:off x="4480560" y="3319200"/>
            <a:ext cx="612576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2B3947"/>
                </a:solidFill>
                <a:effectLst/>
                <a:uFillTx/>
                <a:latin typeface="Arial"/>
                <a:ea typeface="Arial"/>
              </a:rPr>
              <a:t>Tell, show, tell: targeting, live </a:t>
            </a:r>
            <a:r>
              <a:rPr lang="en-US" sz="1350" b="0" u="none" strike="noStrike">
                <a:solidFill>
                  <a:srgbClr val="2B3947"/>
                </a:solidFill>
                <a:effectLst/>
                <a:uFillTx/>
                <a:latin typeface="Arial"/>
                <a:ea typeface="Arial"/>
              </a:rPr>
              <a:t>city rollout, kill switch, the code, </a:t>
            </a:r>
            <a:r>
              <a:rPr lang="en-US" sz="1350" b="0" u="none" strike="noStrike">
                <a:solidFill>
                  <a:srgbClr val="2B3947"/>
                </a:solidFill>
                <a:effectLst/>
                <a:uFillTx/>
                <a:latin typeface="Arial"/>
                <a:ea typeface="Arial"/>
              </a:rPr>
              <a:t>release scorecard, offer </a:t>
            </a:r>
            <a:r>
              <a:rPr lang="en-US" sz="1350" b="0" u="none" strike="noStrike">
                <a:solidFill>
                  <a:srgbClr val="2B3947"/>
                </a:solidFill>
                <a:effectLst/>
                <a:uFillTx/>
                <a:latin typeface="Arial"/>
                <a:ea typeface="Arial"/>
              </a:rPr>
              <a:t>experiment, governance.</a:t>
            </a:r>
            <a:endParaRPr lang="en-US" sz="1350" b="0" u="none" strike="noStrike">
              <a:solidFill>
                <a:srgbClr val="000000"/>
              </a:solidFill>
              <a:effectLst/>
              <a:uFillTx/>
              <a:latin typeface="Arial"/>
            </a:endParaRPr>
          </a:p>
        </p:txBody>
      </p:sp>
      <p:sp>
        <p:nvSpPr>
          <p:cNvPr id="65" name="Text 22"/>
          <p:cNvSpPr/>
          <p:nvPr/>
        </p:nvSpPr>
        <p:spPr>
          <a:xfrm>
            <a:off x="10607040" y="3319200"/>
            <a:ext cx="913680" cy="822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300" b="1" u="none" strike="noStrike">
                <a:solidFill>
                  <a:srgbClr val="5B6B7F"/>
                </a:solidFill>
                <a:effectLst/>
                <a:uFillTx/>
                <a:latin typeface="Arial"/>
                <a:ea typeface="Arial"/>
              </a:rPr>
              <a:t>20 min</a:t>
            </a:r>
            <a:endParaRPr lang="en-US" sz="1300" b="0" u="none" strike="noStrike">
              <a:solidFill>
                <a:srgbClr val="000000"/>
              </a:solidFill>
              <a:effectLst/>
              <a:uFillTx/>
              <a:latin typeface="Arial"/>
            </a:endParaRPr>
          </a:p>
        </p:txBody>
      </p:sp>
      <p:sp>
        <p:nvSpPr>
          <p:cNvPr id="66" name="Shape 23"/>
          <p:cNvSpPr/>
          <p:nvPr/>
        </p:nvSpPr>
        <p:spPr>
          <a:xfrm>
            <a:off x="457200" y="4270320"/>
            <a:ext cx="11246400" cy="822240"/>
          </a:xfrm>
          <a:prstGeom prst="rect">
            <a:avLst/>
          </a:prstGeom>
          <a:solidFill>
            <a:srgbClr val="FFFFFF"/>
          </a:solidFill>
          <a:ln w="9525">
            <a:solidFill>
              <a:srgbClr val="DFE6EE"/>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67" name="Shape 24"/>
          <p:cNvSpPr/>
          <p:nvPr/>
        </p:nvSpPr>
        <p:spPr>
          <a:xfrm>
            <a:off x="457200" y="4270320"/>
            <a:ext cx="72360" cy="822240"/>
          </a:xfrm>
          <a:prstGeom prst="rect">
            <a:avLst/>
          </a:prstGeom>
          <a:solidFill>
            <a:srgbClr val="1FA971"/>
          </a:solidFill>
          <a:ln w="12700">
            <a:solidFill>
              <a:srgbClr val="1FA971"/>
            </a:solidFill>
            <a:round/>
          </a:ln>
        </p:spPr>
        <p:style>
          <a:lnRef idx="0"/>
          <a:fillRef idx="0"/>
          <a:effectRef idx="0"/>
          <a:fontRef idx="minor"/>
        </p:style>
        <p:txBody>
          <a:bodyPr lIns="36360" tIns="45000" rIns="36360" bIns="45000" anchor="t">
            <a:noAutofit/>
          </a:bodyPr>
          <a:p>
            <a:pPr/>
            <a:endParaRPr lang="en-US" sz="1800" b="0" u="none" strike="noStrike">
              <a:solidFill>
                <a:schemeClr val="dk1"/>
              </a:solidFill>
              <a:effectLst/>
              <a:uFillTx/>
              <a:latin typeface="Calibri"/>
            </a:endParaRPr>
          </a:p>
        </p:txBody>
      </p:sp>
      <p:sp>
        <p:nvSpPr>
          <p:cNvPr id="68" name="Text 25"/>
          <p:cNvSpPr/>
          <p:nvPr/>
        </p:nvSpPr>
        <p:spPr>
          <a:xfrm>
            <a:off x="731520" y="4270320"/>
            <a:ext cx="73080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1FA971"/>
                </a:solidFill>
                <a:effectLst/>
                <a:uFillTx/>
                <a:latin typeface="Arial"/>
                <a:ea typeface="Arial"/>
              </a:rPr>
              <a:t>04</a:t>
            </a:r>
            <a:endParaRPr lang="en-US" sz="2400" b="0" u="none" strike="noStrike">
              <a:solidFill>
                <a:srgbClr val="000000"/>
              </a:solidFill>
              <a:effectLst/>
              <a:uFillTx/>
              <a:latin typeface="Arial"/>
            </a:endParaRPr>
          </a:p>
        </p:txBody>
      </p:sp>
      <p:sp>
        <p:nvSpPr>
          <p:cNvPr id="69" name="Text 26"/>
          <p:cNvSpPr/>
          <p:nvPr/>
        </p:nvSpPr>
        <p:spPr>
          <a:xfrm>
            <a:off x="1463040" y="4270320"/>
            <a:ext cx="301680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0B1A2B"/>
                </a:solidFill>
                <a:effectLst/>
                <a:uFillTx/>
                <a:latin typeface="Arial"/>
                <a:ea typeface="Arial"/>
              </a:rPr>
              <a:t>Customer Stories</a:t>
            </a:r>
            <a:endParaRPr lang="en-US" sz="1900" b="0" u="none" strike="noStrike">
              <a:solidFill>
                <a:srgbClr val="000000"/>
              </a:solidFill>
              <a:effectLst/>
              <a:uFillTx/>
              <a:latin typeface="Arial"/>
            </a:endParaRPr>
          </a:p>
        </p:txBody>
      </p:sp>
      <p:sp>
        <p:nvSpPr>
          <p:cNvPr id="70" name="Text 27"/>
          <p:cNvSpPr/>
          <p:nvPr/>
        </p:nvSpPr>
        <p:spPr>
          <a:xfrm>
            <a:off x="4480560" y="4270320"/>
            <a:ext cx="612576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2B3947"/>
                </a:solidFill>
                <a:effectLst/>
                <a:uFillTx/>
                <a:latin typeface="Arial"/>
                <a:ea typeface="Arial"/>
              </a:rPr>
              <a:t>Where we have done this </a:t>
            </a:r>
            <a:r>
              <a:rPr lang="en-US" sz="1350" b="0" u="none" strike="noStrike">
                <a:solidFill>
                  <a:srgbClr val="2B3947"/>
                </a:solidFill>
                <a:effectLst/>
                <a:uFillTx/>
                <a:latin typeface="Arial"/>
                <a:ea typeface="Arial"/>
              </a:rPr>
              <a:t>before, in telco-scale and </a:t>
            </a:r>
            <a:r>
              <a:rPr lang="en-US" sz="1350" b="0" u="none" strike="noStrike">
                <a:solidFill>
                  <a:srgbClr val="2B3947"/>
                </a:solidFill>
                <a:effectLst/>
                <a:uFillTx/>
                <a:latin typeface="Arial"/>
                <a:ea typeface="Arial"/>
              </a:rPr>
              <a:t>regulated environments.</a:t>
            </a:r>
            <a:endParaRPr lang="en-US" sz="1350" b="0" u="none" strike="noStrike">
              <a:solidFill>
                <a:srgbClr val="000000"/>
              </a:solidFill>
              <a:effectLst/>
              <a:uFillTx/>
              <a:latin typeface="Arial"/>
            </a:endParaRPr>
          </a:p>
        </p:txBody>
      </p:sp>
      <p:sp>
        <p:nvSpPr>
          <p:cNvPr id="71" name="Text 28"/>
          <p:cNvSpPr/>
          <p:nvPr/>
        </p:nvSpPr>
        <p:spPr>
          <a:xfrm>
            <a:off x="10607040" y="4270320"/>
            <a:ext cx="913680" cy="822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300" b="1" u="none" strike="noStrike">
                <a:solidFill>
                  <a:srgbClr val="5B6B7F"/>
                </a:solidFill>
                <a:effectLst/>
                <a:uFillTx/>
                <a:latin typeface="Arial"/>
                <a:ea typeface="Arial"/>
              </a:rPr>
              <a:t>7 min</a:t>
            </a:r>
            <a:endParaRPr lang="en-US" sz="1300" b="0" u="none" strike="noStrike">
              <a:solidFill>
                <a:srgbClr val="000000"/>
              </a:solidFill>
              <a:effectLst/>
              <a:uFillTx/>
              <a:latin typeface="Arial"/>
            </a:endParaRPr>
          </a:p>
        </p:txBody>
      </p:sp>
      <p:sp>
        <p:nvSpPr>
          <p:cNvPr id="72" name="Shape 29"/>
          <p:cNvSpPr/>
          <p:nvPr/>
        </p:nvSpPr>
        <p:spPr>
          <a:xfrm>
            <a:off x="457200" y="5221080"/>
            <a:ext cx="11246400" cy="822240"/>
          </a:xfrm>
          <a:prstGeom prst="rect">
            <a:avLst/>
          </a:prstGeom>
          <a:solidFill>
            <a:srgbClr val="FFFFFF"/>
          </a:solidFill>
          <a:ln w="9525">
            <a:solidFill>
              <a:srgbClr val="DFE6EE"/>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73" name="Shape 30"/>
          <p:cNvSpPr/>
          <p:nvPr/>
        </p:nvSpPr>
        <p:spPr>
          <a:xfrm>
            <a:off x="457200" y="5221080"/>
            <a:ext cx="72360" cy="822240"/>
          </a:xfrm>
          <a:prstGeom prst="rect">
            <a:avLst/>
          </a:prstGeom>
          <a:solidFill>
            <a:srgbClr val="E79A00"/>
          </a:solidFill>
          <a:ln w="12700">
            <a:solidFill>
              <a:srgbClr val="E79A00"/>
            </a:solidFill>
            <a:round/>
          </a:ln>
        </p:spPr>
        <p:style>
          <a:lnRef idx="0"/>
          <a:fillRef idx="0"/>
          <a:effectRef idx="0"/>
          <a:fontRef idx="minor"/>
        </p:style>
        <p:txBody>
          <a:bodyPr lIns="36360" tIns="45000" rIns="36360" bIns="45000" anchor="t">
            <a:noAutofit/>
          </a:bodyPr>
          <a:p>
            <a:pPr/>
            <a:endParaRPr lang="en-US" sz="1800" b="0" u="none" strike="noStrike">
              <a:solidFill>
                <a:schemeClr val="dk1"/>
              </a:solidFill>
              <a:effectLst/>
              <a:uFillTx/>
              <a:latin typeface="Calibri"/>
            </a:endParaRPr>
          </a:p>
        </p:txBody>
      </p:sp>
      <p:sp>
        <p:nvSpPr>
          <p:cNvPr id="74" name="Text 31"/>
          <p:cNvSpPr/>
          <p:nvPr/>
        </p:nvSpPr>
        <p:spPr>
          <a:xfrm>
            <a:off x="731520" y="5221080"/>
            <a:ext cx="73080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rgbClr val="E79A00"/>
                </a:solidFill>
                <a:effectLst/>
                <a:uFillTx/>
                <a:latin typeface="Arial"/>
                <a:ea typeface="Arial"/>
              </a:rPr>
              <a:t>05</a:t>
            </a:r>
            <a:endParaRPr lang="en-US" sz="2400" b="0" u="none" strike="noStrike">
              <a:solidFill>
                <a:srgbClr val="000000"/>
              </a:solidFill>
              <a:effectLst/>
              <a:uFillTx/>
              <a:latin typeface="Arial"/>
            </a:endParaRPr>
          </a:p>
        </p:txBody>
      </p:sp>
      <p:sp>
        <p:nvSpPr>
          <p:cNvPr id="75" name="Text 32"/>
          <p:cNvSpPr/>
          <p:nvPr/>
        </p:nvSpPr>
        <p:spPr>
          <a:xfrm>
            <a:off x="1463040" y="5221080"/>
            <a:ext cx="301680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900" b="1" u="none" strike="noStrike">
                <a:solidFill>
                  <a:srgbClr val="0B1A2B"/>
                </a:solidFill>
                <a:effectLst/>
                <a:uFillTx/>
                <a:latin typeface="Arial"/>
                <a:ea typeface="Arial"/>
              </a:rPr>
              <a:t>Next Steps</a:t>
            </a:r>
            <a:endParaRPr lang="en-US" sz="1900" b="0" u="none" strike="noStrike">
              <a:solidFill>
                <a:srgbClr val="000000"/>
              </a:solidFill>
              <a:effectLst/>
              <a:uFillTx/>
              <a:latin typeface="Arial"/>
            </a:endParaRPr>
          </a:p>
        </p:txBody>
      </p:sp>
      <p:sp>
        <p:nvSpPr>
          <p:cNvPr id="76" name="Text 33"/>
          <p:cNvSpPr/>
          <p:nvPr/>
        </p:nvSpPr>
        <p:spPr>
          <a:xfrm>
            <a:off x="4480560" y="5221080"/>
            <a:ext cx="6125760" cy="822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50" b="0" u="none" strike="noStrike">
                <a:solidFill>
                  <a:srgbClr val="2B3947"/>
                </a:solidFill>
                <a:effectLst/>
                <a:uFillTx/>
                <a:latin typeface="Arial"/>
                <a:ea typeface="Arial"/>
              </a:rPr>
              <a:t>Your concerns, the business </a:t>
            </a:r>
            <a:r>
              <a:rPr lang="en-US" sz="1350" b="0" u="none" strike="noStrike">
                <a:solidFill>
                  <a:srgbClr val="2B3947"/>
                </a:solidFill>
                <a:effectLst/>
                <a:uFillTx/>
                <a:latin typeface="Arial"/>
                <a:ea typeface="Arial"/>
              </a:rPr>
              <a:t>case, and a six-week pilot plan.</a:t>
            </a:r>
            <a:endParaRPr lang="en-US" sz="1350" b="0" u="none" strike="noStrike">
              <a:solidFill>
                <a:srgbClr val="000000"/>
              </a:solidFill>
              <a:effectLst/>
              <a:uFillTx/>
              <a:latin typeface="Arial"/>
            </a:endParaRPr>
          </a:p>
        </p:txBody>
      </p:sp>
      <p:sp>
        <p:nvSpPr>
          <p:cNvPr id="77" name="Text 34"/>
          <p:cNvSpPr/>
          <p:nvPr/>
        </p:nvSpPr>
        <p:spPr>
          <a:xfrm>
            <a:off x="10607040" y="5221080"/>
            <a:ext cx="913680" cy="8222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1300" b="1" u="none" strike="noStrike">
                <a:solidFill>
                  <a:srgbClr val="5B6B7F"/>
                </a:solidFill>
                <a:effectLst/>
                <a:uFillTx/>
                <a:latin typeface="Arial"/>
                <a:ea typeface="Arial"/>
              </a:rPr>
              <a:t>8 min</a:t>
            </a:r>
            <a:endParaRPr lang="en-US" sz="1300" b="0" u="none" strike="noStrike">
              <a:solidFill>
                <a:srgbClr val="000000"/>
              </a:solidFill>
              <a:effectLst/>
              <a:uFillTx/>
              <a:latin typeface="Arial"/>
            </a:endParaRPr>
          </a:p>
        </p:txBody>
      </p:sp>
      <p:sp>
        <p:nvSpPr>
          <p:cNvPr id="78" name="PlaceHolder 1"/>
          <p:cNvSpPr>
            <a:spLocks noGrp="1"/>
          </p:cNvSpPr>
          <p:nvPr>
            <p:ph type="sldNum" idx="7"/>
          </p:nvPr>
        </p:nvSpPr>
        <p:spPr>
          <a:xfrm>
            <a:off x="11338560" y="6519600"/>
            <a:ext cx="456480" cy="2736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900" b="0" u="none" strike="noStrike">
                <a:solidFill>
                  <a:srgbClr val="9FB3C8"/>
                </a:solidFill>
                <a:effectLst/>
                <a:uFillTx/>
                <a:latin typeface="Arial"/>
                <a:ea typeface="Arial"/>
              </a:defRPr>
            </a:lvl1pPr>
          </a:lstStyle>
          <a:p>
            <a:pPr indent="0" algn="l" defTabSz="914400">
              <a:lnSpc>
                <a:spcPct val="100000"/>
              </a:lnSpc>
              <a:buNone/>
              <a:tabLst>
                <a:tab pos="0" algn="l"/>
              </a:tabLst>
            </a:pPr>
            <a:fld id="{6DFF9D1D-03F1-4939-BA09-04FF2889FCD8}" type="slidenum">
              <a:rPr lang="en-US" sz="900" b="0" u="none" strike="noStrike">
                <a:solidFill>
                  <a:srgbClr val="9FB3C8"/>
                </a:solidFill>
                <a:effectLst/>
                <a:uFillTx/>
                <a:latin typeface="Arial"/>
                <a:ea typeface="Arial"/>
              </a:rPr>
              <a:t>1</a:t>
            </a:fld>
            <a:endParaRPr lang="en-US" sz="900" b="0" u="none" strike="noStrike">
              <a:solidFill>
                <a:srgbClr val="000000"/>
              </a:solidFill>
              <a:effectLst/>
              <a:uFillTx/>
              <a:latin typeface="Times New Roman"/>
            </a:endParaRPr>
          </a:p>
        </p:txBody>
      </p:sp>
      <p:pic>
        <p:nvPicPr>
          <p:cNvPr id="79" name=""/>
          <p:cNvPicPr/>
          <p:nvPr/>
        </p:nvPicPr>
        <p:blipFill>
          <a:blip r:embed="rId1"/>
          <a:stretch/>
        </p:blipFill>
        <p:spPr>
          <a:xfrm>
            <a:off x="10287000" y="228600"/>
            <a:ext cx="1371600" cy="300240"/>
          </a:xfrm>
          <a:prstGeom prst="rect">
            <a:avLst/>
          </a:prstGeom>
          <a:noFill/>
          <a:ln w="38160">
            <a:noFill/>
          </a:ln>
        </p:spPr>
      </p:pic>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A"/>
        </a:solidFill>
      </p:bgPr>
    </p:bg>
    <p:spTree>
      <p:nvGrpSpPr>
        <p:cNvPr id="1" name=""/>
        <p:cNvGrpSpPr/>
        <p:nvPr/>
      </p:nvGrpSpPr>
      <p:grpSpPr>
        <a:xfrm>
          <a:off x="0" y="0"/>
          <a:ext cx="0" cy="0"/>
          <a:chOff x="0" y="0"/>
          <a:chExt cx="0" cy="0"/>
        </a:xfrm>
      </p:grpSpPr>
      <p:sp>
        <p:nvSpPr>
          <p:cNvPr id="80" name="Shape 0"/>
          <p:cNvSpPr/>
          <p:nvPr/>
        </p:nvSpPr>
        <p:spPr>
          <a:xfrm>
            <a:off x="0" y="6446520"/>
            <a:ext cx="12191040" cy="410760"/>
          </a:xfrm>
          <a:prstGeom prst="rect">
            <a:avLst/>
          </a:prstGeom>
          <a:solidFill>
            <a:srgbClr val="07182B"/>
          </a:solidFill>
          <a:ln w="12700">
            <a:solidFill>
              <a:srgbClr val="07182B"/>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81" name="Text 1"/>
          <p:cNvSpPr/>
          <p:nvPr/>
        </p:nvSpPr>
        <p:spPr>
          <a:xfrm>
            <a:off x="457200" y="6464880"/>
            <a:ext cx="27424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harness</a:t>
            </a:r>
            <a:r>
              <a:rPr lang="en-US" sz="1200" b="1" u="none" strike="noStrike">
                <a:solidFill>
                  <a:srgbClr val="00ADE4"/>
                </a:solidFill>
                <a:effectLst/>
                <a:uFillTx/>
                <a:latin typeface="Arial"/>
                <a:ea typeface="Arial"/>
              </a:rPr>
              <a:t>  FME</a:t>
            </a:r>
            <a:endParaRPr lang="en-US" sz="1200" b="0" u="none" strike="noStrike">
              <a:solidFill>
                <a:srgbClr val="000000"/>
              </a:solidFill>
              <a:effectLst/>
              <a:uFillTx/>
              <a:latin typeface="Arial"/>
            </a:endParaRPr>
          </a:p>
        </p:txBody>
      </p:sp>
      <p:sp>
        <p:nvSpPr>
          <p:cNvPr id="82" name="Text 2"/>
          <p:cNvSpPr/>
          <p:nvPr/>
        </p:nvSpPr>
        <p:spPr>
          <a:xfrm>
            <a:off x="5943600" y="6464880"/>
            <a:ext cx="5211360" cy="365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9FB3C8"/>
                </a:solidFill>
                <a:effectLst/>
                <a:uFillTx/>
                <a:latin typeface="Arial"/>
                <a:ea typeface="Arial"/>
              </a:rPr>
              <a:t>Odido × Harness  |  Confidential</a:t>
            </a:r>
            <a:endParaRPr lang="en-US" sz="900" b="0" u="none" strike="noStrike">
              <a:solidFill>
                <a:srgbClr val="000000"/>
              </a:solidFill>
              <a:effectLst/>
              <a:uFillTx/>
              <a:latin typeface="Arial"/>
            </a:endParaRPr>
          </a:p>
        </p:txBody>
      </p:sp>
      <p:sp>
        <p:nvSpPr>
          <p:cNvPr id="83" name="Text 3"/>
          <p:cNvSpPr/>
          <p:nvPr/>
        </p:nvSpPr>
        <p:spPr>
          <a:xfrm>
            <a:off x="457200" y="274320"/>
            <a:ext cx="1124640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0B1A2B"/>
                </a:solidFill>
                <a:effectLst/>
                <a:uFillTx/>
                <a:latin typeface="Arial"/>
                <a:ea typeface="Arial"/>
              </a:rPr>
              <a:t>Our </a:t>
            </a:r>
            <a:r>
              <a:rPr lang="en-US" sz="2800" b="1" u="none" strike="noStrike">
                <a:solidFill>
                  <a:srgbClr val="0B1A2B"/>
                </a:solidFill>
                <a:effectLst/>
                <a:uFillTx/>
                <a:latin typeface="Arial"/>
                <a:ea typeface="Arial"/>
              </a:rPr>
              <a:t>Understandin</a:t>
            </a:r>
            <a:r>
              <a:rPr lang="en-US" sz="2800" b="1" u="none" strike="noStrike">
                <a:solidFill>
                  <a:srgbClr val="0B1A2B"/>
                </a:solidFill>
                <a:effectLst/>
                <a:uFillTx/>
                <a:latin typeface="Arial"/>
                <a:ea typeface="Arial"/>
              </a:rPr>
              <a:t>g</a:t>
            </a:r>
            <a:endParaRPr lang="en-US" sz="2800" b="0" u="none" strike="noStrike">
              <a:solidFill>
                <a:srgbClr val="000000"/>
              </a:solidFill>
              <a:effectLst/>
              <a:uFillTx/>
              <a:latin typeface="Arial"/>
            </a:endParaRPr>
          </a:p>
        </p:txBody>
      </p:sp>
      <p:sp>
        <p:nvSpPr>
          <p:cNvPr id="84" name="Text 4"/>
          <p:cNvSpPr/>
          <p:nvPr/>
        </p:nvSpPr>
        <p:spPr>
          <a:xfrm>
            <a:off x="457200" y="841320"/>
            <a:ext cx="1124640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B6B7F"/>
                </a:solidFill>
                <a:effectLst/>
                <a:uFillTx/>
                <a:latin typeface="Arial"/>
                <a:ea typeface="Arial"/>
              </a:rPr>
              <a:t>From discovery with your team. </a:t>
            </a:r>
            <a:r>
              <a:rPr lang="en-US" sz="1300" b="0" i="1" u="none" strike="noStrike">
                <a:solidFill>
                  <a:srgbClr val="5B6B7F"/>
                </a:solidFill>
                <a:effectLst/>
                <a:uFillTx/>
                <a:latin typeface="Arial"/>
                <a:ea typeface="Arial"/>
              </a:rPr>
              <a:t>Pain → consequence, goal → </a:t>
            </a:r>
            <a:r>
              <a:rPr lang="en-US" sz="1300" b="0" i="1" u="none" strike="noStrike">
                <a:solidFill>
                  <a:srgbClr val="5B6B7F"/>
                </a:solidFill>
                <a:effectLst/>
                <a:uFillTx/>
                <a:latin typeface="Arial"/>
                <a:ea typeface="Arial"/>
              </a:rPr>
              <a:t>outcome, capability → metric. </a:t>
            </a:r>
            <a:r>
              <a:rPr lang="en-US" sz="1300" b="0" i="1" u="none" strike="noStrike">
                <a:solidFill>
                  <a:srgbClr val="5B6B7F"/>
                </a:solidFill>
                <a:effectLst/>
                <a:uFillTx/>
                <a:latin typeface="Arial"/>
                <a:ea typeface="Arial"/>
              </a:rPr>
              <a:t>Please correct us.</a:t>
            </a:r>
            <a:endParaRPr lang="en-US" sz="1300" b="0" u="none" strike="noStrike">
              <a:solidFill>
                <a:srgbClr val="000000"/>
              </a:solidFill>
              <a:effectLst/>
              <a:uFillTx/>
              <a:latin typeface="Arial"/>
            </a:endParaRPr>
          </a:p>
        </p:txBody>
      </p:sp>
      <p:sp>
        <p:nvSpPr>
          <p:cNvPr id="85" name="Shape 5"/>
          <p:cNvSpPr/>
          <p:nvPr/>
        </p:nvSpPr>
        <p:spPr>
          <a:xfrm>
            <a:off x="457200" y="1325880"/>
            <a:ext cx="5531400" cy="2788200"/>
          </a:xfrm>
          <a:prstGeom prst="rect">
            <a:avLst/>
          </a:prstGeom>
          <a:solidFill>
            <a:srgbClr val="FFFFFF"/>
          </a:solidFill>
          <a:ln w="9525">
            <a:solidFill>
              <a:srgbClr val="DFE6EE"/>
            </a:solidFill>
            <a:round/>
          </a:ln>
        </p:spPr>
        <p:style>
          <a:lnRef idx="0"/>
          <a:fillRef idx="0"/>
          <a:effectRef idx="0"/>
          <a:fontRef idx="minor"/>
        </p:style>
        <p:txBody>
          <a:bodyPr lIns="90000" tIns="45000" rIns="90000" bIns="45000" anchor="t">
            <a:noAutofit/>
          </a:bodyPr>
          <a:p>
            <a:pPr>
              <a:lnSpc>
                <a:spcPct val="100000"/>
              </a:lnSpc>
            </a:pPr>
            <a:endParaRPr lang="en-US" sz="1800" b="0" u="none" strike="noStrike">
              <a:solidFill>
                <a:schemeClr val="dk1"/>
              </a:solidFill>
              <a:effectLst/>
              <a:uFillTx/>
              <a:latin typeface="Calibri"/>
            </a:endParaRPr>
          </a:p>
        </p:txBody>
      </p:sp>
      <p:sp>
        <p:nvSpPr>
          <p:cNvPr id="86" name="Shape 6"/>
          <p:cNvSpPr/>
          <p:nvPr/>
        </p:nvSpPr>
        <p:spPr>
          <a:xfrm>
            <a:off x="457200" y="1325880"/>
            <a:ext cx="5531400" cy="54000"/>
          </a:xfrm>
          <a:prstGeom prst="rect">
            <a:avLst/>
          </a:prstGeom>
          <a:solidFill>
            <a:srgbClr val="D43F5E"/>
          </a:solidFill>
          <a:ln w="12700">
            <a:solidFill>
              <a:srgbClr val="D43F5E"/>
            </a:solidFill>
            <a:round/>
          </a:ln>
        </p:spPr>
        <p:style>
          <a:lnRef idx="0"/>
          <a:fillRef idx="0"/>
          <a:effectRef idx="0"/>
          <a:fontRef idx="minor"/>
        </p:style>
        <p:txBody>
          <a:bodyPr lIns="90000" tIns="9720" rIns="90000" bIns="9720" anchor="t">
            <a:noAutofit/>
          </a:bodyPr>
          <a:p>
            <a:pPr>
              <a:lnSpc>
                <a:spcPct val="100000"/>
              </a:lnSpc>
            </a:pPr>
            <a:endParaRPr lang="en-US" sz="1800" b="0" u="none" strike="noStrike">
              <a:solidFill>
                <a:schemeClr val="dk1"/>
              </a:solidFill>
              <a:effectLst/>
              <a:uFillTx/>
              <a:latin typeface="Calibri"/>
            </a:endParaRPr>
          </a:p>
        </p:txBody>
      </p:sp>
      <p:sp>
        <p:nvSpPr>
          <p:cNvPr id="87" name="Text 7"/>
          <p:cNvSpPr/>
          <p:nvPr/>
        </p:nvSpPr>
        <p:spPr>
          <a:xfrm>
            <a:off x="640080" y="1454040"/>
            <a:ext cx="516564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99" strike="noStrike">
                <a:solidFill>
                  <a:srgbClr val="D43F5E"/>
                </a:solidFill>
                <a:effectLst/>
                <a:uFillTx/>
                <a:latin typeface="Arial"/>
                <a:ea typeface="Arial"/>
              </a:rPr>
              <a:t>CURRENT STATE  ·  PAIN → CONSEQUENCE</a:t>
            </a:r>
            <a:endParaRPr lang="en-US" sz="1100" b="0" u="none" strike="noStrike">
              <a:solidFill>
                <a:srgbClr val="000000"/>
              </a:solidFill>
              <a:effectLst/>
              <a:uFillTx/>
              <a:latin typeface="Arial"/>
            </a:endParaRPr>
          </a:p>
        </p:txBody>
      </p:sp>
      <p:sp>
        <p:nvSpPr>
          <p:cNvPr id="88" name="Text 8"/>
          <p:cNvSpPr/>
          <p:nvPr/>
        </p:nvSpPr>
        <p:spPr>
          <a:xfrm>
            <a:off x="640080" y="1783080"/>
            <a:ext cx="5211360" cy="223956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1701"/>
              </a:spcAft>
              <a:buClr>
                <a:srgbClr val="2B3947"/>
              </a:buClr>
              <a:buFont typeface="OpenSymbol"/>
              <a:buChar char="▪"/>
            </a:pPr>
            <a:r>
              <a:rPr lang="en-US" sz="1100" b="0" u="none" strike="noStrike">
                <a:solidFill>
                  <a:srgbClr val="2B3947"/>
                </a:solidFill>
                <a:effectLst/>
                <a:uFillTx/>
                <a:latin typeface="Arial"/>
                <a:ea typeface="Arial"/>
              </a:rPr>
              <a:t>On/off flags only in LaunchDarkly</a:t>
            </a:r>
            <a:r>
              <a:rPr lang="en-US" sz="1100" b="1" u="none" strike="noStrike">
                <a:solidFill>
                  <a:srgbClr val="D43F5E"/>
                </a:solidFill>
                <a:effectLst/>
                <a:uFillTx/>
                <a:latin typeface="Arial"/>
                <a:ea typeface="Arial"/>
              </a:rPr>
              <a:t>  →  no progressive or targeted rollouts</a:t>
            </a:r>
            <a:endParaRPr lang="en-US" sz="1100" b="0" u="none" strike="noStrike">
              <a:solidFill>
                <a:srgbClr val="000000"/>
              </a:solidFill>
              <a:effectLst/>
              <a:uFillTx/>
              <a:latin typeface="Arial"/>
            </a:endParaRPr>
          </a:p>
          <a:p>
            <a:pPr marL="343080" indent="-343080" defTabSz="914400">
              <a:lnSpc>
                <a:spcPct val="100000"/>
              </a:lnSpc>
              <a:spcAft>
                <a:spcPts val="1701"/>
              </a:spcAft>
              <a:buClr>
                <a:srgbClr val="2B3947"/>
              </a:buClr>
              <a:buFont typeface="OpenSymbol"/>
              <a:buChar char="▪"/>
            </a:pPr>
            <a:r>
              <a:rPr lang="en-US" sz="1100" b="0" u="none" strike="noStrike">
                <a:solidFill>
                  <a:srgbClr val="2B3947"/>
                </a:solidFill>
                <a:effectLst/>
                <a:uFillTx/>
                <a:latin typeface="Arial"/>
                <a:ea typeface="Arial"/>
              </a:rPr>
              <a:t>Experiments analysed by hand</a:t>
            </a:r>
            <a:r>
              <a:rPr lang="en-US" sz="1100" b="1" u="none" strike="noStrike">
                <a:solidFill>
                  <a:srgbClr val="D43F5E"/>
                </a:solidFill>
                <a:effectLst/>
                <a:uFillTx/>
                <a:latin typeface="Arial"/>
                <a:ea typeface="Arial"/>
              </a:rPr>
              <a:t>  →  weeks per test, few tests run</a:t>
            </a:r>
            <a:endParaRPr lang="en-US" sz="1100" b="0" u="none" strike="noStrike">
              <a:solidFill>
                <a:srgbClr val="000000"/>
              </a:solidFill>
              <a:effectLst/>
              <a:uFillTx/>
              <a:latin typeface="Arial"/>
            </a:endParaRPr>
          </a:p>
          <a:p>
            <a:pPr marL="343080" indent="-343080" defTabSz="914400">
              <a:lnSpc>
                <a:spcPct val="100000"/>
              </a:lnSpc>
              <a:spcAft>
                <a:spcPts val="1701"/>
              </a:spcAft>
              <a:buClr>
                <a:srgbClr val="2B3947"/>
              </a:buClr>
              <a:buFont typeface="OpenSymbol"/>
              <a:buChar char="▪"/>
            </a:pPr>
            <a:r>
              <a:rPr lang="en-US" sz="1100" b="0" u="none" strike="noStrike">
                <a:solidFill>
                  <a:srgbClr val="2B3947"/>
                </a:solidFill>
                <a:effectLst/>
                <a:uFillTx/>
                <a:latin typeface="Arial"/>
                <a:ea typeface="Arial"/>
              </a:rPr>
              <a:t>Releases not tied to business metrics</a:t>
            </a:r>
            <a:r>
              <a:rPr lang="en-US" sz="1100" b="1" u="none" strike="noStrike">
                <a:solidFill>
                  <a:srgbClr val="D43F5E"/>
                </a:solidFill>
                <a:effectLst/>
                <a:uFillTx/>
                <a:latin typeface="Arial"/>
                <a:ea typeface="Arial"/>
              </a:rPr>
              <a:t>  →  customers find the regressions</a:t>
            </a:r>
            <a:endParaRPr lang="en-US" sz="1100" b="0" u="none" strike="noStrike">
              <a:solidFill>
                <a:srgbClr val="000000"/>
              </a:solidFill>
              <a:effectLst/>
              <a:uFillTx/>
              <a:latin typeface="Arial"/>
            </a:endParaRPr>
          </a:p>
          <a:p>
            <a:pPr marL="343080" indent="-343080" defTabSz="914400">
              <a:lnSpc>
                <a:spcPct val="100000"/>
              </a:lnSpc>
              <a:spcAft>
                <a:spcPts val="1701"/>
              </a:spcAft>
              <a:buClr>
                <a:srgbClr val="2B3947"/>
              </a:buClr>
              <a:buFont typeface="OpenSymbol"/>
              <a:buChar char="▪"/>
            </a:pPr>
            <a:r>
              <a:rPr lang="en-US" sz="1100" b="0" u="none" strike="noStrike">
                <a:solidFill>
                  <a:srgbClr val="2B3947"/>
                </a:solidFill>
                <a:effectLst/>
                <a:uFillTx/>
                <a:latin typeface="Arial"/>
                <a:ea typeface="Arial"/>
              </a:rPr>
              <a:t>App fixes need an app-store release</a:t>
            </a:r>
            <a:r>
              <a:rPr lang="en-US" sz="1100" b="1" u="none" strike="noStrike">
                <a:solidFill>
                  <a:srgbClr val="D43F5E"/>
                </a:solidFill>
                <a:effectLst/>
                <a:uFillTx/>
                <a:latin typeface="Arial"/>
                <a:ea typeface="Arial"/>
              </a:rPr>
              <a:t>  →  days to recover from a bad release</a:t>
            </a:r>
            <a:endParaRPr lang="en-US" sz="1100" b="0" u="none" strike="noStrike">
              <a:solidFill>
                <a:srgbClr val="000000"/>
              </a:solidFill>
              <a:effectLst/>
              <a:uFillTx/>
              <a:latin typeface="Arial"/>
            </a:endParaRPr>
          </a:p>
          <a:p>
            <a:pPr marL="343080" indent="-343080" defTabSz="914400">
              <a:lnSpc>
                <a:spcPct val="100000"/>
              </a:lnSpc>
              <a:spcAft>
                <a:spcPts val="1701"/>
              </a:spcAft>
              <a:buClr>
                <a:srgbClr val="2B3947"/>
              </a:buClr>
              <a:buFont typeface="OpenSymbol"/>
              <a:buChar char="▪"/>
            </a:pPr>
            <a:r>
              <a:rPr lang="en-US" sz="1100" b="0" u="none" strike="noStrike">
                <a:solidFill>
                  <a:srgbClr val="2B3947"/>
                </a:solidFill>
                <a:effectLst/>
                <a:uFillTx/>
                <a:latin typeface="Arial"/>
                <a:ea typeface="Arial"/>
              </a:rPr>
              <a:t>Separate flag and analytics tools</a:t>
            </a:r>
            <a:r>
              <a:rPr lang="en-US" sz="1100" b="1" u="none" strike="noStrike">
                <a:solidFill>
                  <a:srgbClr val="D43F5E"/>
                </a:solidFill>
                <a:effectLst/>
                <a:uFillTx/>
                <a:latin typeface="Arial"/>
                <a:ea typeface="Arial"/>
              </a:rPr>
              <a:t>  →  double cost, two versions of truth</a:t>
            </a:r>
            <a:endParaRPr lang="en-US" sz="1100" b="0" u="none" strike="noStrike">
              <a:solidFill>
                <a:srgbClr val="000000"/>
              </a:solidFill>
              <a:effectLst/>
              <a:uFillTx/>
              <a:latin typeface="Arial"/>
            </a:endParaRPr>
          </a:p>
        </p:txBody>
      </p:sp>
      <p:sp>
        <p:nvSpPr>
          <p:cNvPr id="89" name="Shape 9"/>
          <p:cNvSpPr/>
          <p:nvPr/>
        </p:nvSpPr>
        <p:spPr>
          <a:xfrm>
            <a:off x="6172200" y="1325880"/>
            <a:ext cx="5531400" cy="2788200"/>
          </a:xfrm>
          <a:prstGeom prst="rect">
            <a:avLst/>
          </a:prstGeom>
          <a:solidFill>
            <a:srgbClr val="FFFFFF"/>
          </a:solidFill>
          <a:ln w="9525">
            <a:solidFill>
              <a:srgbClr val="DFE6EE"/>
            </a:solidFill>
            <a:round/>
          </a:ln>
        </p:spPr>
        <p:style>
          <a:lnRef idx="0"/>
          <a:fillRef idx="0"/>
          <a:effectRef idx="0"/>
          <a:fontRef idx="minor"/>
        </p:style>
        <p:txBody>
          <a:bodyPr lIns="90000" tIns="45000" rIns="90000" bIns="45000" anchor="t">
            <a:noAutofit/>
          </a:bodyPr>
          <a:p>
            <a:pPr>
              <a:lnSpc>
                <a:spcPct val="100000"/>
              </a:lnSpc>
            </a:pPr>
            <a:endParaRPr lang="en-US" sz="1800" b="0" u="none" strike="noStrike">
              <a:solidFill>
                <a:schemeClr val="dk1"/>
              </a:solidFill>
              <a:effectLst/>
              <a:uFillTx/>
              <a:latin typeface="Calibri"/>
            </a:endParaRPr>
          </a:p>
        </p:txBody>
      </p:sp>
      <p:sp>
        <p:nvSpPr>
          <p:cNvPr id="90" name="Shape 10"/>
          <p:cNvSpPr/>
          <p:nvPr/>
        </p:nvSpPr>
        <p:spPr>
          <a:xfrm>
            <a:off x="6172200" y="1325880"/>
            <a:ext cx="5531400" cy="54000"/>
          </a:xfrm>
          <a:prstGeom prst="rect">
            <a:avLst/>
          </a:prstGeom>
          <a:solidFill>
            <a:srgbClr val="1FA971"/>
          </a:solidFill>
          <a:ln w="12700">
            <a:solidFill>
              <a:srgbClr val="1FA971"/>
            </a:solidFill>
            <a:round/>
          </a:ln>
        </p:spPr>
        <p:style>
          <a:lnRef idx="0"/>
          <a:fillRef idx="0"/>
          <a:effectRef idx="0"/>
          <a:fontRef idx="minor"/>
        </p:style>
        <p:txBody>
          <a:bodyPr lIns="90000" tIns="9720" rIns="90000" bIns="9720" anchor="t">
            <a:noAutofit/>
          </a:bodyPr>
          <a:p>
            <a:pPr>
              <a:lnSpc>
                <a:spcPct val="100000"/>
              </a:lnSpc>
            </a:pPr>
            <a:endParaRPr lang="en-US" sz="1800" b="0" u="none" strike="noStrike">
              <a:solidFill>
                <a:schemeClr val="dk1"/>
              </a:solidFill>
              <a:effectLst/>
              <a:uFillTx/>
              <a:latin typeface="Calibri"/>
            </a:endParaRPr>
          </a:p>
        </p:txBody>
      </p:sp>
      <p:sp>
        <p:nvSpPr>
          <p:cNvPr id="91" name="Text 11"/>
          <p:cNvSpPr/>
          <p:nvPr/>
        </p:nvSpPr>
        <p:spPr>
          <a:xfrm>
            <a:off x="6355080" y="1454040"/>
            <a:ext cx="516564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99" strike="noStrike">
                <a:solidFill>
                  <a:srgbClr val="1FA971"/>
                </a:solidFill>
                <a:effectLst/>
                <a:uFillTx/>
                <a:latin typeface="Arial"/>
                <a:ea typeface="Arial"/>
              </a:rPr>
              <a:t>FUTURE STATE  ·  GOAL → BUSINESS OUTCOME</a:t>
            </a:r>
            <a:endParaRPr lang="en-US" sz="1100" b="0" u="none" strike="noStrike">
              <a:solidFill>
                <a:srgbClr val="000000"/>
              </a:solidFill>
              <a:effectLst/>
              <a:uFillTx/>
              <a:latin typeface="Arial"/>
            </a:endParaRPr>
          </a:p>
        </p:txBody>
      </p:sp>
      <p:sp>
        <p:nvSpPr>
          <p:cNvPr id="92" name="Text 12"/>
          <p:cNvSpPr/>
          <p:nvPr/>
        </p:nvSpPr>
        <p:spPr>
          <a:xfrm>
            <a:off x="6355080" y="1783080"/>
            <a:ext cx="5211360" cy="223956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1701"/>
              </a:spcAft>
              <a:buClr>
                <a:srgbClr val="2B3947"/>
              </a:buClr>
              <a:buFont typeface="OpenSymbol"/>
              <a:buChar char="▪"/>
            </a:pPr>
            <a:r>
              <a:rPr lang="en-US" sz="1100" b="0" u="none" strike="noStrike">
                <a:solidFill>
                  <a:srgbClr val="2B3947"/>
                </a:solidFill>
                <a:effectLst/>
                <a:uFillTx/>
                <a:latin typeface="Arial"/>
                <a:ea typeface="Arial"/>
              </a:rPr>
              <a:t>Release to staff → beta → city → %</a:t>
            </a:r>
            <a:r>
              <a:rPr lang="en-US" sz="1100" b="1" u="none" strike="noStrike">
                <a:solidFill>
                  <a:srgbClr val="1FA971"/>
                </a:solidFill>
                <a:effectLst/>
                <a:uFillTx/>
                <a:latin typeface="Arial"/>
                <a:ea typeface="Arial"/>
              </a:rPr>
              <a:t>  →  faster iteration, less risk</a:t>
            </a:r>
            <a:endParaRPr lang="en-US" sz="1100" b="0" u="none" strike="noStrike">
              <a:solidFill>
                <a:srgbClr val="000000"/>
              </a:solidFill>
              <a:effectLst/>
              <a:uFillTx/>
              <a:latin typeface="Arial"/>
            </a:endParaRPr>
          </a:p>
          <a:p>
            <a:pPr marL="343080" indent="-343080" defTabSz="914400">
              <a:lnSpc>
                <a:spcPct val="100000"/>
              </a:lnSpc>
              <a:spcAft>
                <a:spcPts val="1701"/>
              </a:spcAft>
              <a:buClr>
                <a:srgbClr val="2B3947"/>
              </a:buClr>
              <a:buFont typeface="OpenSymbol"/>
              <a:buChar char="▪"/>
            </a:pPr>
            <a:r>
              <a:rPr lang="en-US" sz="1100" b="0" u="none" strike="noStrike">
                <a:solidFill>
                  <a:srgbClr val="2B3947"/>
                </a:solidFill>
                <a:effectLst/>
                <a:uFillTx/>
                <a:latin typeface="Arial"/>
                <a:ea typeface="Arial"/>
              </a:rPr>
              <a:t>Every release measured automatically</a:t>
            </a:r>
            <a:r>
              <a:rPr lang="en-US" sz="1100" b="1" u="none" strike="noStrike">
                <a:solidFill>
                  <a:srgbClr val="1FA971"/>
                </a:solidFill>
                <a:effectLst/>
                <a:uFillTx/>
                <a:latin typeface="Arial"/>
                <a:ea typeface="Arial"/>
              </a:rPr>
              <a:t>  →  decisions on evidence</a:t>
            </a:r>
            <a:endParaRPr lang="en-US" sz="1100" b="0" u="none" strike="noStrike">
              <a:solidFill>
                <a:srgbClr val="000000"/>
              </a:solidFill>
              <a:effectLst/>
              <a:uFillTx/>
              <a:latin typeface="Arial"/>
            </a:endParaRPr>
          </a:p>
          <a:p>
            <a:pPr marL="343080" indent="-343080" defTabSz="914400">
              <a:lnSpc>
                <a:spcPct val="100000"/>
              </a:lnSpc>
              <a:spcAft>
                <a:spcPts val="1701"/>
              </a:spcAft>
              <a:buClr>
                <a:srgbClr val="2B3947"/>
              </a:buClr>
              <a:buFont typeface="OpenSymbol"/>
              <a:buChar char="▪"/>
            </a:pPr>
            <a:r>
              <a:rPr lang="en-US" sz="1100" b="0" u="none" strike="noStrike">
                <a:solidFill>
                  <a:srgbClr val="2B3947"/>
                </a:solidFill>
                <a:effectLst/>
                <a:uFillTx/>
                <a:latin typeface="Arial"/>
                <a:ea typeface="Arial"/>
              </a:rPr>
              <a:t>Bad releases rolled back in seconds</a:t>
            </a:r>
            <a:r>
              <a:rPr lang="en-US" sz="1100" b="1" u="none" strike="noStrike">
                <a:solidFill>
                  <a:srgbClr val="1FA971"/>
                </a:solidFill>
                <a:effectLst/>
                <a:uFillTx/>
                <a:latin typeface="Arial"/>
                <a:ea typeface="Arial"/>
              </a:rPr>
              <a:t>  →  trust and revenue protected</a:t>
            </a:r>
            <a:endParaRPr lang="en-US" sz="1100" b="0" u="none" strike="noStrike">
              <a:solidFill>
                <a:srgbClr val="000000"/>
              </a:solidFill>
              <a:effectLst/>
              <a:uFillTx/>
              <a:latin typeface="Arial"/>
            </a:endParaRPr>
          </a:p>
          <a:p>
            <a:pPr marL="343080" indent="-343080" defTabSz="914400">
              <a:lnSpc>
                <a:spcPct val="100000"/>
              </a:lnSpc>
              <a:spcAft>
                <a:spcPts val="1701"/>
              </a:spcAft>
              <a:buClr>
                <a:srgbClr val="2B3947"/>
              </a:buClr>
              <a:buFont typeface="OpenSymbol"/>
              <a:buChar char="▪"/>
            </a:pPr>
            <a:r>
              <a:rPr lang="en-US" sz="1100" b="0" u="none" strike="noStrike">
                <a:solidFill>
                  <a:srgbClr val="2B3947"/>
                </a:solidFill>
                <a:effectLst/>
                <a:uFillTx/>
                <a:latin typeface="Arial"/>
                <a:ea typeface="Arial"/>
              </a:rPr>
              <a:t>Offers tested in days, not weeks</a:t>
            </a:r>
            <a:r>
              <a:rPr lang="en-US" sz="1100" b="1" u="none" strike="noStrike">
                <a:solidFill>
                  <a:srgbClr val="1FA971"/>
                </a:solidFill>
                <a:effectLst/>
                <a:uFillTx/>
                <a:latin typeface="Arial"/>
                <a:ea typeface="Arial"/>
              </a:rPr>
              <a:t>  →  higher upgrade conversion</a:t>
            </a:r>
            <a:endParaRPr lang="en-US" sz="1100" b="0" u="none" strike="noStrike">
              <a:solidFill>
                <a:srgbClr val="000000"/>
              </a:solidFill>
              <a:effectLst/>
              <a:uFillTx/>
              <a:latin typeface="Arial"/>
            </a:endParaRPr>
          </a:p>
          <a:p>
            <a:pPr marL="343080" indent="-343080" defTabSz="914400">
              <a:lnSpc>
                <a:spcPct val="100000"/>
              </a:lnSpc>
              <a:spcAft>
                <a:spcPts val="1701"/>
              </a:spcAft>
              <a:buClr>
                <a:srgbClr val="2B3947"/>
              </a:buClr>
              <a:buFont typeface="OpenSymbol"/>
              <a:buChar char="▪"/>
            </a:pPr>
            <a:r>
              <a:rPr lang="en-US" sz="1100" b="0" u="none" strike="noStrike">
                <a:solidFill>
                  <a:srgbClr val="2B3947"/>
                </a:solidFill>
                <a:effectLst/>
                <a:uFillTx/>
                <a:latin typeface="Arial"/>
                <a:ea typeface="Arial"/>
              </a:rPr>
              <a:t>One platform for release and learning</a:t>
            </a:r>
            <a:r>
              <a:rPr lang="en-US" sz="1100" b="1" u="none" strike="noStrike">
                <a:solidFill>
                  <a:srgbClr val="1FA971"/>
                </a:solidFill>
                <a:effectLst/>
                <a:uFillTx/>
                <a:latin typeface="Arial"/>
                <a:ea typeface="Arial"/>
              </a:rPr>
              <a:t>  →  lower cost, one truth</a:t>
            </a:r>
            <a:endParaRPr lang="en-US" sz="1100" b="0" u="none" strike="noStrike">
              <a:solidFill>
                <a:srgbClr val="000000"/>
              </a:solidFill>
              <a:effectLst/>
              <a:uFillTx/>
              <a:latin typeface="Arial"/>
            </a:endParaRPr>
          </a:p>
        </p:txBody>
      </p:sp>
      <p:sp>
        <p:nvSpPr>
          <p:cNvPr id="93" name="Shape 13"/>
          <p:cNvSpPr/>
          <p:nvPr/>
        </p:nvSpPr>
        <p:spPr>
          <a:xfrm>
            <a:off x="457200" y="4251960"/>
            <a:ext cx="11246400" cy="2056680"/>
          </a:xfrm>
          <a:prstGeom prst="rect">
            <a:avLst/>
          </a:prstGeom>
          <a:solidFill>
            <a:srgbClr val="FFFFFF"/>
          </a:solidFill>
          <a:ln w="9525">
            <a:solidFill>
              <a:srgbClr val="DFE6EE"/>
            </a:solidFill>
            <a:round/>
          </a:ln>
        </p:spPr>
        <p:style>
          <a:lnRef idx="0"/>
          <a:fillRef idx="0"/>
          <a:effectRef idx="0"/>
          <a:fontRef idx="minor"/>
        </p:style>
        <p:txBody>
          <a:bodyPr lIns="90000" tIns="45000" rIns="90000" bIns="45000" anchor="t">
            <a:noAutofit/>
          </a:bodyPr>
          <a:p>
            <a:pPr>
              <a:lnSpc>
                <a:spcPct val="100000"/>
              </a:lnSpc>
            </a:pPr>
            <a:endParaRPr lang="en-US" sz="1800" b="0" u="none" strike="noStrike">
              <a:solidFill>
                <a:schemeClr val="dk1"/>
              </a:solidFill>
              <a:effectLst/>
              <a:uFillTx/>
              <a:latin typeface="Calibri"/>
            </a:endParaRPr>
          </a:p>
        </p:txBody>
      </p:sp>
      <p:sp>
        <p:nvSpPr>
          <p:cNvPr id="94" name="Shape 14"/>
          <p:cNvSpPr/>
          <p:nvPr/>
        </p:nvSpPr>
        <p:spPr>
          <a:xfrm>
            <a:off x="457200" y="4251960"/>
            <a:ext cx="11246400" cy="54000"/>
          </a:xfrm>
          <a:prstGeom prst="rect">
            <a:avLst/>
          </a:prstGeom>
          <a:solidFill>
            <a:srgbClr val="0278D5"/>
          </a:solidFill>
          <a:ln w="12700">
            <a:solidFill>
              <a:srgbClr val="0278D5"/>
            </a:solidFill>
            <a:round/>
          </a:ln>
        </p:spPr>
        <p:style>
          <a:lnRef idx="0"/>
          <a:fillRef idx="0"/>
          <a:effectRef idx="0"/>
          <a:fontRef idx="minor"/>
        </p:style>
        <p:txBody>
          <a:bodyPr lIns="90000" tIns="9720" rIns="90000" bIns="9720" anchor="t">
            <a:noAutofit/>
          </a:bodyPr>
          <a:p>
            <a:pPr>
              <a:lnSpc>
                <a:spcPct val="100000"/>
              </a:lnSpc>
            </a:pPr>
            <a:endParaRPr lang="en-US" sz="1800" b="0" u="none" strike="noStrike">
              <a:solidFill>
                <a:schemeClr val="dk1"/>
              </a:solidFill>
              <a:effectLst/>
              <a:uFillTx/>
              <a:latin typeface="Calibri"/>
            </a:endParaRPr>
          </a:p>
        </p:txBody>
      </p:sp>
      <p:sp>
        <p:nvSpPr>
          <p:cNvPr id="95" name="Text 15"/>
          <p:cNvSpPr/>
          <p:nvPr/>
        </p:nvSpPr>
        <p:spPr>
          <a:xfrm>
            <a:off x="640080" y="4380120"/>
            <a:ext cx="1088064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99" strike="noStrike">
                <a:solidFill>
                  <a:srgbClr val="0278D5"/>
                </a:solidFill>
                <a:effectLst/>
                <a:uFillTx/>
                <a:latin typeface="Arial"/>
                <a:ea typeface="Arial"/>
              </a:rPr>
              <a:t>REQUIRED CAPABILITIES  ·  CAPABILITY → METRIC IT IMPROVES</a:t>
            </a:r>
            <a:endParaRPr lang="en-US" sz="1100" b="0" u="none" strike="noStrike">
              <a:solidFill>
                <a:srgbClr val="000000"/>
              </a:solidFill>
              <a:effectLst/>
              <a:uFillTx/>
              <a:latin typeface="Arial"/>
            </a:endParaRPr>
          </a:p>
        </p:txBody>
      </p:sp>
      <p:sp>
        <p:nvSpPr>
          <p:cNvPr id="96" name="PlaceHolder 1"/>
          <p:cNvSpPr>
            <a:spLocks noGrp="1"/>
          </p:cNvSpPr>
          <p:nvPr>
            <p:ph type="sldNum" idx="8"/>
          </p:nvPr>
        </p:nvSpPr>
        <p:spPr>
          <a:xfrm>
            <a:off x="11338560" y="6519600"/>
            <a:ext cx="456480" cy="2736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900" b="0" u="none" strike="noStrike">
                <a:solidFill>
                  <a:srgbClr val="9FB3C8"/>
                </a:solidFill>
                <a:effectLst/>
                <a:uFillTx/>
                <a:latin typeface="Arial"/>
                <a:ea typeface="Arial"/>
              </a:defRPr>
            </a:lvl1pPr>
          </a:lstStyle>
          <a:p>
            <a:pPr indent="0" algn="l" defTabSz="914400">
              <a:lnSpc>
                <a:spcPct val="100000"/>
              </a:lnSpc>
              <a:buNone/>
              <a:tabLst>
                <a:tab pos="0" algn="l"/>
              </a:tabLst>
            </a:pPr>
            <a:fld id="{B9BA7BCC-BCBC-44EB-A60C-84779862A2D2}" type="slidenum">
              <a:rPr lang="en-US" sz="900" b="0" u="none" strike="noStrike">
                <a:solidFill>
                  <a:srgbClr val="9FB3C8"/>
                </a:solidFill>
                <a:effectLst/>
                <a:uFillTx/>
                <a:latin typeface="Arial"/>
                <a:ea typeface="Arial"/>
              </a:rPr>
              <a:t>1</a:t>
            </a:fld>
            <a:endParaRPr lang="en-US" sz="900" b="0" u="none" strike="noStrike">
              <a:solidFill>
                <a:srgbClr val="000000"/>
              </a:solidFill>
              <a:effectLst/>
              <a:uFillTx/>
              <a:latin typeface="Times New Roman"/>
            </a:endParaRPr>
          </a:p>
        </p:txBody>
      </p:sp>
      <p:sp>
        <p:nvSpPr>
          <p:cNvPr id="97" name="TextBox 25"/>
          <p:cNvSpPr/>
          <p:nvPr/>
        </p:nvSpPr>
        <p:spPr>
          <a:xfrm>
            <a:off x="640080" y="4718160"/>
            <a:ext cx="5988600" cy="3056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000" b="1" u="none" strike="noStrike">
                <a:solidFill>
                  <a:srgbClr val="0278D5"/>
                </a:solidFill>
                <a:effectLst/>
                <a:uFillTx/>
                <a:latin typeface="Arial"/>
              </a:rPr>
              <a:t>▪  </a:t>
            </a:r>
            <a:r>
              <a:rPr lang="en-US" sz="1100" b="1" u="none" strike="noStrike">
                <a:solidFill>
                  <a:srgbClr val="0B1A2B"/>
                </a:solidFill>
                <a:effectLst/>
                <a:uFillTx/>
                <a:latin typeface="Arial"/>
              </a:rPr>
              <a:t>% rollouts and targeting by segment, city, staff, beta</a:t>
            </a:r>
            <a:endParaRPr lang="en-US" sz="1100" b="0" u="none" strike="noStrike">
              <a:solidFill>
                <a:srgbClr val="000000"/>
              </a:solidFill>
              <a:effectLst/>
              <a:uFillTx/>
              <a:latin typeface="Arial"/>
            </a:endParaRPr>
          </a:p>
        </p:txBody>
      </p:sp>
      <p:sp>
        <p:nvSpPr>
          <p:cNvPr id="98" name="TextBox 26"/>
          <p:cNvSpPr/>
          <p:nvPr/>
        </p:nvSpPr>
        <p:spPr>
          <a:xfrm>
            <a:off x="6675120" y="4718160"/>
            <a:ext cx="319320" cy="3056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200" b="1" u="none" strike="noStrike">
                <a:solidFill>
                  <a:srgbClr val="0278D5"/>
                </a:solidFill>
                <a:effectLst/>
                <a:uFillTx/>
                <a:latin typeface="Arial"/>
              </a:rPr>
              <a:t>→</a:t>
            </a:r>
            <a:endParaRPr lang="en-US" sz="1200" b="0" u="none" strike="noStrike">
              <a:solidFill>
                <a:srgbClr val="000000"/>
              </a:solidFill>
              <a:effectLst/>
              <a:uFillTx/>
              <a:latin typeface="Arial"/>
            </a:endParaRPr>
          </a:p>
        </p:txBody>
      </p:sp>
      <p:sp>
        <p:nvSpPr>
          <p:cNvPr id="99" name="TextBox 27"/>
          <p:cNvSpPr/>
          <p:nvPr/>
        </p:nvSpPr>
        <p:spPr>
          <a:xfrm>
            <a:off x="7040880" y="4718160"/>
            <a:ext cx="4525560" cy="3056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100" b="1" u="none" strike="noStrike">
                <a:solidFill>
                  <a:srgbClr val="0278D5"/>
                </a:solidFill>
                <a:effectLst/>
                <a:uFillTx/>
                <a:latin typeface="Arial"/>
              </a:rPr>
              <a:t>Release frequency · % of customers exposed</a:t>
            </a:r>
            <a:endParaRPr lang="en-US" sz="1100" b="0" u="none" strike="noStrike">
              <a:solidFill>
                <a:srgbClr val="000000"/>
              </a:solidFill>
              <a:effectLst/>
              <a:uFillTx/>
              <a:latin typeface="Arial"/>
            </a:endParaRPr>
          </a:p>
        </p:txBody>
      </p:sp>
      <p:cxnSp>
        <p:nvCxnSpPr>
          <p:cNvPr id="100" name="Connector 28"/>
          <p:cNvCxnSpPr/>
          <p:nvPr/>
        </p:nvCxnSpPr>
        <p:spPr>
          <a:xfrm>
            <a:off x="640080" y="5024520"/>
            <a:ext cx="10882080" cy="720"/>
          </a:xfrm>
          <a:prstGeom prst="straightConnector1">
            <a:avLst/>
          </a:prstGeom>
          <a:ln w="9525">
            <a:solidFill>
              <a:srgbClr val="E3E8EF"/>
            </a:solidFill>
            <a:round/>
          </a:ln>
        </p:spPr>
      </p:cxnSp>
      <p:sp>
        <p:nvSpPr>
          <p:cNvPr id="101" name="TextBox 29"/>
          <p:cNvSpPr/>
          <p:nvPr/>
        </p:nvSpPr>
        <p:spPr>
          <a:xfrm>
            <a:off x="640080" y="5024520"/>
            <a:ext cx="5988600" cy="3056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000" b="1" u="none" strike="noStrike">
                <a:solidFill>
                  <a:srgbClr val="0278D5"/>
                </a:solidFill>
                <a:effectLst/>
                <a:uFillTx/>
                <a:latin typeface="Arial"/>
              </a:rPr>
              <a:t>▪  </a:t>
            </a:r>
            <a:r>
              <a:rPr lang="en-US" sz="1100" b="1" u="none" strike="noStrike">
                <a:solidFill>
                  <a:srgbClr val="0B1A2B"/>
                </a:solidFill>
                <a:effectLst/>
                <a:uFillTx/>
                <a:latin typeface="Arial"/>
              </a:rPr>
              <a:t>Instant kill switch, no deploy or app-store release</a:t>
            </a:r>
            <a:endParaRPr lang="en-US" sz="1100" b="0" u="none" strike="noStrike">
              <a:solidFill>
                <a:srgbClr val="000000"/>
              </a:solidFill>
              <a:effectLst/>
              <a:uFillTx/>
              <a:latin typeface="Arial"/>
            </a:endParaRPr>
          </a:p>
        </p:txBody>
      </p:sp>
      <p:sp>
        <p:nvSpPr>
          <p:cNvPr id="102" name="TextBox 30"/>
          <p:cNvSpPr/>
          <p:nvPr/>
        </p:nvSpPr>
        <p:spPr>
          <a:xfrm>
            <a:off x="6675120" y="5024520"/>
            <a:ext cx="319320" cy="3056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200" b="1" u="none" strike="noStrike">
                <a:solidFill>
                  <a:srgbClr val="0278D5"/>
                </a:solidFill>
                <a:effectLst/>
                <a:uFillTx/>
                <a:latin typeface="Arial"/>
              </a:rPr>
              <a:t>→</a:t>
            </a:r>
            <a:endParaRPr lang="en-US" sz="1200" b="0" u="none" strike="noStrike">
              <a:solidFill>
                <a:srgbClr val="000000"/>
              </a:solidFill>
              <a:effectLst/>
              <a:uFillTx/>
              <a:latin typeface="Arial"/>
            </a:endParaRPr>
          </a:p>
        </p:txBody>
      </p:sp>
      <p:sp>
        <p:nvSpPr>
          <p:cNvPr id="103" name="TextBox 31"/>
          <p:cNvSpPr/>
          <p:nvPr/>
        </p:nvSpPr>
        <p:spPr>
          <a:xfrm>
            <a:off x="7040880" y="5024520"/>
            <a:ext cx="4525560" cy="3056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100" b="1" u="none" strike="noStrike">
                <a:solidFill>
                  <a:srgbClr val="0278D5"/>
                </a:solidFill>
                <a:effectLst/>
                <a:uFillTx/>
                <a:latin typeface="Arial"/>
              </a:rPr>
              <a:t>Mean time to recover · incidents</a:t>
            </a:r>
            <a:endParaRPr lang="en-US" sz="1100" b="0" u="none" strike="noStrike">
              <a:solidFill>
                <a:srgbClr val="000000"/>
              </a:solidFill>
              <a:effectLst/>
              <a:uFillTx/>
              <a:latin typeface="Arial"/>
            </a:endParaRPr>
          </a:p>
        </p:txBody>
      </p:sp>
      <p:cxnSp>
        <p:nvCxnSpPr>
          <p:cNvPr id="104" name="Connector 32"/>
          <p:cNvCxnSpPr/>
          <p:nvPr/>
        </p:nvCxnSpPr>
        <p:spPr>
          <a:xfrm>
            <a:off x="640080" y="5330880"/>
            <a:ext cx="10882080" cy="720"/>
          </a:xfrm>
          <a:prstGeom prst="straightConnector1">
            <a:avLst/>
          </a:prstGeom>
          <a:ln w="9525">
            <a:solidFill>
              <a:srgbClr val="E3E8EF"/>
            </a:solidFill>
            <a:round/>
          </a:ln>
        </p:spPr>
      </p:cxnSp>
      <p:sp>
        <p:nvSpPr>
          <p:cNvPr id="105" name="TextBox 33"/>
          <p:cNvSpPr/>
          <p:nvPr/>
        </p:nvSpPr>
        <p:spPr>
          <a:xfrm>
            <a:off x="640080" y="5330880"/>
            <a:ext cx="5988600" cy="3056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000" b="1" u="none" strike="noStrike">
                <a:solidFill>
                  <a:srgbClr val="0278D5"/>
                </a:solidFill>
                <a:effectLst/>
                <a:uFillTx/>
                <a:latin typeface="Arial"/>
              </a:rPr>
              <a:t>▪  </a:t>
            </a:r>
            <a:r>
              <a:rPr lang="en-US" sz="1100" b="1" u="none" strike="noStrike">
                <a:solidFill>
                  <a:srgbClr val="0B1A2B"/>
                </a:solidFill>
                <a:effectLst/>
                <a:uFillTx/>
                <a:latin typeface="Arial"/>
              </a:rPr>
              <a:t>Release monitoring and guardrails with alerts</a:t>
            </a:r>
            <a:endParaRPr lang="en-US" sz="1100" b="0" u="none" strike="noStrike">
              <a:solidFill>
                <a:srgbClr val="000000"/>
              </a:solidFill>
              <a:effectLst/>
              <a:uFillTx/>
              <a:latin typeface="Arial"/>
            </a:endParaRPr>
          </a:p>
        </p:txBody>
      </p:sp>
      <p:sp>
        <p:nvSpPr>
          <p:cNvPr id="106" name="TextBox 34"/>
          <p:cNvSpPr/>
          <p:nvPr/>
        </p:nvSpPr>
        <p:spPr>
          <a:xfrm>
            <a:off x="6675120" y="5330880"/>
            <a:ext cx="319320" cy="3056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200" b="1" u="none" strike="noStrike">
                <a:solidFill>
                  <a:srgbClr val="0278D5"/>
                </a:solidFill>
                <a:effectLst/>
                <a:uFillTx/>
                <a:latin typeface="Arial"/>
              </a:rPr>
              <a:t>→</a:t>
            </a:r>
            <a:endParaRPr lang="en-US" sz="1200" b="0" u="none" strike="noStrike">
              <a:solidFill>
                <a:srgbClr val="000000"/>
              </a:solidFill>
              <a:effectLst/>
              <a:uFillTx/>
              <a:latin typeface="Arial"/>
            </a:endParaRPr>
          </a:p>
        </p:txBody>
      </p:sp>
      <p:sp>
        <p:nvSpPr>
          <p:cNvPr id="107" name="TextBox 35"/>
          <p:cNvSpPr/>
          <p:nvPr/>
        </p:nvSpPr>
        <p:spPr>
          <a:xfrm>
            <a:off x="7040880" y="5330880"/>
            <a:ext cx="4525560" cy="3056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100" b="1" u="none" strike="noStrike">
                <a:solidFill>
                  <a:srgbClr val="0278D5"/>
                </a:solidFill>
                <a:effectLst/>
                <a:uFillTx/>
                <a:latin typeface="Arial"/>
              </a:rPr>
              <a:t>Change failure rate · issues caught early</a:t>
            </a:r>
            <a:endParaRPr lang="en-US" sz="1100" b="0" u="none" strike="noStrike">
              <a:solidFill>
                <a:srgbClr val="000000"/>
              </a:solidFill>
              <a:effectLst/>
              <a:uFillTx/>
              <a:latin typeface="Arial"/>
            </a:endParaRPr>
          </a:p>
        </p:txBody>
      </p:sp>
      <p:cxnSp>
        <p:nvCxnSpPr>
          <p:cNvPr id="108" name="Connector 36"/>
          <p:cNvCxnSpPr/>
          <p:nvPr/>
        </p:nvCxnSpPr>
        <p:spPr>
          <a:xfrm>
            <a:off x="640080" y="5637240"/>
            <a:ext cx="10882080" cy="720"/>
          </a:xfrm>
          <a:prstGeom prst="straightConnector1">
            <a:avLst/>
          </a:prstGeom>
          <a:ln w="9525">
            <a:solidFill>
              <a:srgbClr val="E3E8EF"/>
            </a:solidFill>
            <a:round/>
          </a:ln>
        </p:spPr>
      </p:cxnSp>
      <p:sp>
        <p:nvSpPr>
          <p:cNvPr id="109" name="TextBox 37"/>
          <p:cNvSpPr/>
          <p:nvPr/>
        </p:nvSpPr>
        <p:spPr>
          <a:xfrm>
            <a:off x="640080" y="5637240"/>
            <a:ext cx="5988600" cy="3056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000" b="1" u="none" strike="noStrike">
                <a:solidFill>
                  <a:srgbClr val="0278D5"/>
                </a:solidFill>
                <a:effectLst/>
                <a:uFillTx/>
                <a:latin typeface="Arial"/>
              </a:rPr>
              <a:t>▪  </a:t>
            </a:r>
            <a:r>
              <a:rPr lang="en-US" sz="1100" b="1" u="none" strike="noStrike">
                <a:solidFill>
                  <a:srgbClr val="0B1A2B"/>
                </a:solidFill>
                <a:effectLst/>
                <a:uFillTx/>
                <a:latin typeface="Arial"/>
              </a:rPr>
              <a:t>Built-in experimentation on the same flags</a:t>
            </a:r>
            <a:endParaRPr lang="en-US" sz="1100" b="0" u="none" strike="noStrike">
              <a:solidFill>
                <a:srgbClr val="000000"/>
              </a:solidFill>
              <a:effectLst/>
              <a:uFillTx/>
              <a:latin typeface="Arial"/>
            </a:endParaRPr>
          </a:p>
        </p:txBody>
      </p:sp>
      <p:sp>
        <p:nvSpPr>
          <p:cNvPr id="110" name="TextBox 38"/>
          <p:cNvSpPr/>
          <p:nvPr/>
        </p:nvSpPr>
        <p:spPr>
          <a:xfrm>
            <a:off x="6675120" y="5637240"/>
            <a:ext cx="319320" cy="3056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200" b="1" u="none" strike="noStrike">
                <a:solidFill>
                  <a:srgbClr val="0278D5"/>
                </a:solidFill>
                <a:effectLst/>
                <a:uFillTx/>
                <a:latin typeface="Arial"/>
              </a:rPr>
              <a:t>→</a:t>
            </a:r>
            <a:endParaRPr lang="en-US" sz="1200" b="0" u="none" strike="noStrike">
              <a:solidFill>
                <a:srgbClr val="000000"/>
              </a:solidFill>
              <a:effectLst/>
              <a:uFillTx/>
              <a:latin typeface="Arial"/>
            </a:endParaRPr>
          </a:p>
        </p:txBody>
      </p:sp>
      <p:sp>
        <p:nvSpPr>
          <p:cNvPr id="111" name="TextBox 39"/>
          <p:cNvSpPr/>
          <p:nvPr/>
        </p:nvSpPr>
        <p:spPr>
          <a:xfrm>
            <a:off x="7040880" y="5637240"/>
            <a:ext cx="4525560" cy="3056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100" b="1" u="none" strike="noStrike">
                <a:solidFill>
                  <a:srgbClr val="0278D5"/>
                </a:solidFill>
                <a:effectLst/>
                <a:uFillTx/>
                <a:latin typeface="Arial"/>
              </a:rPr>
              <a:t>Experiments per quarter · days to decision</a:t>
            </a:r>
            <a:endParaRPr lang="en-US" sz="1100" b="0" u="none" strike="noStrike">
              <a:solidFill>
                <a:srgbClr val="000000"/>
              </a:solidFill>
              <a:effectLst/>
              <a:uFillTx/>
              <a:latin typeface="Arial"/>
            </a:endParaRPr>
          </a:p>
        </p:txBody>
      </p:sp>
      <p:cxnSp>
        <p:nvCxnSpPr>
          <p:cNvPr id="112" name="Connector 40"/>
          <p:cNvCxnSpPr/>
          <p:nvPr/>
        </p:nvCxnSpPr>
        <p:spPr>
          <a:xfrm>
            <a:off x="640080" y="5943600"/>
            <a:ext cx="10882080" cy="720"/>
          </a:xfrm>
          <a:prstGeom prst="straightConnector1">
            <a:avLst/>
          </a:prstGeom>
          <a:ln w="9525">
            <a:solidFill>
              <a:srgbClr val="E3E8EF"/>
            </a:solidFill>
            <a:round/>
          </a:ln>
        </p:spPr>
      </p:cxnSp>
      <p:sp>
        <p:nvSpPr>
          <p:cNvPr id="113" name="TextBox 41"/>
          <p:cNvSpPr/>
          <p:nvPr/>
        </p:nvSpPr>
        <p:spPr>
          <a:xfrm>
            <a:off x="640080" y="5943600"/>
            <a:ext cx="5988600" cy="3056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000" b="1" u="none" strike="noStrike">
                <a:solidFill>
                  <a:srgbClr val="0278D5"/>
                </a:solidFill>
                <a:effectLst/>
                <a:uFillTx/>
                <a:latin typeface="Arial"/>
              </a:rPr>
              <a:t>▪  </a:t>
            </a:r>
            <a:r>
              <a:rPr lang="en-US" sz="1100" b="1" u="none" strike="noStrike">
                <a:solidFill>
                  <a:srgbClr val="0B1A2B"/>
                </a:solidFill>
                <a:effectLst/>
                <a:uFillTx/>
                <a:latin typeface="Arial"/>
              </a:rPr>
              <a:t>Governance: approvals, policy-as-code, audit, RBAC</a:t>
            </a:r>
            <a:endParaRPr lang="en-US" sz="1100" b="0" u="none" strike="noStrike">
              <a:solidFill>
                <a:srgbClr val="000000"/>
              </a:solidFill>
              <a:effectLst/>
              <a:uFillTx/>
              <a:latin typeface="Arial"/>
            </a:endParaRPr>
          </a:p>
        </p:txBody>
      </p:sp>
      <p:sp>
        <p:nvSpPr>
          <p:cNvPr id="114" name="TextBox 42"/>
          <p:cNvSpPr/>
          <p:nvPr/>
        </p:nvSpPr>
        <p:spPr>
          <a:xfrm>
            <a:off x="6675120" y="5943600"/>
            <a:ext cx="319320" cy="3056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200" b="1" u="none" strike="noStrike">
                <a:solidFill>
                  <a:srgbClr val="0278D5"/>
                </a:solidFill>
                <a:effectLst/>
                <a:uFillTx/>
                <a:latin typeface="Arial"/>
              </a:rPr>
              <a:t>→</a:t>
            </a:r>
            <a:endParaRPr lang="en-US" sz="1200" b="0" u="none" strike="noStrike">
              <a:solidFill>
                <a:srgbClr val="000000"/>
              </a:solidFill>
              <a:effectLst/>
              <a:uFillTx/>
              <a:latin typeface="Arial"/>
            </a:endParaRPr>
          </a:p>
        </p:txBody>
      </p:sp>
      <p:sp>
        <p:nvSpPr>
          <p:cNvPr id="115" name="TextBox 43"/>
          <p:cNvSpPr/>
          <p:nvPr/>
        </p:nvSpPr>
        <p:spPr>
          <a:xfrm>
            <a:off x="7040880" y="5943600"/>
            <a:ext cx="4525560" cy="3056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100" b="1" u="none" strike="noStrike">
                <a:solidFill>
                  <a:srgbClr val="0278D5"/>
                </a:solidFill>
                <a:effectLst/>
                <a:uFillTx/>
                <a:latin typeface="Arial"/>
              </a:rPr>
              <a:t>Audited changes · security findings</a:t>
            </a:r>
            <a:endParaRPr lang="en-US" sz="1100" b="0" u="none" strike="noStrike">
              <a:solidFill>
                <a:srgbClr val="000000"/>
              </a:solidFill>
              <a:effectLst/>
              <a:uFillTx/>
              <a:latin typeface="Arial"/>
            </a:endParaRPr>
          </a:p>
        </p:txBody>
      </p:sp>
      <p:pic>
        <p:nvPicPr>
          <p:cNvPr id="116" name=""/>
          <p:cNvPicPr/>
          <p:nvPr/>
        </p:nvPicPr>
        <p:blipFill>
          <a:blip r:embed="rId1"/>
          <a:stretch/>
        </p:blipFill>
        <p:spPr>
          <a:xfrm>
            <a:off x="10515600" y="228960"/>
            <a:ext cx="1143360" cy="303120"/>
          </a:xfrm>
          <a:prstGeom prst="rect">
            <a:avLst/>
          </a:prstGeom>
          <a:noFill/>
          <a:ln w="38160">
            <a:noFill/>
          </a:ln>
        </p:spPr>
      </p:pic>
    </p:spTree>
  </p:cSld>
  <mc:AlternateContent>
    <mc:Choice Requires="p14">
      <p:transition spd="slow" p14:dur="2000"/>
    </mc:Choice>
    <mc:Fallback>
      <p:transition spd="slow"/>
    </mc:Fallback>
  </mc:AlternateContent>
  <p:timing>
    <p:tnLst>
      <p:par>
        <p:cTn id="31" dur="indefinite" restart="never" nodeType="tmRoot">
          <p:childTnLst>
            <p:seq>
              <p:cTn id="32" dur="indefinite" nodeType="mainSeq">
                <p:childTnLst>
                  <p:par>
                    <p:cTn id="33" fill="hold">
                      <p:stCondLst>
                        <p:cond delay="indefinite"/>
                      </p:stCondLst>
                      <p:childTnLst>
                        <p:par>
                          <p:cTn id="34" fill="hold">
                            <p:stCondLst>
                              <p:cond delay="0"/>
                            </p:stCondLst>
                            <p:childTnLst>
                              <p:par>
                                <p:cTn id="35" presetID="1" presetClass="entr" fill="hold" nodeType="clickEffect">
                                  <p:stCondLst>
                                    <p:cond delay="0"/>
                                  </p:stCondLst>
                                  <p:childTnLst>
                                    <p:set>
                                      <p:cBhvr>
                                        <p:cTn id="36" dur="1" fill="hold">
                                          <p:stCondLst>
                                            <p:cond delay="0"/>
                                          </p:stCondLst>
                                        </p:cTn>
                                        <p:tgtEl>
                                          <p:spTgt spid="85"/>
                                        </p:tgtEl>
                                        <p:attrNameLst>
                                          <p:attrName>style.visibility</p:attrName>
                                        </p:attrNameLst>
                                      </p:cBhvr>
                                      <p:to>
                                        <p:strVal val="visible"/>
                                      </p:to>
                                    </p:set>
                                  </p:childTnLst>
                                </p:cTn>
                              </p:par>
                              <p:par>
                                <p:cTn id="37" presetID="1" presetClass="entr" fill="hold" nodeType="withEffect">
                                  <p:stCondLst>
                                    <p:cond delay="0"/>
                                  </p:stCondLst>
                                  <p:childTnLst>
                                    <p:set>
                                      <p:cBhvr>
                                        <p:cTn id="38" dur="1" fill="hold">
                                          <p:stCondLst>
                                            <p:cond delay="0"/>
                                          </p:stCondLst>
                                        </p:cTn>
                                        <p:tgtEl>
                                          <p:spTgt spid="86"/>
                                        </p:tgtEl>
                                        <p:attrNameLst>
                                          <p:attrName>style.visibility</p:attrName>
                                        </p:attrNameLst>
                                      </p:cBhvr>
                                      <p:to>
                                        <p:strVal val="visible"/>
                                      </p:to>
                                    </p:set>
                                  </p:childTnLst>
                                </p:cTn>
                              </p:par>
                              <p:par>
                                <p:cTn id="39" presetID="1" presetClass="entr" fill="hold" nodeType="withEffect">
                                  <p:stCondLst>
                                    <p:cond delay="0"/>
                                  </p:stCondLst>
                                  <p:childTnLst>
                                    <p:set>
                                      <p:cBhvr>
                                        <p:cTn id="40" dur="1" fill="hold">
                                          <p:stCondLst>
                                            <p:cond delay="0"/>
                                          </p:stCondLst>
                                        </p:cTn>
                                        <p:tgtEl>
                                          <p:spTgt spid="87"/>
                                        </p:tgtEl>
                                        <p:attrNameLst>
                                          <p:attrName>style.visibility</p:attrName>
                                        </p:attrNameLst>
                                      </p:cBhvr>
                                      <p:to>
                                        <p:strVal val="visible"/>
                                      </p:to>
                                    </p:set>
                                  </p:childTnLst>
                                </p:cTn>
                              </p:par>
                              <p:par>
                                <p:cTn id="41" presetID="1" presetClass="entr" fill="hold" nodeType="withEffect">
                                  <p:stCondLst>
                                    <p:cond delay="0"/>
                                  </p:stCondLst>
                                  <p:childTnLst>
                                    <p:set>
                                      <p:cBhvr>
                                        <p:cTn id="42" dur="1" fill="hold">
                                          <p:stCondLst>
                                            <p:cond delay="0"/>
                                          </p:stCondLst>
                                        </p:cTn>
                                        <p:tgtEl>
                                          <p:spTgt spid="8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fill="hold" nodeType="clickEffect">
                                  <p:stCondLst>
                                    <p:cond delay="0"/>
                                  </p:stCondLst>
                                  <p:childTnLst>
                                    <p:set>
                                      <p:cBhvr>
                                        <p:cTn id="46" dur="1" fill="hold">
                                          <p:stCondLst>
                                            <p:cond delay="0"/>
                                          </p:stCondLst>
                                        </p:cTn>
                                        <p:tgtEl>
                                          <p:spTgt spid="89"/>
                                        </p:tgtEl>
                                        <p:attrNameLst>
                                          <p:attrName>style.visibility</p:attrName>
                                        </p:attrNameLst>
                                      </p:cBhvr>
                                      <p:to>
                                        <p:strVal val="visible"/>
                                      </p:to>
                                    </p:set>
                                  </p:childTnLst>
                                </p:cTn>
                              </p:par>
                              <p:par>
                                <p:cTn id="47" presetID="1" presetClass="entr" fill="hold" nodeType="withEffect">
                                  <p:stCondLst>
                                    <p:cond delay="0"/>
                                  </p:stCondLst>
                                  <p:childTnLst>
                                    <p:set>
                                      <p:cBhvr>
                                        <p:cTn id="48" dur="1" fill="hold">
                                          <p:stCondLst>
                                            <p:cond delay="0"/>
                                          </p:stCondLst>
                                        </p:cTn>
                                        <p:tgtEl>
                                          <p:spTgt spid="90"/>
                                        </p:tgtEl>
                                        <p:attrNameLst>
                                          <p:attrName>style.visibility</p:attrName>
                                        </p:attrNameLst>
                                      </p:cBhvr>
                                      <p:to>
                                        <p:strVal val="visible"/>
                                      </p:to>
                                    </p:set>
                                  </p:childTnLst>
                                </p:cTn>
                              </p:par>
                              <p:par>
                                <p:cTn id="49" presetID="1" presetClass="entr" fill="hold" nodeType="withEffect">
                                  <p:stCondLst>
                                    <p:cond delay="0"/>
                                  </p:stCondLst>
                                  <p:childTnLst>
                                    <p:set>
                                      <p:cBhvr>
                                        <p:cTn id="50" dur="1" fill="hold">
                                          <p:stCondLst>
                                            <p:cond delay="0"/>
                                          </p:stCondLst>
                                        </p:cTn>
                                        <p:tgtEl>
                                          <p:spTgt spid="91"/>
                                        </p:tgtEl>
                                        <p:attrNameLst>
                                          <p:attrName>style.visibility</p:attrName>
                                        </p:attrNameLst>
                                      </p:cBhvr>
                                      <p:to>
                                        <p:strVal val="visible"/>
                                      </p:to>
                                    </p:set>
                                  </p:childTnLst>
                                </p:cTn>
                              </p:par>
                              <p:par>
                                <p:cTn id="51" presetID="1" presetClass="entr" fill="hold" nodeType="withEffect">
                                  <p:stCondLst>
                                    <p:cond delay="0"/>
                                  </p:stCondLst>
                                  <p:childTnLst>
                                    <p:set>
                                      <p:cBhvr>
                                        <p:cTn id="52" dur="1" fill="hold">
                                          <p:stCondLst>
                                            <p:cond delay="0"/>
                                          </p:stCondLst>
                                        </p:cTn>
                                        <p:tgtEl>
                                          <p:spTgt spid="92"/>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fill="hold" nodeType="clickEffect">
                                  <p:stCondLst>
                                    <p:cond delay="0"/>
                                  </p:stCondLst>
                                  <p:childTnLst>
                                    <p:set>
                                      <p:cBhvr>
                                        <p:cTn id="56" dur="1" fill="hold">
                                          <p:stCondLst>
                                            <p:cond delay="0"/>
                                          </p:stCondLst>
                                        </p:cTn>
                                        <p:tgtEl>
                                          <p:spTgt spid="93"/>
                                        </p:tgtEl>
                                        <p:attrNameLst>
                                          <p:attrName>style.visibility</p:attrName>
                                        </p:attrNameLst>
                                      </p:cBhvr>
                                      <p:to>
                                        <p:strVal val="visible"/>
                                      </p:to>
                                    </p:set>
                                  </p:childTnLst>
                                </p:cTn>
                              </p:par>
                              <p:par>
                                <p:cTn id="57" presetID="1" presetClass="entr" fill="hold" nodeType="withEffect">
                                  <p:stCondLst>
                                    <p:cond delay="0"/>
                                  </p:stCondLst>
                                  <p:childTnLst>
                                    <p:set>
                                      <p:cBhvr>
                                        <p:cTn id="58" dur="1" fill="hold">
                                          <p:stCondLst>
                                            <p:cond delay="0"/>
                                          </p:stCondLst>
                                        </p:cTn>
                                        <p:tgtEl>
                                          <p:spTgt spid="94"/>
                                        </p:tgtEl>
                                        <p:attrNameLst>
                                          <p:attrName>style.visibility</p:attrName>
                                        </p:attrNameLst>
                                      </p:cBhvr>
                                      <p:to>
                                        <p:strVal val="visible"/>
                                      </p:to>
                                    </p:set>
                                  </p:childTnLst>
                                </p:cTn>
                              </p:par>
                              <p:par>
                                <p:cTn id="59" presetID="1" presetClass="entr" fill="hold" nodeType="withEffect">
                                  <p:stCondLst>
                                    <p:cond delay="0"/>
                                  </p:stCondLst>
                                  <p:childTnLst>
                                    <p:set>
                                      <p:cBhvr>
                                        <p:cTn id="60" dur="1" fill="hold">
                                          <p:stCondLst>
                                            <p:cond delay="0"/>
                                          </p:stCondLst>
                                        </p:cTn>
                                        <p:tgtEl>
                                          <p:spTgt spid="95"/>
                                        </p:tgtEl>
                                        <p:attrNameLst>
                                          <p:attrName>style.visibility</p:attrName>
                                        </p:attrNameLst>
                                      </p:cBhvr>
                                      <p:to>
                                        <p:strVal val="visible"/>
                                      </p:to>
                                    </p:set>
                                  </p:childTnLst>
                                </p:cTn>
                              </p:par>
                              <p:par>
                                <p:cTn id="61" presetID="1" presetClass="entr" fill="hold" nodeType="withEffect">
                                  <p:stCondLst>
                                    <p:cond delay="0"/>
                                  </p:stCondLst>
                                  <p:childTnLst>
                                    <p:set>
                                      <p:cBhvr>
                                        <p:cTn id="62" dur="1" fill="hold">
                                          <p:stCondLst>
                                            <p:cond delay="0"/>
                                          </p:stCondLst>
                                        </p:cTn>
                                        <p:tgtEl>
                                          <p:spTgt spid="97"/>
                                        </p:tgtEl>
                                        <p:attrNameLst>
                                          <p:attrName>style.visibility</p:attrName>
                                        </p:attrNameLst>
                                      </p:cBhvr>
                                      <p:to>
                                        <p:strVal val="visible"/>
                                      </p:to>
                                    </p:set>
                                  </p:childTnLst>
                                </p:cTn>
                              </p:par>
                              <p:par>
                                <p:cTn id="63" presetID="1" presetClass="entr" fill="hold" nodeType="withEffect">
                                  <p:stCondLst>
                                    <p:cond delay="0"/>
                                  </p:stCondLst>
                                  <p:childTnLst>
                                    <p:set>
                                      <p:cBhvr>
                                        <p:cTn id="64" dur="1" fill="hold">
                                          <p:stCondLst>
                                            <p:cond delay="0"/>
                                          </p:stCondLst>
                                        </p:cTn>
                                        <p:tgtEl>
                                          <p:spTgt spid="98"/>
                                        </p:tgtEl>
                                        <p:attrNameLst>
                                          <p:attrName>style.visibility</p:attrName>
                                        </p:attrNameLst>
                                      </p:cBhvr>
                                      <p:to>
                                        <p:strVal val="visible"/>
                                      </p:to>
                                    </p:set>
                                  </p:childTnLst>
                                </p:cTn>
                              </p:par>
                              <p:par>
                                <p:cTn id="65" presetID="1" presetClass="entr" fill="hold" nodeType="withEffect">
                                  <p:stCondLst>
                                    <p:cond delay="0"/>
                                  </p:stCondLst>
                                  <p:childTnLst>
                                    <p:set>
                                      <p:cBhvr>
                                        <p:cTn id="66" dur="1" fill="hold">
                                          <p:stCondLst>
                                            <p:cond delay="0"/>
                                          </p:stCondLst>
                                        </p:cTn>
                                        <p:tgtEl>
                                          <p:spTgt spid="99"/>
                                        </p:tgtEl>
                                        <p:attrNameLst>
                                          <p:attrName>style.visibility</p:attrName>
                                        </p:attrNameLst>
                                      </p:cBhvr>
                                      <p:to>
                                        <p:strVal val="visible"/>
                                      </p:to>
                                    </p:set>
                                  </p:childTnLst>
                                </p:cTn>
                              </p:par>
                              <p:par>
                                <p:cTn id="67" presetID="1" presetClass="entr" fill="hold" nodeType="withEffect">
                                  <p:stCondLst>
                                    <p:cond delay="0"/>
                                  </p:stCondLst>
                                  <p:childTnLst>
                                    <p:set>
                                      <p:cBhvr>
                                        <p:cTn id="68" dur="1" fill="hold">
                                          <p:stCondLst>
                                            <p:cond delay="0"/>
                                          </p:stCondLst>
                                        </p:cTn>
                                        <p:tgtEl>
                                          <p:spTgt spid="100"/>
                                        </p:tgtEl>
                                        <p:attrNameLst>
                                          <p:attrName>style.visibility</p:attrName>
                                        </p:attrNameLst>
                                      </p:cBhvr>
                                      <p:to>
                                        <p:strVal val="visible"/>
                                      </p:to>
                                    </p:set>
                                  </p:childTnLst>
                                </p:cTn>
                              </p:par>
                              <p:par>
                                <p:cTn id="69" presetID="1" presetClass="entr" fill="hold" nodeType="withEffect">
                                  <p:stCondLst>
                                    <p:cond delay="0"/>
                                  </p:stCondLst>
                                  <p:childTnLst>
                                    <p:set>
                                      <p:cBhvr>
                                        <p:cTn id="70" dur="1" fill="hold">
                                          <p:stCondLst>
                                            <p:cond delay="0"/>
                                          </p:stCondLst>
                                        </p:cTn>
                                        <p:tgtEl>
                                          <p:spTgt spid="101"/>
                                        </p:tgtEl>
                                        <p:attrNameLst>
                                          <p:attrName>style.visibility</p:attrName>
                                        </p:attrNameLst>
                                      </p:cBhvr>
                                      <p:to>
                                        <p:strVal val="visible"/>
                                      </p:to>
                                    </p:set>
                                  </p:childTnLst>
                                </p:cTn>
                              </p:par>
                              <p:par>
                                <p:cTn id="71" presetID="1" presetClass="entr" fill="hold" nodeType="withEffect">
                                  <p:stCondLst>
                                    <p:cond delay="0"/>
                                  </p:stCondLst>
                                  <p:childTnLst>
                                    <p:set>
                                      <p:cBhvr>
                                        <p:cTn id="72" dur="1" fill="hold">
                                          <p:stCondLst>
                                            <p:cond delay="0"/>
                                          </p:stCondLst>
                                        </p:cTn>
                                        <p:tgtEl>
                                          <p:spTgt spid="102"/>
                                        </p:tgtEl>
                                        <p:attrNameLst>
                                          <p:attrName>style.visibility</p:attrName>
                                        </p:attrNameLst>
                                      </p:cBhvr>
                                      <p:to>
                                        <p:strVal val="visible"/>
                                      </p:to>
                                    </p:set>
                                  </p:childTnLst>
                                </p:cTn>
                              </p:par>
                              <p:par>
                                <p:cTn id="73" presetID="1" presetClass="entr" fill="hold" nodeType="withEffect">
                                  <p:stCondLst>
                                    <p:cond delay="0"/>
                                  </p:stCondLst>
                                  <p:childTnLst>
                                    <p:set>
                                      <p:cBhvr>
                                        <p:cTn id="74" dur="1" fill="hold">
                                          <p:stCondLst>
                                            <p:cond delay="0"/>
                                          </p:stCondLst>
                                        </p:cTn>
                                        <p:tgtEl>
                                          <p:spTgt spid="103"/>
                                        </p:tgtEl>
                                        <p:attrNameLst>
                                          <p:attrName>style.visibility</p:attrName>
                                        </p:attrNameLst>
                                      </p:cBhvr>
                                      <p:to>
                                        <p:strVal val="visible"/>
                                      </p:to>
                                    </p:set>
                                  </p:childTnLst>
                                </p:cTn>
                              </p:par>
                              <p:par>
                                <p:cTn id="75" presetID="1" presetClass="entr" fill="hold" nodeType="withEffect">
                                  <p:stCondLst>
                                    <p:cond delay="0"/>
                                  </p:stCondLst>
                                  <p:childTnLst>
                                    <p:set>
                                      <p:cBhvr>
                                        <p:cTn id="76" dur="1" fill="hold">
                                          <p:stCondLst>
                                            <p:cond delay="0"/>
                                          </p:stCondLst>
                                        </p:cTn>
                                        <p:tgtEl>
                                          <p:spTgt spid="104"/>
                                        </p:tgtEl>
                                        <p:attrNameLst>
                                          <p:attrName>style.visibility</p:attrName>
                                        </p:attrNameLst>
                                      </p:cBhvr>
                                      <p:to>
                                        <p:strVal val="visible"/>
                                      </p:to>
                                    </p:set>
                                  </p:childTnLst>
                                </p:cTn>
                              </p:par>
                              <p:par>
                                <p:cTn id="77" presetID="1" presetClass="entr" fill="hold" nodeType="withEffect">
                                  <p:stCondLst>
                                    <p:cond delay="0"/>
                                  </p:stCondLst>
                                  <p:childTnLst>
                                    <p:set>
                                      <p:cBhvr>
                                        <p:cTn id="78" dur="1" fill="hold">
                                          <p:stCondLst>
                                            <p:cond delay="0"/>
                                          </p:stCondLst>
                                        </p:cTn>
                                        <p:tgtEl>
                                          <p:spTgt spid="105"/>
                                        </p:tgtEl>
                                        <p:attrNameLst>
                                          <p:attrName>style.visibility</p:attrName>
                                        </p:attrNameLst>
                                      </p:cBhvr>
                                      <p:to>
                                        <p:strVal val="visible"/>
                                      </p:to>
                                    </p:set>
                                  </p:childTnLst>
                                </p:cTn>
                              </p:par>
                              <p:par>
                                <p:cTn id="79" presetID="1" presetClass="entr" fill="hold" nodeType="withEffect">
                                  <p:stCondLst>
                                    <p:cond delay="0"/>
                                  </p:stCondLst>
                                  <p:childTnLst>
                                    <p:set>
                                      <p:cBhvr>
                                        <p:cTn id="80" dur="1" fill="hold">
                                          <p:stCondLst>
                                            <p:cond delay="0"/>
                                          </p:stCondLst>
                                        </p:cTn>
                                        <p:tgtEl>
                                          <p:spTgt spid="106"/>
                                        </p:tgtEl>
                                        <p:attrNameLst>
                                          <p:attrName>style.visibility</p:attrName>
                                        </p:attrNameLst>
                                      </p:cBhvr>
                                      <p:to>
                                        <p:strVal val="visible"/>
                                      </p:to>
                                    </p:set>
                                  </p:childTnLst>
                                </p:cTn>
                              </p:par>
                              <p:par>
                                <p:cTn id="81" presetID="1" presetClass="entr" fill="hold" nodeType="withEffect">
                                  <p:stCondLst>
                                    <p:cond delay="0"/>
                                  </p:stCondLst>
                                  <p:childTnLst>
                                    <p:set>
                                      <p:cBhvr>
                                        <p:cTn id="82" dur="1" fill="hold">
                                          <p:stCondLst>
                                            <p:cond delay="0"/>
                                          </p:stCondLst>
                                        </p:cTn>
                                        <p:tgtEl>
                                          <p:spTgt spid="107"/>
                                        </p:tgtEl>
                                        <p:attrNameLst>
                                          <p:attrName>style.visibility</p:attrName>
                                        </p:attrNameLst>
                                      </p:cBhvr>
                                      <p:to>
                                        <p:strVal val="visible"/>
                                      </p:to>
                                    </p:set>
                                  </p:childTnLst>
                                </p:cTn>
                              </p:par>
                              <p:par>
                                <p:cTn id="83" presetID="1" presetClass="entr" fill="hold" nodeType="withEffect">
                                  <p:stCondLst>
                                    <p:cond delay="0"/>
                                  </p:stCondLst>
                                  <p:childTnLst>
                                    <p:set>
                                      <p:cBhvr>
                                        <p:cTn id="84" dur="1" fill="hold">
                                          <p:stCondLst>
                                            <p:cond delay="0"/>
                                          </p:stCondLst>
                                        </p:cTn>
                                        <p:tgtEl>
                                          <p:spTgt spid="108"/>
                                        </p:tgtEl>
                                        <p:attrNameLst>
                                          <p:attrName>style.visibility</p:attrName>
                                        </p:attrNameLst>
                                      </p:cBhvr>
                                      <p:to>
                                        <p:strVal val="visible"/>
                                      </p:to>
                                    </p:set>
                                  </p:childTnLst>
                                </p:cTn>
                              </p:par>
                              <p:par>
                                <p:cTn id="85" presetID="1" presetClass="entr" fill="hold" nodeType="withEffect">
                                  <p:stCondLst>
                                    <p:cond delay="0"/>
                                  </p:stCondLst>
                                  <p:childTnLst>
                                    <p:set>
                                      <p:cBhvr>
                                        <p:cTn id="86" dur="1" fill="hold">
                                          <p:stCondLst>
                                            <p:cond delay="0"/>
                                          </p:stCondLst>
                                        </p:cTn>
                                        <p:tgtEl>
                                          <p:spTgt spid="109"/>
                                        </p:tgtEl>
                                        <p:attrNameLst>
                                          <p:attrName>style.visibility</p:attrName>
                                        </p:attrNameLst>
                                      </p:cBhvr>
                                      <p:to>
                                        <p:strVal val="visible"/>
                                      </p:to>
                                    </p:set>
                                  </p:childTnLst>
                                </p:cTn>
                              </p:par>
                              <p:par>
                                <p:cTn id="87" presetID="1" presetClass="entr" fill="hold" nodeType="withEffect">
                                  <p:stCondLst>
                                    <p:cond delay="0"/>
                                  </p:stCondLst>
                                  <p:childTnLst>
                                    <p:set>
                                      <p:cBhvr>
                                        <p:cTn id="88" dur="1" fill="hold">
                                          <p:stCondLst>
                                            <p:cond delay="0"/>
                                          </p:stCondLst>
                                        </p:cTn>
                                        <p:tgtEl>
                                          <p:spTgt spid="110"/>
                                        </p:tgtEl>
                                        <p:attrNameLst>
                                          <p:attrName>style.visibility</p:attrName>
                                        </p:attrNameLst>
                                      </p:cBhvr>
                                      <p:to>
                                        <p:strVal val="visible"/>
                                      </p:to>
                                    </p:set>
                                  </p:childTnLst>
                                </p:cTn>
                              </p:par>
                              <p:par>
                                <p:cTn id="89" presetID="1" presetClass="entr" fill="hold" nodeType="withEffect">
                                  <p:stCondLst>
                                    <p:cond delay="0"/>
                                  </p:stCondLst>
                                  <p:childTnLst>
                                    <p:set>
                                      <p:cBhvr>
                                        <p:cTn id="90" dur="1" fill="hold">
                                          <p:stCondLst>
                                            <p:cond delay="0"/>
                                          </p:stCondLst>
                                        </p:cTn>
                                        <p:tgtEl>
                                          <p:spTgt spid="111"/>
                                        </p:tgtEl>
                                        <p:attrNameLst>
                                          <p:attrName>style.visibility</p:attrName>
                                        </p:attrNameLst>
                                      </p:cBhvr>
                                      <p:to>
                                        <p:strVal val="visible"/>
                                      </p:to>
                                    </p:set>
                                  </p:childTnLst>
                                </p:cTn>
                              </p:par>
                              <p:par>
                                <p:cTn id="91" presetID="1" presetClass="entr" fill="hold" nodeType="withEffect">
                                  <p:stCondLst>
                                    <p:cond delay="0"/>
                                  </p:stCondLst>
                                  <p:childTnLst>
                                    <p:set>
                                      <p:cBhvr>
                                        <p:cTn id="92" dur="1" fill="hold">
                                          <p:stCondLst>
                                            <p:cond delay="0"/>
                                          </p:stCondLst>
                                        </p:cTn>
                                        <p:tgtEl>
                                          <p:spTgt spid="112"/>
                                        </p:tgtEl>
                                        <p:attrNameLst>
                                          <p:attrName>style.visibility</p:attrName>
                                        </p:attrNameLst>
                                      </p:cBhvr>
                                      <p:to>
                                        <p:strVal val="visible"/>
                                      </p:to>
                                    </p:set>
                                  </p:childTnLst>
                                </p:cTn>
                              </p:par>
                              <p:par>
                                <p:cTn id="93" presetID="1" presetClass="entr" fill="hold" nodeType="withEffect">
                                  <p:stCondLst>
                                    <p:cond delay="0"/>
                                  </p:stCondLst>
                                  <p:childTnLst>
                                    <p:set>
                                      <p:cBhvr>
                                        <p:cTn id="94" dur="1" fill="hold">
                                          <p:stCondLst>
                                            <p:cond delay="0"/>
                                          </p:stCondLst>
                                        </p:cTn>
                                        <p:tgtEl>
                                          <p:spTgt spid="113"/>
                                        </p:tgtEl>
                                        <p:attrNameLst>
                                          <p:attrName>style.visibility</p:attrName>
                                        </p:attrNameLst>
                                      </p:cBhvr>
                                      <p:to>
                                        <p:strVal val="visible"/>
                                      </p:to>
                                    </p:set>
                                  </p:childTnLst>
                                </p:cTn>
                              </p:par>
                              <p:par>
                                <p:cTn id="95" presetID="1" presetClass="entr" fill="hold" nodeType="withEffect">
                                  <p:stCondLst>
                                    <p:cond delay="0"/>
                                  </p:stCondLst>
                                  <p:childTnLst>
                                    <p:set>
                                      <p:cBhvr>
                                        <p:cTn id="96" dur="1" fill="hold">
                                          <p:stCondLst>
                                            <p:cond delay="0"/>
                                          </p:stCondLst>
                                        </p:cTn>
                                        <p:tgtEl>
                                          <p:spTgt spid="114"/>
                                        </p:tgtEl>
                                        <p:attrNameLst>
                                          <p:attrName>style.visibility</p:attrName>
                                        </p:attrNameLst>
                                      </p:cBhvr>
                                      <p:to>
                                        <p:strVal val="visible"/>
                                      </p:to>
                                    </p:set>
                                  </p:childTnLst>
                                </p:cTn>
                              </p:par>
                              <p:par>
                                <p:cTn id="97" presetID="1" presetClass="entr" fill="hold" nodeType="withEffect">
                                  <p:stCondLst>
                                    <p:cond delay="0"/>
                                  </p:stCondLst>
                                  <p:childTnLst>
                                    <p:set>
                                      <p:cBhvr>
                                        <p:cTn id="98"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A"/>
        </a:solidFill>
      </p:bgPr>
    </p:bg>
    <p:spTree>
      <p:nvGrpSpPr>
        <p:cNvPr id="1" name=""/>
        <p:cNvGrpSpPr/>
        <p:nvPr/>
      </p:nvGrpSpPr>
      <p:grpSpPr>
        <a:xfrm>
          <a:off x="0" y="0"/>
          <a:ext cx="0" cy="0"/>
          <a:chOff x="0" y="0"/>
          <a:chExt cx="0" cy="0"/>
        </a:xfrm>
      </p:grpSpPr>
      <p:sp>
        <p:nvSpPr>
          <p:cNvPr id="117" name="Shape 0"/>
          <p:cNvSpPr/>
          <p:nvPr/>
        </p:nvSpPr>
        <p:spPr>
          <a:xfrm>
            <a:off x="0" y="6446520"/>
            <a:ext cx="12191040" cy="410760"/>
          </a:xfrm>
          <a:prstGeom prst="rect">
            <a:avLst/>
          </a:prstGeom>
          <a:solidFill>
            <a:srgbClr val="07182B"/>
          </a:solidFill>
          <a:ln w="12700">
            <a:solidFill>
              <a:srgbClr val="07182B"/>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118" name="Text 1"/>
          <p:cNvSpPr/>
          <p:nvPr/>
        </p:nvSpPr>
        <p:spPr>
          <a:xfrm>
            <a:off x="457200" y="6464880"/>
            <a:ext cx="27424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harness</a:t>
            </a:r>
            <a:r>
              <a:rPr lang="en-US" sz="1200" b="1" u="none" strike="noStrike">
                <a:solidFill>
                  <a:srgbClr val="00ADE4"/>
                </a:solidFill>
                <a:effectLst/>
                <a:uFillTx/>
                <a:latin typeface="Arial"/>
                <a:ea typeface="Arial"/>
              </a:rPr>
              <a:t>  FME</a:t>
            </a:r>
            <a:endParaRPr lang="en-US" sz="1200" b="0" u="none" strike="noStrike">
              <a:solidFill>
                <a:srgbClr val="000000"/>
              </a:solidFill>
              <a:effectLst/>
              <a:uFillTx/>
              <a:latin typeface="Arial"/>
            </a:endParaRPr>
          </a:p>
        </p:txBody>
      </p:sp>
      <p:sp>
        <p:nvSpPr>
          <p:cNvPr id="119" name="Text 2"/>
          <p:cNvSpPr/>
          <p:nvPr/>
        </p:nvSpPr>
        <p:spPr>
          <a:xfrm>
            <a:off x="5943600" y="6464880"/>
            <a:ext cx="5211360" cy="365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9FB3C8"/>
                </a:solidFill>
                <a:effectLst/>
                <a:uFillTx/>
                <a:latin typeface="Arial"/>
                <a:ea typeface="Arial"/>
              </a:rPr>
              <a:t>Odido × Harness  |  Confidential</a:t>
            </a:r>
            <a:endParaRPr lang="en-US" sz="900" b="0" u="none" strike="noStrike">
              <a:solidFill>
                <a:srgbClr val="000000"/>
              </a:solidFill>
              <a:effectLst/>
              <a:uFillTx/>
              <a:latin typeface="Arial"/>
            </a:endParaRPr>
          </a:p>
        </p:txBody>
      </p:sp>
      <p:sp>
        <p:nvSpPr>
          <p:cNvPr id="120" name="Text 3"/>
          <p:cNvSpPr/>
          <p:nvPr/>
        </p:nvSpPr>
        <p:spPr>
          <a:xfrm>
            <a:off x="457200" y="274320"/>
            <a:ext cx="1124640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0B1A2B"/>
                </a:solidFill>
                <a:effectLst/>
                <a:uFillTx/>
                <a:latin typeface="Arial"/>
                <a:ea typeface="Arial"/>
              </a:rPr>
              <a:t>Why Harness </a:t>
            </a:r>
            <a:r>
              <a:rPr lang="en-US" sz="2800" b="1" u="none" strike="noStrike">
                <a:solidFill>
                  <a:srgbClr val="0B1A2B"/>
                </a:solidFill>
                <a:effectLst/>
                <a:uFillTx/>
                <a:latin typeface="Arial"/>
                <a:ea typeface="Arial"/>
              </a:rPr>
              <a:t>FME</a:t>
            </a:r>
            <a:endParaRPr lang="en-US" sz="2800" b="0" u="none" strike="noStrike">
              <a:solidFill>
                <a:srgbClr val="000000"/>
              </a:solidFill>
              <a:effectLst/>
              <a:uFillTx/>
              <a:latin typeface="Arial"/>
            </a:endParaRPr>
          </a:p>
        </p:txBody>
      </p:sp>
      <p:sp>
        <p:nvSpPr>
          <p:cNvPr id="121" name="Text 4"/>
          <p:cNvSpPr/>
          <p:nvPr/>
        </p:nvSpPr>
        <p:spPr>
          <a:xfrm>
            <a:off x="457200" y="841320"/>
            <a:ext cx="1124640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B6B7F"/>
                </a:solidFill>
                <a:effectLst/>
                <a:uFillTx/>
                <a:latin typeface="Arial"/>
                <a:ea typeface="Arial"/>
              </a:rPr>
              <a:t>LaunchDarkly gives you a light </a:t>
            </a:r>
            <a:r>
              <a:rPr lang="en-US" sz="1300" b="0" i="1" u="none" strike="noStrike">
                <a:solidFill>
                  <a:srgbClr val="5B6B7F"/>
                </a:solidFill>
                <a:effectLst/>
                <a:uFillTx/>
                <a:latin typeface="Arial"/>
                <a:ea typeface="Arial"/>
              </a:rPr>
              <a:t>switch. FME gives you the </a:t>
            </a:r>
            <a:r>
              <a:rPr lang="en-US" sz="1300" b="0" i="1" u="none" strike="noStrike">
                <a:solidFill>
                  <a:srgbClr val="5B6B7F"/>
                </a:solidFill>
                <a:effectLst/>
                <a:uFillTx/>
                <a:latin typeface="Arial"/>
                <a:ea typeface="Arial"/>
              </a:rPr>
              <a:t>switch and the meter: you know </a:t>
            </a:r>
            <a:r>
              <a:rPr lang="en-US" sz="1300" b="0" i="1" u="none" strike="noStrike">
                <a:solidFill>
                  <a:srgbClr val="5B6B7F"/>
                </a:solidFill>
                <a:effectLst/>
                <a:uFillTx/>
                <a:latin typeface="Arial"/>
                <a:ea typeface="Arial"/>
              </a:rPr>
              <a:t>what every release did.</a:t>
            </a:r>
            <a:endParaRPr lang="en-US" sz="1300" b="0" u="none" strike="noStrike">
              <a:solidFill>
                <a:srgbClr val="000000"/>
              </a:solidFill>
              <a:effectLst/>
              <a:uFillTx/>
              <a:latin typeface="Arial"/>
            </a:endParaRPr>
          </a:p>
        </p:txBody>
      </p:sp>
      <p:sp>
        <p:nvSpPr>
          <p:cNvPr id="122" name="Shape 5"/>
          <p:cNvSpPr/>
          <p:nvPr/>
        </p:nvSpPr>
        <p:spPr>
          <a:xfrm>
            <a:off x="457200" y="1325880"/>
            <a:ext cx="2696760" cy="2376720"/>
          </a:xfrm>
          <a:prstGeom prst="rect">
            <a:avLst/>
          </a:prstGeom>
          <a:solidFill>
            <a:srgbClr val="FFFFFF"/>
          </a:solidFill>
          <a:ln w="9525">
            <a:solidFill>
              <a:srgbClr val="DFE6EE"/>
            </a:solidFill>
            <a:round/>
          </a:ln>
        </p:spPr>
        <p:style>
          <a:lnRef idx="0"/>
          <a:fillRef idx="0"/>
          <a:effectRef idx="0"/>
          <a:fontRef idx="minor"/>
        </p:style>
        <p:txBody>
          <a:bodyPr lIns="90000" tIns="45000" rIns="90000" bIns="45000" anchor="t">
            <a:noAutofit/>
          </a:bodyPr>
          <a:p>
            <a:pPr>
              <a:lnSpc>
                <a:spcPct val="100000"/>
              </a:lnSpc>
            </a:pPr>
            <a:endParaRPr lang="en-US" sz="1800" b="0" u="none" strike="noStrike">
              <a:solidFill>
                <a:schemeClr val="dk1"/>
              </a:solidFill>
              <a:effectLst/>
              <a:uFillTx/>
              <a:latin typeface="Calibri"/>
            </a:endParaRPr>
          </a:p>
        </p:txBody>
      </p:sp>
      <p:sp>
        <p:nvSpPr>
          <p:cNvPr id="123" name="Shape 6"/>
          <p:cNvSpPr/>
          <p:nvPr/>
        </p:nvSpPr>
        <p:spPr>
          <a:xfrm>
            <a:off x="457200" y="1325880"/>
            <a:ext cx="2696760" cy="54000"/>
          </a:xfrm>
          <a:prstGeom prst="rect">
            <a:avLst/>
          </a:prstGeom>
          <a:solidFill>
            <a:srgbClr val="0278D5"/>
          </a:solidFill>
          <a:ln w="12700">
            <a:solidFill>
              <a:srgbClr val="0278D5"/>
            </a:solidFill>
            <a:round/>
          </a:ln>
        </p:spPr>
        <p:style>
          <a:lnRef idx="0"/>
          <a:fillRef idx="0"/>
          <a:effectRef idx="0"/>
          <a:fontRef idx="minor"/>
        </p:style>
        <p:txBody>
          <a:bodyPr lIns="90000" tIns="9720" rIns="90000" bIns="9720" anchor="t">
            <a:noAutofit/>
          </a:bodyPr>
          <a:p>
            <a:pPr>
              <a:lnSpc>
                <a:spcPct val="100000"/>
              </a:lnSpc>
            </a:pPr>
            <a:endParaRPr lang="en-US" sz="1800" b="0" u="none" strike="noStrike">
              <a:solidFill>
                <a:schemeClr val="dk1"/>
              </a:solidFill>
              <a:effectLst/>
              <a:uFillTx/>
              <a:latin typeface="Calibri"/>
            </a:endParaRPr>
          </a:p>
        </p:txBody>
      </p:sp>
      <p:sp>
        <p:nvSpPr>
          <p:cNvPr id="124" name="Text 7"/>
          <p:cNvSpPr/>
          <p:nvPr/>
        </p:nvSpPr>
        <p:spPr>
          <a:xfrm>
            <a:off x="640080" y="1454040"/>
            <a:ext cx="233100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99" strike="noStrike">
                <a:solidFill>
                  <a:srgbClr val="0278D5"/>
                </a:solidFill>
                <a:effectLst/>
                <a:uFillTx/>
                <a:latin typeface="Arial"/>
                <a:ea typeface="Arial"/>
              </a:rPr>
              <a:t>MEASURE EVERY RELEASE</a:t>
            </a:r>
            <a:endParaRPr lang="en-US" sz="1100" b="0" u="none" strike="noStrike">
              <a:solidFill>
                <a:srgbClr val="000000"/>
              </a:solidFill>
              <a:effectLst/>
              <a:uFillTx/>
              <a:latin typeface="Arial"/>
            </a:endParaRPr>
          </a:p>
        </p:txBody>
      </p:sp>
      <p:sp>
        <p:nvSpPr>
          <p:cNvPr id="125" name="Text 8"/>
          <p:cNvSpPr/>
          <p:nvPr/>
        </p:nvSpPr>
        <p:spPr>
          <a:xfrm>
            <a:off x="640080" y="1737360"/>
            <a:ext cx="237672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B1A2B"/>
                </a:solidFill>
                <a:effectLst/>
                <a:uFillTx/>
                <a:latin typeface="Arial"/>
                <a:ea typeface="Arial"/>
              </a:rPr>
              <a:t>Impact per flag</a:t>
            </a:r>
            <a:endParaRPr lang="en-US" sz="1600" b="0" u="none" strike="noStrike">
              <a:solidFill>
                <a:srgbClr val="000000"/>
              </a:solidFill>
              <a:effectLst/>
              <a:uFillTx/>
              <a:latin typeface="Arial"/>
            </a:endParaRPr>
          </a:p>
        </p:txBody>
      </p:sp>
      <p:sp>
        <p:nvSpPr>
          <p:cNvPr id="126" name="Text 9"/>
          <p:cNvSpPr/>
          <p:nvPr/>
        </p:nvSpPr>
        <p:spPr>
          <a:xfrm>
            <a:off x="640080" y="2176200"/>
            <a:ext cx="2376720" cy="1462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2B3947"/>
                </a:solidFill>
                <a:effectLst/>
                <a:uFillTx/>
                <a:latin typeface="Arial"/>
                <a:ea typeface="Arial"/>
              </a:rPr>
              <a:t>Every flag gets a scorecard: conversion, revenue, errors, latency, compared by treatment with statistical significance.</a:t>
            </a:r>
            <a:endParaRPr lang="en-US" sz="1300" b="0" u="none" strike="noStrike">
              <a:solidFill>
                <a:srgbClr val="000000"/>
              </a:solidFill>
              <a:effectLst/>
              <a:uFillTx/>
              <a:latin typeface="Arial"/>
            </a:endParaRPr>
          </a:p>
        </p:txBody>
      </p:sp>
      <p:sp>
        <p:nvSpPr>
          <p:cNvPr id="127" name="Shape 10"/>
          <p:cNvSpPr/>
          <p:nvPr/>
        </p:nvSpPr>
        <p:spPr>
          <a:xfrm>
            <a:off x="3291840" y="1325880"/>
            <a:ext cx="2696760" cy="2376720"/>
          </a:xfrm>
          <a:prstGeom prst="rect">
            <a:avLst/>
          </a:prstGeom>
          <a:solidFill>
            <a:srgbClr val="FFFFFF"/>
          </a:solidFill>
          <a:ln w="9525">
            <a:solidFill>
              <a:srgbClr val="DFE6EE"/>
            </a:solidFill>
            <a:round/>
          </a:ln>
        </p:spPr>
        <p:style>
          <a:lnRef idx="0"/>
          <a:fillRef idx="0"/>
          <a:effectRef idx="0"/>
          <a:fontRef idx="minor"/>
        </p:style>
        <p:txBody>
          <a:bodyPr lIns="90000" tIns="45000" rIns="90000" bIns="45000" anchor="t">
            <a:noAutofit/>
          </a:bodyPr>
          <a:p>
            <a:pPr>
              <a:lnSpc>
                <a:spcPct val="100000"/>
              </a:lnSpc>
            </a:pPr>
            <a:endParaRPr lang="en-US" sz="1800" b="0" u="none" strike="noStrike">
              <a:solidFill>
                <a:schemeClr val="dk1"/>
              </a:solidFill>
              <a:effectLst/>
              <a:uFillTx/>
              <a:latin typeface="Calibri"/>
            </a:endParaRPr>
          </a:p>
        </p:txBody>
      </p:sp>
      <p:sp>
        <p:nvSpPr>
          <p:cNvPr id="128" name="Shape 11"/>
          <p:cNvSpPr/>
          <p:nvPr/>
        </p:nvSpPr>
        <p:spPr>
          <a:xfrm>
            <a:off x="3291840" y="1325880"/>
            <a:ext cx="2696760" cy="54000"/>
          </a:xfrm>
          <a:prstGeom prst="rect">
            <a:avLst/>
          </a:prstGeom>
          <a:solidFill>
            <a:srgbClr val="7D4DD3"/>
          </a:solidFill>
          <a:ln w="12700">
            <a:solidFill>
              <a:srgbClr val="7D4DD3"/>
            </a:solidFill>
            <a:round/>
          </a:ln>
        </p:spPr>
        <p:style>
          <a:lnRef idx="0"/>
          <a:fillRef idx="0"/>
          <a:effectRef idx="0"/>
          <a:fontRef idx="minor"/>
        </p:style>
        <p:txBody>
          <a:bodyPr lIns="90000" tIns="9720" rIns="90000" bIns="9720" anchor="t">
            <a:noAutofit/>
          </a:bodyPr>
          <a:p>
            <a:pPr>
              <a:lnSpc>
                <a:spcPct val="100000"/>
              </a:lnSpc>
            </a:pPr>
            <a:endParaRPr lang="en-US" sz="1800" b="0" u="none" strike="noStrike">
              <a:solidFill>
                <a:schemeClr val="dk1"/>
              </a:solidFill>
              <a:effectLst/>
              <a:uFillTx/>
              <a:latin typeface="Calibri"/>
            </a:endParaRPr>
          </a:p>
        </p:txBody>
      </p:sp>
      <p:sp>
        <p:nvSpPr>
          <p:cNvPr id="129" name="Text 12"/>
          <p:cNvSpPr/>
          <p:nvPr/>
        </p:nvSpPr>
        <p:spPr>
          <a:xfrm>
            <a:off x="3474720" y="1454040"/>
            <a:ext cx="233100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99" strike="noStrike">
                <a:solidFill>
                  <a:srgbClr val="7D4DD3"/>
                </a:solidFill>
                <a:effectLst/>
                <a:uFillTx/>
                <a:latin typeface="Arial"/>
                <a:ea typeface="Arial"/>
              </a:rPr>
              <a:t>EXPERIMENT BUILT IN</a:t>
            </a:r>
            <a:endParaRPr lang="en-US" sz="1100" b="0" u="none" strike="noStrike">
              <a:solidFill>
                <a:srgbClr val="000000"/>
              </a:solidFill>
              <a:effectLst/>
              <a:uFillTx/>
              <a:latin typeface="Arial"/>
            </a:endParaRPr>
          </a:p>
        </p:txBody>
      </p:sp>
      <p:sp>
        <p:nvSpPr>
          <p:cNvPr id="130" name="Text 13"/>
          <p:cNvSpPr/>
          <p:nvPr/>
        </p:nvSpPr>
        <p:spPr>
          <a:xfrm>
            <a:off x="3474720" y="1737360"/>
            <a:ext cx="237672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B1A2B"/>
                </a:solidFill>
                <a:effectLst/>
                <a:uFillTx/>
                <a:latin typeface="Arial"/>
                <a:ea typeface="Arial"/>
              </a:rPr>
              <a:t>Same flag, same events</a:t>
            </a:r>
            <a:endParaRPr lang="en-US" sz="1600" b="0" u="none" strike="noStrike">
              <a:solidFill>
                <a:srgbClr val="000000"/>
              </a:solidFill>
              <a:effectLst/>
              <a:uFillTx/>
              <a:latin typeface="Arial"/>
            </a:endParaRPr>
          </a:p>
        </p:txBody>
      </p:sp>
      <p:sp>
        <p:nvSpPr>
          <p:cNvPr id="131" name="Text 14"/>
          <p:cNvSpPr/>
          <p:nvPr/>
        </p:nvSpPr>
        <p:spPr>
          <a:xfrm>
            <a:off x="3474720" y="2176200"/>
            <a:ext cx="2376720" cy="1462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2B3947"/>
                </a:solidFill>
                <a:effectLst/>
                <a:uFillTx/>
                <a:latin typeface="Arial"/>
                <a:ea typeface="Arial"/>
              </a:rPr>
              <a:t>A/B/n tests with a stats engine, guardrails and dimensional analysis. No separate tool, no manual readout.</a:t>
            </a:r>
            <a:endParaRPr lang="en-US" sz="1300" b="0" u="none" strike="noStrike">
              <a:solidFill>
                <a:srgbClr val="000000"/>
              </a:solidFill>
              <a:effectLst/>
              <a:uFillTx/>
              <a:latin typeface="Arial"/>
            </a:endParaRPr>
          </a:p>
        </p:txBody>
      </p:sp>
      <p:sp>
        <p:nvSpPr>
          <p:cNvPr id="132" name="Shape 15"/>
          <p:cNvSpPr/>
          <p:nvPr/>
        </p:nvSpPr>
        <p:spPr>
          <a:xfrm>
            <a:off x="6126480" y="1325880"/>
            <a:ext cx="2696760" cy="2376720"/>
          </a:xfrm>
          <a:prstGeom prst="rect">
            <a:avLst/>
          </a:prstGeom>
          <a:solidFill>
            <a:srgbClr val="FFFFFF"/>
          </a:solidFill>
          <a:ln w="9525">
            <a:solidFill>
              <a:srgbClr val="DFE6EE"/>
            </a:solidFill>
            <a:round/>
          </a:ln>
        </p:spPr>
        <p:style>
          <a:lnRef idx="0"/>
          <a:fillRef idx="0"/>
          <a:effectRef idx="0"/>
          <a:fontRef idx="minor"/>
        </p:style>
        <p:txBody>
          <a:bodyPr lIns="90000" tIns="45000" rIns="90000" bIns="45000" anchor="t">
            <a:noAutofit/>
          </a:bodyPr>
          <a:p>
            <a:pPr>
              <a:lnSpc>
                <a:spcPct val="100000"/>
              </a:lnSpc>
            </a:pPr>
            <a:endParaRPr lang="en-US" sz="1800" b="0" u="none" strike="noStrike">
              <a:solidFill>
                <a:schemeClr val="dk1"/>
              </a:solidFill>
              <a:effectLst/>
              <a:uFillTx/>
              <a:latin typeface="Calibri"/>
            </a:endParaRPr>
          </a:p>
        </p:txBody>
      </p:sp>
      <p:sp>
        <p:nvSpPr>
          <p:cNvPr id="133" name="Shape 16"/>
          <p:cNvSpPr/>
          <p:nvPr/>
        </p:nvSpPr>
        <p:spPr>
          <a:xfrm>
            <a:off x="6126480" y="1325880"/>
            <a:ext cx="2696760" cy="54000"/>
          </a:xfrm>
          <a:prstGeom prst="rect">
            <a:avLst/>
          </a:prstGeom>
          <a:solidFill>
            <a:srgbClr val="00ADE4"/>
          </a:solidFill>
          <a:ln w="12700">
            <a:solidFill>
              <a:srgbClr val="00ADE4"/>
            </a:solidFill>
            <a:round/>
          </a:ln>
        </p:spPr>
        <p:style>
          <a:lnRef idx="0"/>
          <a:fillRef idx="0"/>
          <a:effectRef idx="0"/>
          <a:fontRef idx="minor"/>
        </p:style>
        <p:txBody>
          <a:bodyPr lIns="90000" tIns="9720" rIns="90000" bIns="9720" anchor="t">
            <a:noAutofit/>
          </a:bodyPr>
          <a:p>
            <a:pPr>
              <a:lnSpc>
                <a:spcPct val="100000"/>
              </a:lnSpc>
            </a:pPr>
            <a:endParaRPr lang="en-US" sz="1800" b="0" u="none" strike="noStrike">
              <a:solidFill>
                <a:schemeClr val="dk1"/>
              </a:solidFill>
              <a:effectLst/>
              <a:uFillTx/>
              <a:latin typeface="Calibri"/>
            </a:endParaRPr>
          </a:p>
        </p:txBody>
      </p:sp>
      <p:sp>
        <p:nvSpPr>
          <p:cNvPr id="134" name="Text 17"/>
          <p:cNvSpPr/>
          <p:nvPr/>
        </p:nvSpPr>
        <p:spPr>
          <a:xfrm>
            <a:off x="6309360" y="1454040"/>
            <a:ext cx="233100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99" strike="noStrike">
                <a:solidFill>
                  <a:srgbClr val="00ADE4"/>
                </a:solidFill>
                <a:effectLst/>
                <a:uFillTx/>
                <a:latin typeface="Arial"/>
                <a:ea typeface="Arial"/>
              </a:rPr>
              <a:t>SAFE BY DESIGN</a:t>
            </a:r>
            <a:endParaRPr lang="en-US" sz="1100" b="0" u="none" strike="noStrike">
              <a:solidFill>
                <a:srgbClr val="000000"/>
              </a:solidFill>
              <a:effectLst/>
              <a:uFillTx/>
              <a:latin typeface="Arial"/>
            </a:endParaRPr>
          </a:p>
        </p:txBody>
      </p:sp>
      <p:sp>
        <p:nvSpPr>
          <p:cNvPr id="135" name="Text 18"/>
          <p:cNvSpPr/>
          <p:nvPr/>
        </p:nvSpPr>
        <p:spPr>
          <a:xfrm>
            <a:off x="6309360" y="1737360"/>
            <a:ext cx="237672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B1A2B"/>
                </a:solidFill>
                <a:effectLst/>
                <a:uFillTx/>
                <a:latin typeface="Arial"/>
                <a:ea typeface="Arial"/>
              </a:rPr>
              <a:t>Fast and private</a:t>
            </a:r>
            <a:endParaRPr lang="en-US" sz="1600" b="0" u="none" strike="noStrike">
              <a:solidFill>
                <a:srgbClr val="000000"/>
              </a:solidFill>
              <a:effectLst/>
              <a:uFillTx/>
              <a:latin typeface="Arial"/>
            </a:endParaRPr>
          </a:p>
        </p:txBody>
      </p:sp>
      <p:sp>
        <p:nvSpPr>
          <p:cNvPr id="136" name="Text 19"/>
          <p:cNvSpPr/>
          <p:nvPr/>
        </p:nvSpPr>
        <p:spPr>
          <a:xfrm>
            <a:off x="6309360" y="2176200"/>
            <a:ext cx="2376720" cy="1462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2B3947"/>
                </a:solidFill>
                <a:effectLst/>
                <a:uFillTx/>
                <a:latin typeface="Arial"/>
                <a:ea typeface="Arial"/>
              </a:rPr>
              <a:t>Rules cached on the device, evaluation in microseconds, no PII sent, safe fallback if Harness is unreachable.</a:t>
            </a:r>
            <a:endParaRPr lang="en-US" sz="1300" b="0" u="none" strike="noStrike">
              <a:solidFill>
                <a:srgbClr val="000000"/>
              </a:solidFill>
              <a:effectLst/>
              <a:uFillTx/>
              <a:latin typeface="Arial"/>
            </a:endParaRPr>
          </a:p>
        </p:txBody>
      </p:sp>
      <p:sp>
        <p:nvSpPr>
          <p:cNvPr id="137" name="Shape 20"/>
          <p:cNvSpPr/>
          <p:nvPr/>
        </p:nvSpPr>
        <p:spPr>
          <a:xfrm>
            <a:off x="8961120" y="1325880"/>
            <a:ext cx="2696760" cy="2376720"/>
          </a:xfrm>
          <a:prstGeom prst="rect">
            <a:avLst/>
          </a:prstGeom>
          <a:solidFill>
            <a:srgbClr val="FFFFFF"/>
          </a:solidFill>
          <a:ln w="9525">
            <a:solidFill>
              <a:srgbClr val="DFE6EE"/>
            </a:solidFill>
            <a:round/>
          </a:ln>
        </p:spPr>
        <p:style>
          <a:lnRef idx="0"/>
          <a:fillRef idx="0"/>
          <a:effectRef idx="0"/>
          <a:fontRef idx="minor"/>
        </p:style>
        <p:txBody>
          <a:bodyPr lIns="90000" tIns="45000" rIns="90000" bIns="45000" anchor="t">
            <a:noAutofit/>
          </a:bodyPr>
          <a:p>
            <a:pPr>
              <a:lnSpc>
                <a:spcPct val="100000"/>
              </a:lnSpc>
            </a:pPr>
            <a:endParaRPr lang="en-US" sz="1800" b="0" u="none" strike="noStrike">
              <a:solidFill>
                <a:schemeClr val="dk1"/>
              </a:solidFill>
              <a:effectLst/>
              <a:uFillTx/>
              <a:latin typeface="Calibri"/>
            </a:endParaRPr>
          </a:p>
        </p:txBody>
      </p:sp>
      <p:sp>
        <p:nvSpPr>
          <p:cNvPr id="138" name="Shape 21"/>
          <p:cNvSpPr/>
          <p:nvPr/>
        </p:nvSpPr>
        <p:spPr>
          <a:xfrm>
            <a:off x="8961120" y="1325880"/>
            <a:ext cx="2696760" cy="54000"/>
          </a:xfrm>
          <a:prstGeom prst="rect">
            <a:avLst/>
          </a:prstGeom>
          <a:solidFill>
            <a:srgbClr val="1FA971"/>
          </a:solidFill>
          <a:ln w="12700">
            <a:solidFill>
              <a:srgbClr val="1FA971"/>
            </a:solidFill>
            <a:round/>
          </a:ln>
        </p:spPr>
        <p:style>
          <a:lnRef idx="0"/>
          <a:fillRef idx="0"/>
          <a:effectRef idx="0"/>
          <a:fontRef idx="minor"/>
        </p:style>
        <p:txBody>
          <a:bodyPr lIns="90000" tIns="9720" rIns="90000" bIns="9720" anchor="t">
            <a:noAutofit/>
          </a:bodyPr>
          <a:p>
            <a:pPr>
              <a:lnSpc>
                <a:spcPct val="100000"/>
              </a:lnSpc>
            </a:pPr>
            <a:endParaRPr lang="en-US" sz="1800" b="0" u="none" strike="noStrike">
              <a:solidFill>
                <a:schemeClr val="dk1"/>
              </a:solidFill>
              <a:effectLst/>
              <a:uFillTx/>
              <a:latin typeface="Calibri"/>
            </a:endParaRPr>
          </a:p>
        </p:txBody>
      </p:sp>
      <p:sp>
        <p:nvSpPr>
          <p:cNvPr id="139" name="Text 22"/>
          <p:cNvSpPr/>
          <p:nvPr/>
        </p:nvSpPr>
        <p:spPr>
          <a:xfrm>
            <a:off x="9144000" y="1454040"/>
            <a:ext cx="233100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99" strike="noStrike">
                <a:solidFill>
                  <a:srgbClr val="1FA971"/>
                </a:solidFill>
                <a:effectLst/>
                <a:uFillTx/>
                <a:latin typeface="Arial"/>
                <a:ea typeface="Arial"/>
              </a:rPr>
              <a:t>ONE PLATFORM</a:t>
            </a:r>
            <a:endParaRPr lang="en-US" sz="1100" b="0" u="none" strike="noStrike">
              <a:solidFill>
                <a:srgbClr val="000000"/>
              </a:solidFill>
              <a:effectLst/>
              <a:uFillTx/>
              <a:latin typeface="Arial"/>
            </a:endParaRPr>
          </a:p>
        </p:txBody>
      </p:sp>
      <p:sp>
        <p:nvSpPr>
          <p:cNvPr id="140" name="Text 23"/>
          <p:cNvSpPr/>
          <p:nvPr/>
        </p:nvSpPr>
        <p:spPr>
          <a:xfrm>
            <a:off x="9144000" y="1737360"/>
            <a:ext cx="237672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1" u="none" strike="noStrike">
                <a:solidFill>
                  <a:srgbClr val="0B1A2B"/>
                </a:solidFill>
                <a:effectLst/>
                <a:uFillTx/>
                <a:latin typeface="Arial"/>
                <a:ea typeface="Arial"/>
              </a:rPr>
              <a:t>Release end to end</a:t>
            </a:r>
            <a:endParaRPr lang="en-US" sz="1600" b="0" u="none" strike="noStrike">
              <a:solidFill>
                <a:srgbClr val="000000"/>
              </a:solidFill>
              <a:effectLst/>
              <a:uFillTx/>
              <a:latin typeface="Arial"/>
            </a:endParaRPr>
          </a:p>
        </p:txBody>
      </p:sp>
      <p:sp>
        <p:nvSpPr>
          <p:cNvPr id="141" name="Text 24"/>
          <p:cNvSpPr/>
          <p:nvPr/>
        </p:nvSpPr>
        <p:spPr>
          <a:xfrm>
            <a:off x="9144000" y="2176200"/>
            <a:ext cx="2376720" cy="1462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300" b="0" u="none" strike="noStrike">
                <a:solidFill>
                  <a:srgbClr val="2B3947"/>
                </a:solidFill>
                <a:effectLst/>
                <a:uFillTx/>
                <a:latin typeface="Arial"/>
                <a:ea typeface="Arial"/>
              </a:rPr>
              <a:t>Part of Harness CI/CD: pipelines can verify releases and kill flags automatically. OpenFeature, SSO, RBAC, audit log.</a:t>
            </a:r>
            <a:endParaRPr lang="en-US" sz="1300" b="0" u="none" strike="noStrike">
              <a:solidFill>
                <a:srgbClr val="000000"/>
              </a:solidFill>
              <a:effectLst/>
              <a:uFillTx/>
              <a:latin typeface="Arial"/>
            </a:endParaRPr>
          </a:p>
        </p:txBody>
      </p:sp>
      <p:sp>
        <p:nvSpPr>
          <p:cNvPr id="142" name="Shape 25"/>
          <p:cNvSpPr/>
          <p:nvPr/>
        </p:nvSpPr>
        <p:spPr>
          <a:xfrm>
            <a:off x="457200" y="3840480"/>
            <a:ext cx="5531400" cy="2468160"/>
          </a:xfrm>
          <a:prstGeom prst="rect">
            <a:avLst/>
          </a:prstGeom>
          <a:solidFill>
            <a:srgbClr val="FFFFFF"/>
          </a:solidFill>
          <a:ln w="9525">
            <a:solidFill>
              <a:srgbClr val="DFE6EE"/>
            </a:solidFill>
            <a:round/>
          </a:ln>
        </p:spPr>
        <p:style>
          <a:lnRef idx="0"/>
          <a:fillRef idx="0"/>
          <a:effectRef idx="0"/>
          <a:fontRef idx="minor"/>
        </p:style>
        <p:txBody>
          <a:bodyPr lIns="90000" tIns="45000" rIns="90000" bIns="45000" anchor="t">
            <a:noAutofit/>
          </a:bodyPr>
          <a:p>
            <a:pPr>
              <a:lnSpc>
                <a:spcPct val="100000"/>
              </a:lnSpc>
            </a:pPr>
            <a:endParaRPr lang="en-US" sz="1800" b="0" u="none" strike="noStrike">
              <a:solidFill>
                <a:schemeClr val="dk1"/>
              </a:solidFill>
              <a:effectLst/>
              <a:uFillTx/>
              <a:latin typeface="Calibri"/>
            </a:endParaRPr>
          </a:p>
        </p:txBody>
      </p:sp>
      <p:sp>
        <p:nvSpPr>
          <p:cNvPr id="143" name="Shape 26"/>
          <p:cNvSpPr/>
          <p:nvPr/>
        </p:nvSpPr>
        <p:spPr>
          <a:xfrm>
            <a:off x="457200" y="3840480"/>
            <a:ext cx="5531400" cy="54000"/>
          </a:xfrm>
          <a:prstGeom prst="rect">
            <a:avLst/>
          </a:prstGeom>
          <a:solidFill>
            <a:srgbClr val="07182B"/>
          </a:solidFill>
          <a:ln w="12700">
            <a:solidFill>
              <a:srgbClr val="07182B"/>
            </a:solidFill>
            <a:round/>
          </a:ln>
        </p:spPr>
        <p:style>
          <a:lnRef idx="0"/>
          <a:fillRef idx="0"/>
          <a:effectRef idx="0"/>
          <a:fontRef idx="minor"/>
        </p:style>
        <p:txBody>
          <a:bodyPr lIns="90000" tIns="9720" rIns="90000" bIns="9720" anchor="t">
            <a:noAutofit/>
          </a:bodyPr>
          <a:p>
            <a:pPr>
              <a:lnSpc>
                <a:spcPct val="100000"/>
              </a:lnSpc>
            </a:pPr>
            <a:endParaRPr lang="en-US" sz="1800" b="0" u="none" strike="noStrike">
              <a:solidFill>
                <a:schemeClr val="dk1"/>
              </a:solidFill>
              <a:effectLst/>
              <a:uFillTx/>
              <a:latin typeface="Calibri"/>
            </a:endParaRPr>
          </a:p>
        </p:txBody>
      </p:sp>
      <p:sp>
        <p:nvSpPr>
          <p:cNvPr id="144" name="Text 27"/>
          <p:cNvSpPr/>
          <p:nvPr/>
        </p:nvSpPr>
        <p:spPr>
          <a:xfrm>
            <a:off x="640080" y="3968640"/>
            <a:ext cx="516564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99" strike="noStrike">
                <a:solidFill>
                  <a:srgbClr val="07182B"/>
                </a:solidFill>
                <a:effectLst/>
                <a:uFillTx/>
                <a:latin typeface="Arial"/>
                <a:ea typeface="Arial"/>
              </a:rPr>
              <a:t>HOW IT WORKS</a:t>
            </a:r>
            <a:endParaRPr lang="en-US" sz="1100" b="0" u="none" strike="noStrike">
              <a:solidFill>
                <a:srgbClr val="000000"/>
              </a:solidFill>
              <a:effectLst/>
              <a:uFillTx/>
              <a:latin typeface="Arial"/>
            </a:endParaRPr>
          </a:p>
        </p:txBody>
      </p:sp>
      <p:sp>
        <p:nvSpPr>
          <p:cNvPr id="145" name="Text 28"/>
          <p:cNvSpPr/>
          <p:nvPr/>
        </p:nvSpPr>
        <p:spPr>
          <a:xfrm>
            <a:off x="640080" y="4251960"/>
            <a:ext cx="5211360" cy="19652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601"/>
              </a:spcAft>
              <a:buClr>
                <a:srgbClr val="0B1A2B"/>
              </a:buClr>
              <a:buFont typeface="OpenSymbol"/>
              <a:buChar char="▪"/>
            </a:pPr>
            <a:r>
              <a:rPr lang="en-US" sz="1250" b="1" u="none" strike="noStrike">
                <a:solidFill>
                  <a:srgbClr val="0B1A2B"/>
                </a:solidFill>
                <a:effectLst/>
                <a:uFillTx/>
                <a:latin typeface="Arial"/>
                <a:ea typeface="Arial"/>
              </a:rPr>
              <a:t>Rules arrive once: </a:t>
            </a:r>
            <a:r>
              <a:rPr lang="en-US" sz="1250" b="0" u="none" strike="noStrike">
                <a:solidFill>
                  <a:srgbClr val="2B3947"/>
                </a:solidFill>
                <a:effectLst/>
                <a:uFillTx/>
                <a:latin typeface="Arial"/>
                <a:ea typeface="Arial"/>
              </a:rPr>
              <a:t>the SDK caches rollout rules; changes stream in seconds.</a:t>
            </a:r>
            <a:endParaRPr lang="en-US" sz="1250" b="0" u="none" strike="noStrike">
              <a:solidFill>
                <a:srgbClr val="000000"/>
              </a:solidFill>
              <a:effectLst/>
              <a:uFillTx/>
              <a:latin typeface="Arial"/>
            </a:endParaRPr>
          </a:p>
          <a:p>
            <a:pPr marL="343080" indent="-343080" defTabSz="914400">
              <a:lnSpc>
                <a:spcPct val="100000"/>
              </a:lnSpc>
              <a:spcAft>
                <a:spcPts val="601"/>
              </a:spcAft>
              <a:buClr>
                <a:srgbClr val="0B1A2B"/>
              </a:buClr>
              <a:buFont typeface="OpenSymbol"/>
              <a:buChar char="▪"/>
            </a:pPr>
            <a:r>
              <a:rPr lang="en-US" sz="1250" b="1" u="none" strike="noStrike">
                <a:solidFill>
                  <a:srgbClr val="0B1A2B"/>
                </a:solidFill>
                <a:effectLst/>
                <a:uFillTx/>
                <a:latin typeface="Arial"/>
                <a:ea typeface="Arial"/>
              </a:rPr>
              <a:t>Decide on the device: </a:t>
            </a:r>
            <a:r>
              <a:rPr lang="en-US" sz="1250" b="0" u="none" strike="noStrike">
                <a:solidFill>
                  <a:srgbClr val="2B3947"/>
                </a:solidFill>
                <a:effectLst/>
                <a:uFillTx/>
                <a:latin typeface="Arial"/>
                <a:ea typeface="Arial"/>
              </a:rPr>
              <a:t>no network call per flag; city, plan and app version never leave the app.</a:t>
            </a:r>
            <a:endParaRPr lang="en-US" sz="1250" b="0" u="none" strike="noStrike">
              <a:solidFill>
                <a:srgbClr val="000000"/>
              </a:solidFill>
              <a:effectLst/>
              <a:uFillTx/>
              <a:latin typeface="Arial"/>
            </a:endParaRPr>
          </a:p>
          <a:p>
            <a:pPr marL="343080" indent="-343080" defTabSz="914400">
              <a:lnSpc>
                <a:spcPct val="100000"/>
              </a:lnSpc>
              <a:spcAft>
                <a:spcPts val="601"/>
              </a:spcAft>
              <a:buClr>
                <a:srgbClr val="0B1A2B"/>
              </a:buClr>
              <a:buFont typeface="OpenSymbol"/>
              <a:buChar char="▪"/>
            </a:pPr>
            <a:r>
              <a:rPr lang="en-US" sz="1250" b="1" u="none" strike="noStrike">
                <a:solidFill>
                  <a:srgbClr val="0B1A2B"/>
                </a:solidFill>
                <a:effectLst/>
                <a:uFillTx/>
                <a:latin typeface="Arial"/>
                <a:ea typeface="Arial"/>
              </a:rPr>
              <a:t>Results flow back: </a:t>
            </a:r>
            <a:r>
              <a:rPr lang="en-US" sz="1250" b="0" u="none" strike="noStrike">
                <a:solidFill>
                  <a:srgbClr val="2B3947"/>
                </a:solidFill>
                <a:effectLst/>
                <a:uFillTx/>
                <a:latin typeface="Arial"/>
                <a:ea typeface="Arial"/>
              </a:rPr>
              <a:t>who saw what, plus events from the SDK, your CDP or warehouse.</a:t>
            </a:r>
            <a:endParaRPr lang="en-US" sz="1250" b="0" u="none" strike="noStrike">
              <a:solidFill>
                <a:srgbClr val="000000"/>
              </a:solidFill>
              <a:effectLst/>
              <a:uFillTx/>
              <a:latin typeface="Arial"/>
            </a:endParaRPr>
          </a:p>
          <a:p>
            <a:pPr marL="343080" indent="-343080" defTabSz="914400">
              <a:lnSpc>
                <a:spcPct val="100000"/>
              </a:lnSpc>
              <a:spcAft>
                <a:spcPts val="601"/>
              </a:spcAft>
              <a:buClr>
                <a:srgbClr val="0B1A2B"/>
              </a:buClr>
              <a:buFont typeface="OpenSymbol"/>
              <a:buChar char="▪"/>
            </a:pPr>
            <a:r>
              <a:rPr lang="en-US" sz="1250" b="1" u="none" strike="noStrike">
                <a:solidFill>
                  <a:srgbClr val="0B1A2B"/>
                </a:solidFill>
                <a:effectLst/>
                <a:uFillTx/>
                <a:latin typeface="Arial"/>
                <a:ea typeface="Arial"/>
              </a:rPr>
              <a:t>FME does the maths: </a:t>
            </a:r>
            <a:r>
              <a:rPr lang="en-US" sz="1250" b="0" u="none" strike="noStrike">
                <a:solidFill>
                  <a:srgbClr val="2B3947"/>
                </a:solidFill>
                <a:effectLst/>
                <a:uFillTx/>
                <a:latin typeface="Arial"/>
                <a:ea typeface="Arial"/>
              </a:rPr>
              <a:t>impact per flag, guardrail alerts, experiment readouts, Slack and Jira.</a:t>
            </a:r>
            <a:endParaRPr lang="en-US" sz="1250" b="0" u="none" strike="noStrike">
              <a:solidFill>
                <a:srgbClr val="000000"/>
              </a:solidFill>
              <a:effectLst/>
              <a:uFillTx/>
              <a:latin typeface="Arial"/>
            </a:endParaRPr>
          </a:p>
        </p:txBody>
      </p:sp>
      <p:sp>
        <p:nvSpPr>
          <p:cNvPr id="146" name="Shape 29"/>
          <p:cNvSpPr/>
          <p:nvPr/>
        </p:nvSpPr>
        <p:spPr>
          <a:xfrm>
            <a:off x="6172200" y="3840480"/>
            <a:ext cx="5531400" cy="2468160"/>
          </a:xfrm>
          <a:prstGeom prst="rect">
            <a:avLst/>
          </a:prstGeom>
          <a:solidFill>
            <a:srgbClr val="FFFFFF"/>
          </a:solidFill>
          <a:ln w="9525">
            <a:solidFill>
              <a:srgbClr val="DFE6EE"/>
            </a:solidFill>
            <a:round/>
          </a:ln>
        </p:spPr>
        <p:style>
          <a:lnRef idx="0"/>
          <a:fillRef idx="0"/>
          <a:effectRef idx="0"/>
          <a:fontRef idx="minor"/>
        </p:style>
        <p:txBody>
          <a:bodyPr lIns="90000" tIns="45000" rIns="90000" bIns="45000" anchor="t">
            <a:noAutofit/>
          </a:bodyPr>
          <a:p>
            <a:pPr>
              <a:lnSpc>
                <a:spcPct val="100000"/>
              </a:lnSpc>
            </a:pPr>
            <a:endParaRPr lang="en-US" sz="1800" b="0" u="none" strike="noStrike">
              <a:solidFill>
                <a:schemeClr val="dk1"/>
              </a:solidFill>
              <a:effectLst/>
              <a:uFillTx/>
              <a:latin typeface="Calibri"/>
            </a:endParaRPr>
          </a:p>
        </p:txBody>
      </p:sp>
      <p:sp>
        <p:nvSpPr>
          <p:cNvPr id="147" name="Shape 30"/>
          <p:cNvSpPr/>
          <p:nvPr/>
        </p:nvSpPr>
        <p:spPr>
          <a:xfrm>
            <a:off x="6172200" y="3840480"/>
            <a:ext cx="5531400" cy="54000"/>
          </a:xfrm>
          <a:prstGeom prst="rect">
            <a:avLst/>
          </a:prstGeom>
          <a:solidFill>
            <a:srgbClr val="E79A00"/>
          </a:solidFill>
          <a:ln w="12700">
            <a:solidFill>
              <a:srgbClr val="E79A00"/>
            </a:solidFill>
            <a:round/>
          </a:ln>
        </p:spPr>
        <p:style>
          <a:lnRef idx="0"/>
          <a:fillRef idx="0"/>
          <a:effectRef idx="0"/>
          <a:fontRef idx="minor"/>
        </p:style>
        <p:txBody>
          <a:bodyPr lIns="90000" tIns="9720" rIns="90000" bIns="9720" anchor="t">
            <a:noAutofit/>
          </a:bodyPr>
          <a:p>
            <a:pPr>
              <a:lnSpc>
                <a:spcPct val="100000"/>
              </a:lnSpc>
            </a:pPr>
            <a:endParaRPr lang="en-US" sz="1800" b="0" u="none" strike="noStrike">
              <a:solidFill>
                <a:schemeClr val="dk1"/>
              </a:solidFill>
              <a:effectLst/>
              <a:uFillTx/>
              <a:latin typeface="Calibri"/>
            </a:endParaRPr>
          </a:p>
        </p:txBody>
      </p:sp>
      <p:sp>
        <p:nvSpPr>
          <p:cNvPr id="148" name="Text 31"/>
          <p:cNvSpPr/>
          <p:nvPr/>
        </p:nvSpPr>
        <p:spPr>
          <a:xfrm>
            <a:off x="6355080" y="3968640"/>
            <a:ext cx="5165640" cy="291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100" b="1" u="none" spc="99" strike="noStrike">
                <a:solidFill>
                  <a:srgbClr val="E79A00"/>
                </a:solidFill>
                <a:effectLst/>
                <a:uFillTx/>
                <a:latin typeface="Arial"/>
                <a:ea typeface="Arial"/>
              </a:rPr>
              <a:t>MOVING FROM LAUNCHDARKLY: NO BIG BANG</a:t>
            </a:r>
            <a:endParaRPr lang="en-US" sz="1100" b="0" u="none" strike="noStrike">
              <a:solidFill>
                <a:srgbClr val="000000"/>
              </a:solidFill>
              <a:effectLst/>
              <a:uFillTx/>
              <a:latin typeface="Arial"/>
            </a:endParaRPr>
          </a:p>
        </p:txBody>
      </p:sp>
      <p:sp>
        <p:nvSpPr>
          <p:cNvPr id="149" name="Text 32"/>
          <p:cNvSpPr/>
          <p:nvPr/>
        </p:nvSpPr>
        <p:spPr>
          <a:xfrm>
            <a:off x="6355080" y="4251960"/>
            <a:ext cx="5211360" cy="19652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601"/>
              </a:spcAft>
              <a:buClr>
                <a:srgbClr val="0B1A2B"/>
              </a:buClr>
              <a:buFont typeface="OpenSymbol"/>
              <a:buChar char="▪"/>
            </a:pPr>
            <a:r>
              <a:rPr lang="en-US" sz="1250" b="1" u="none" strike="noStrike">
                <a:solidFill>
                  <a:srgbClr val="0B1A2B"/>
                </a:solidFill>
                <a:effectLst/>
                <a:uFillTx/>
                <a:latin typeface="Arial"/>
                <a:ea typeface="Arial"/>
              </a:rPr>
              <a:t>Weeks 0–2: </a:t>
            </a:r>
            <a:r>
              <a:rPr lang="en-US" sz="1250" b="0" u="none" strike="noStrike">
                <a:solidFill>
                  <a:srgbClr val="2B3947"/>
                </a:solidFill>
                <a:effectLst/>
                <a:uFillTx/>
                <a:latin typeface="Arial"/>
                <a:ea typeface="Arial"/>
              </a:rPr>
              <a:t>export the LD inventory via API; map flags, segments, owners.</a:t>
            </a:r>
            <a:endParaRPr lang="en-US" sz="1250" b="0" u="none" strike="noStrike">
              <a:solidFill>
                <a:srgbClr val="000000"/>
              </a:solidFill>
              <a:effectLst/>
              <a:uFillTx/>
              <a:latin typeface="Arial"/>
            </a:endParaRPr>
          </a:p>
          <a:p>
            <a:pPr marL="343080" indent="-343080" defTabSz="914400">
              <a:lnSpc>
                <a:spcPct val="100000"/>
              </a:lnSpc>
              <a:spcAft>
                <a:spcPts val="601"/>
              </a:spcAft>
              <a:buClr>
                <a:srgbClr val="0B1A2B"/>
              </a:buClr>
              <a:buFont typeface="OpenSymbol"/>
              <a:buChar char="▪"/>
            </a:pPr>
            <a:r>
              <a:rPr lang="en-US" sz="1250" b="1" u="none" strike="noStrike">
                <a:solidFill>
                  <a:srgbClr val="0B1A2B"/>
                </a:solidFill>
                <a:effectLst/>
                <a:uFillTx/>
                <a:latin typeface="Arial"/>
                <a:ea typeface="Arial"/>
              </a:rPr>
              <a:t>Weeks 2–6: </a:t>
            </a:r>
            <a:r>
              <a:rPr lang="en-US" sz="1250" b="0" u="none" strike="noStrike">
                <a:solidFill>
                  <a:srgbClr val="2B3947"/>
                </a:solidFill>
                <a:effectLst/>
                <a:uFillTx/>
                <a:latin typeface="Arial"/>
                <a:ea typeface="Arial"/>
              </a:rPr>
              <a:t>every new flag starts in FME; OpenFeature keeps code vendor-neutral.</a:t>
            </a:r>
            <a:endParaRPr lang="en-US" sz="1250" b="0" u="none" strike="noStrike">
              <a:solidFill>
                <a:srgbClr val="000000"/>
              </a:solidFill>
              <a:effectLst/>
              <a:uFillTx/>
              <a:latin typeface="Arial"/>
            </a:endParaRPr>
          </a:p>
          <a:p>
            <a:pPr marL="343080" indent="-343080" defTabSz="914400">
              <a:lnSpc>
                <a:spcPct val="100000"/>
              </a:lnSpc>
              <a:spcAft>
                <a:spcPts val="601"/>
              </a:spcAft>
              <a:buClr>
                <a:srgbClr val="0B1A2B"/>
              </a:buClr>
              <a:buFont typeface="OpenSymbol"/>
              <a:buChar char="▪"/>
            </a:pPr>
            <a:r>
              <a:rPr lang="en-US" sz="1250" b="1" u="none" strike="noStrike">
                <a:solidFill>
                  <a:srgbClr val="0B1A2B"/>
                </a:solidFill>
                <a:effectLst/>
                <a:uFillTx/>
                <a:latin typeface="Arial"/>
                <a:ea typeface="Arial"/>
              </a:rPr>
              <a:t>Weeks 6–12: </a:t>
            </a:r>
            <a:r>
              <a:rPr lang="en-US" sz="1250" b="0" u="none" strike="noStrike">
                <a:solidFill>
                  <a:srgbClr val="2B3947"/>
                </a:solidFill>
                <a:effectLst/>
                <a:uFillTx/>
                <a:latin typeface="Arial"/>
                <a:ea typeface="Arial"/>
              </a:rPr>
              <a:t>live flags move team by team, scripted, checked side by side.</a:t>
            </a:r>
            <a:endParaRPr lang="en-US" sz="1250" b="0" u="none" strike="noStrike">
              <a:solidFill>
                <a:srgbClr val="000000"/>
              </a:solidFill>
              <a:effectLst/>
              <a:uFillTx/>
              <a:latin typeface="Arial"/>
            </a:endParaRPr>
          </a:p>
          <a:p>
            <a:pPr marL="343080" indent="-343080" defTabSz="914400">
              <a:lnSpc>
                <a:spcPct val="100000"/>
              </a:lnSpc>
              <a:spcAft>
                <a:spcPts val="601"/>
              </a:spcAft>
              <a:buClr>
                <a:srgbClr val="0B1A2B"/>
              </a:buClr>
              <a:buFont typeface="OpenSymbol"/>
              <a:buChar char="▪"/>
            </a:pPr>
            <a:r>
              <a:rPr lang="en-US" sz="1250" b="1" u="none" strike="noStrike">
                <a:solidFill>
                  <a:srgbClr val="0B1A2B"/>
                </a:solidFill>
                <a:effectLst/>
                <a:uFillTx/>
                <a:latin typeface="Arial"/>
                <a:ea typeface="Arial"/>
              </a:rPr>
              <a:t>Then: </a:t>
            </a:r>
            <a:r>
              <a:rPr lang="en-US" sz="1250" b="0" u="none" strike="noStrike">
                <a:solidFill>
                  <a:srgbClr val="2B3947"/>
                </a:solidFill>
                <a:effectLst/>
                <a:uFillTx/>
                <a:latin typeface="Arial"/>
                <a:ea typeface="Arial"/>
              </a:rPr>
              <a:t>stale flags are deleted, not migrated. LD winds down at renewal.</a:t>
            </a:r>
            <a:endParaRPr lang="en-US" sz="1250" b="0" u="none" strike="noStrike">
              <a:solidFill>
                <a:srgbClr val="000000"/>
              </a:solidFill>
              <a:effectLst/>
              <a:uFillTx/>
              <a:latin typeface="Arial"/>
            </a:endParaRPr>
          </a:p>
        </p:txBody>
      </p:sp>
      <p:sp>
        <p:nvSpPr>
          <p:cNvPr id="150" name="PlaceHolder 1"/>
          <p:cNvSpPr>
            <a:spLocks noGrp="1"/>
          </p:cNvSpPr>
          <p:nvPr>
            <p:ph type="sldNum" idx="9"/>
          </p:nvPr>
        </p:nvSpPr>
        <p:spPr>
          <a:xfrm>
            <a:off x="11338560" y="6519600"/>
            <a:ext cx="456480" cy="2736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900" b="0" u="none" strike="noStrike">
                <a:solidFill>
                  <a:srgbClr val="9FB3C8"/>
                </a:solidFill>
                <a:effectLst/>
                <a:uFillTx/>
                <a:latin typeface="Arial"/>
                <a:ea typeface="Arial"/>
              </a:defRPr>
            </a:lvl1pPr>
          </a:lstStyle>
          <a:p>
            <a:pPr indent="0" algn="l" defTabSz="914400">
              <a:lnSpc>
                <a:spcPct val="100000"/>
              </a:lnSpc>
              <a:buNone/>
              <a:tabLst>
                <a:tab pos="0" algn="l"/>
              </a:tabLst>
            </a:pPr>
            <a:fld id="{D069BBB4-7D45-4D4C-8E68-8D5BEA863FC2}" type="slidenum">
              <a:rPr lang="en-US" sz="900" b="0" u="none" strike="noStrike">
                <a:solidFill>
                  <a:srgbClr val="9FB3C8"/>
                </a:solidFill>
                <a:effectLst/>
                <a:uFillTx/>
                <a:latin typeface="Arial"/>
                <a:ea typeface="Arial"/>
              </a:rPr>
              <a:t>1</a:t>
            </a:fld>
            <a:endParaRPr lang="en-US" sz="900" b="0" u="none" strike="noStrike">
              <a:solidFill>
                <a:srgbClr val="000000"/>
              </a:solidFill>
              <a:effectLst/>
              <a:uFillTx/>
              <a:latin typeface="Times New Roman"/>
            </a:endParaRPr>
          </a:p>
        </p:txBody>
      </p:sp>
      <p:pic>
        <p:nvPicPr>
          <p:cNvPr id="151" name=""/>
          <p:cNvPicPr/>
          <p:nvPr/>
        </p:nvPicPr>
        <p:blipFill>
          <a:blip r:embed="rId1"/>
          <a:stretch/>
        </p:blipFill>
        <p:spPr>
          <a:xfrm>
            <a:off x="10287000" y="228600"/>
            <a:ext cx="1371600" cy="300240"/>
          </a:xfrm>
          <a:prstGeom prst="rect">
            <a:avLst/>
          </a:prstGeom>
          <a:noFill/>
          <a:ln w="38160">
            <a:noFill/>
          </a:ln>
        </p:spPr>
      </p:pic>
    </p:spTree>
  </p:cSld>
  <mc:AlternateContent>
    <mc:Choice Requires="p14">
      <p:transition spd="slow" p14:dur="2000"/>
    </mc:Choice>
    <mc:Fallback>
      <p:transition spd="slow"/>
    </mc:Fallback>
  </mc:AlternateContent>
  <p:timing>
    <p:tnLst>
      <p:par>
        <p:cTn id="99" dur="indefinite" restart="never" nodeType="tmRoot">
          <p:childTnLst>
            <p:seq>
              <p:cTn id="100" dur="indefinite" nodeType="mainSeq">
                <p:childTnLst>
                  <p:par>
                    <p:cTn id="101" fill="hold">
                      <p:stCondLst>
                        <p:cond delay="indefinite"/>
                      </p:stCondLst>
                      <p:childTnLst>
                        <p:par>
                          <p:cTn id="102" fill="hold">
                            <p:stCondLst>
                              <p:cond delay="0"/>
                            </p:stCondLst>
                            <p:childTnLst>
                              <p:par>
                                <p:cTn id="103" presetID="1" presetClass="entr" fill="hold" nodeType="clickEffect">
                                  <p:stCondLst>
                                    <p:cond delay="0"/>
                                  </p:stCondLst>
                                  <p:childTnLst>
                                    <p:set>
                                      <p:cBhvr>
                                        <p:cTn id="104" dur="1" fill="hold">
                                          <p:stCondLst>
                                            <p:cond delay="0"/>
                                          </p:stCondLst>
                                        </p:cTn>
                                        <p:tgtEl>
                                          <p:spTgt spid="122"/>
                                        </p:tgtEl>
                                        <p:attrNameLst>
                                          <p:attrName>style.visibility</p:attrName>
                                        </p:attrNameLst>
                                      </p:cBhvr>
                                      <p:to>
                                        <p:strVal val="visible"/>
                                      </p:to>
                                    </p:set>
                                  </p:childTnLst>
                                </p:cTn>
                              </p:par>
                              <p:par>
                                <p:cTn id="105" presetID="1" presetClass="entr" fill="hold" nodeType="withEffect">
                                  <p:stCondLst>
                                    <p:cond delay="0"/>
                                  </p:stCondLst>
                                  <p:childTnLst>
                                    <p:set>
                                      <p:cBhvr>
                                        <p:cTn id="106" dur="1" fill="hold">
                                          <p:stCondLst>
                                            <p:cond delay="0"/>
                                          </p:stCondLst>
                                        </p:cTn>
                                        <p:tgtEl>
                                          <p:spTgt spid="123"/>
                                        </p:tgtEl>
                                        <p:attrNameLst>
                                          <p:attrName>style.visibility</p:attrName>
                                        </p:attrNameLst>
                                      </p:cBhvr>
                                      <p:to>
                                        <p:strVal val="visible"/>
                                      </p:to>
                                    </p:set>
                                  </p:childTnLst>
                                </p:cTn>
                              </p:par>
                              <p:par>
                                <p:cTn id="107" presetID="1" presetClass="entr" fill="hold" nodeType="withEffect">
                                  <p:stCondLst>
                                    <p:cond delay="0"/>
                                  </p:stCondLst>
                                  <p:childTnLst>
                                    <p:set>
                                      <p:cBhvr>
                                        <p:cTn id="108" dur="1" fill="hold">
                                          <p:stCondLst>
                                            <p:cond delay="0"/>
                                          </p:stCondLst>
                                        </p:cTn>
                                        <p:tgtEl>
                                          <p:spTgt spid="124"/>
                                        </p:tgtEl>
                                        <p:attrNameLst>
                                          <p:attrName>style.visibility</p:attrName>
                                        </p:attrNameLst>
                                      </p:cBhvr>
                                      <p:to>
                                        <p:strVal val="visible"/>
                                      </p:to>
                                    </p:set>
                                  </p:childTnLst>
                                </p:cTn>
                              </p:par>
                              <p:par>
                                <p:cTn id="109" presetID="1" presetClass="entr" fill="hold" nodeType="withEffect">
                                  <p:stCondLst>
                                    <p:cond delay="0"/>
                                  </p:stCondLst>
                                  <p:childTnLst>
                                    <p:set>
                                      <p:cBhvr>
                                        <p:cTn id="110" dur="1" fill="hold">
                                          <p:stCondLst>
                                            <p:cond delay="0"/>
                                          </p:stCondLst>
                                        </p:cTn>
                                        <p:tgtEl>
                                          <p:spTgt spid="125"/>
                                        </p:tgtEl>
                                        <p:attrNameLst>
                                          <p:attrName>style.visibility</p:attrName>
                                        </p:attrNameLst>
                                      </p:cBhvr>
                                      <p:to>
                                        <p:strVal val="visible"/>
                                      </p:to>
                                    </p:set>
                                  </p:childTnLst>
                                </p:cTn>
                              </p:par>
                              <p:par>
                                <p:cTn id="111" presetID="1" presetClass="entr" fill="hold" nodeType="withEffect">
                                  <p:stCondLst>
                                    <p:cond delay="0"/>
                                  </p:stCondLst>
                                  <p:childTnLst>
                                    <p:set>
                                      <p:cBhvr>
                                        <p:cTn id="112" dur="1" fill="hold">
                                          <p:stCondLst>
                                            <p:cond delay="0"/>
                                          </p:stCondLst>
                                        </p:cTn>
                                        <p:tgtEl>
                                          <p:spTgt spid="126"/>
                                        </p:tgtEl>
                                        <p:attrNameLst>
                                          <p:attrName>style.visibility</p:attrName>
                                        </p:attrNameLst>
                                      </p:cBhvr>
                                      <p:to>
                                        <p:strVal val="visible"/>
                                      </p:to>
                                    </p:set>
                                  </p:childTnLst>
                                </p:cTn>
                              </p:par>
                              <p:par>
                                <p:cTn id="113" presetID="1" presetClass="entr" fill="hold" nodeType="withEffect">
                                  <p:stCondLst>
                                    <p:cond delay="0"/>
                                  </p:stCondLst>
                                  <p:childTnLst>
                                    <p:set>
                                      <p:cBhvr>
                                        <p:cTn id="114" dur="1" fill="hold">
                                          <p:stCondLst>
                                            <p:cond delay="0"/>
                                          </p:stCondLst>
                                        </p:cTn>
                                        <p:tgtEl>
                                          <p:spTgt spid="127"/>
                                        </p:tgtEl>
                                        <p:attrNameLst>
                                          <p:attrName>style.visibility</p:attrName>
                                        </p:attrNameLst>
                                      </p:cBhvr>
                                      <p:to>
                                        <p:strVal val="visible"/>
                                      </p:to>
                                    </p:set>
                                  </p:childTnLst>
                                </p:cTn>
                              </p:par>
                              <p:par>
                                <p:cTn id="115" presetID="1" presetClass="entr" fill="hold" nodeType="withEffect">
                                  <p:stCondLst>
                                    <p:cond delay="0"/>
                                  </p:stCondLst>
                                  <p:childTnLst>
                                    <p:set>
                                      <p:cBhvr>
                                        <p:cTn id="116" dur="1" fill="hold">
                                          <p:stCondLst>
                                            <p:cond delay="0"/>
                                          </p:stCondLst>
                                        </p:cTn>
                                        <p:tgtEl>
                                          <p:spTgt spid="128"/>
                                        </p:tgtEl>
                                        <p:attrNameLst>
                                          <p:attrName>style.visibility</p:attrName>
                                        </p:attrNameLst>
                                      </p:cBhvr>
                                      <p:to>
                                        <p:strVal val="visible"/>
                                      </p:to>
                                    </p:set>
                                  </p:childTnLst>
                                </p:cTn>
                              </p:par>
                              <p:par>
                                <p:cTn id="117" presetID="1" presetClass="entr" fill="hold" nodeType="withEffect">
                                  <p:stCondLst>
                                    <p:cond delay="0"/>
                                  </p:stCondLst>
                                  <p:childTnLst>
                                    <p:set>
                                      <p:cBhvr>
                                        <p:cTn id="118" dur="1" fill="hold">
                                          <p:stCondLst>
                                            <p:cond delay="0"/>
                                          </p:stCondLst>
                                        </p:cTn>
                                        <p:tgtEl>
                                          <p:spTgt spid="129"/>
                                        </p:tgtEl>
                                        <p:attrNameLst>
                                          <p:attrName>style.visibility</p:attrName>
                                        </p:attrNameLst>
                                      </p:cBhvr>
                                      <p:to>
                                        <p:strVal val="visible"/>
                                      </p:to>
                                    </p:set>
                                  </p:childTnLst>
                                </p:cTn>
                              </p:par>
                              <p:par>
                                <p:cTn id="119" presetID="1" presetClass="entr" fill="hold" nodeType="withEffect">
                                  <p:stCondLst>
                                    <p:cond delay="0"/>
                                  </p:stCondLst>
                                  <p:childTnLst>
                                    <p:set>
                                      <p:cBhvr>
                                        <p:cTn id="120" dur="1" fill="hold">
                                          <p:stCondLst>
                                            <p:cond delay="0"/>
                                          </p:stCondLst>
                                        </p:cTn>
                                        <p:tgtEl>
                                          <p:spTgt spid="130"/>
                                        </p:tgtEl>
                                        <p:attrNameLst>
                                          <p:attrName>style.visibility</p:attrName>
                                        </p:attrNameLst>
                                      </p:cBhvr>
                                      <p:to>
                                        <p:strVal val="visible"/>
                                      </p:to>
                                    </p:set>
                                  </p:childTnLst>
                                </p:cTn>
                              </p:par>
                              <p:par>
                                <p:cTn id="121" presetID="1" presetClass="entr" fill="hold" nodeType="withEffect">
                                  <p:stCondLst>
                                    <p:cond delay="0"/>
                                  </p:stCondLst>
                                  <p:childTnLst>
                                    <p:set>
                                      <p:cBhvr>
                                        <p:cTn id="122" dur="1" fill="hold">
                                          <p:stCondLst>
                                            <p:cond delay="0"/>
                                          </p:stCondLst>
                                        </p:cTn>
                                        <p:tgtEl>
                                          <p:spTgt spid="131"/>
                                        </p:tgtEl>
                                        <p:attrNameLst>
                                          <p:attrName>style.visibility</p:attrName>
                                        </p:attrNameLst>
                                      </p:cBhvr>
                                      <p:to>
                                        <p:strVal val="visible"/>
                                      </p:to>
                                    </p:set>
                                  </p:childTnLst>
                                </p:cTn>
                              </p:par>
                              <p:par>
                                <p:cTn id="123" presetID="1" presetClass="entr" fill="hold" nodeType="withEffect">
                                  <p:stCondLst>
                                    <p:cond delay="0"/>
                                  </p:stCondLst>
                                  <p:childTnLst>
                                    <p:set>
                                      <p:cBhvr>
                                        <p:cTn id="124" dur="1" fill="hold">
                                          <p:stCondLst>
                                            <p:cond delay="0"/>
                                          </p:stCondLst>
                                        </p:cTn>
                                        <p:tgtEl>
                                          <p:spTgt spid="132"/>
                                        </p:tgtEl>
                                        <p:attrNameLst>
                                          <p:attrName>style.visibility</p:attrName>
                                        </p:attrNameLst>
                                      </p:cBhvr>
                                      <p:to>
                                        <p:strVal val="visible"/>
                                      </p:to>
                                    </p:set>
                                  </p:childTnLst>
                                </p:cTn>
                              </p:par>
                              <p:par>
                                <p:cTn id="125" presetID="1" presetClass="entr" fill="hold" nodeType="withEffect">
                                  <p:stCondLst>
                                    <p:cond delay="0"/>
                                  </p:stCondLst>
                                  <p:childTnLst>
                                    <p:set>
                                      <p:cBhvr>
                                        <p:cTn id="126" dur="1" fill="hold">
                                          <p:stCondLst>
                                            <p:cond delay="0"/>
                                          </p:stCondLst>
                                        </p:cTn>
                                        <p:tgtEl>
                                          <p:spTgt spid="133"/>
                                        </p:tgtEl>
                                        <p:attrNameLst>
                                          <p:attrName>style.visibility</p:attrName>
                                        </p:attrNameLst>
                                      </p:cBhvr>
                                      <p:to>
                                        <p:strVal val="visible"/>
                                      </p:to>
                                    </p:set>
                                  </p:childTnLst>
                                </p:cTn>
                              </p:par>
                              <p:par>
                                <p:cTn id="127" presetID="1" presetClass="entr" fill="hold" nodeType="withEffect">
                                  <p:stCondLst>
                                    <p:cond delay="0"/>
                                  </p:stCondLst>
                                  <p:childTnLst>
                                    <p:set>
                                      <p:cBhvr>
                                        <p:cTn id="128" dur="1" fill="hold">
                                          <p:stCondLst>
                                            <p:cond delay="0"/>
                                          </p:stCondLst>
                                        </p:cTn>
                                        <p:tgtEl>
                                          <p:spTgt spid="134"/>
                                        </p:tgtEl>
                                        <p:attrNameLst>
                                          <p:attrName>style.visibility</p:attrName>
                                        </p:attrNameLst>
                                      </p:cBhvr>
                                      <p:to>
                                        <p:strVal val="visible"/>
                                      </p:to>
                                    </p:set>
                                  </p:childTnLst>
                                </p:cTn>
                              </p:par>
                              <p:par>
                                <p:cTn id="129" presetID="1" presetClass="entr" fill="hold" nodeType="withEffect">
                                  <p:stCondLst>
                                    <p:cond delay="0"/>
                                  </p:stCondLst>
                                  <p:childTnLst>
                                    <p:set>
                                      <p:cBhvr>
                                        <p:cTn id="130" dur="1" fill="hold">
                                          <p:stCondLst>
                                            <p:cond delay="0"/>
                                          </p:stCondLst>
                                        </p:cTn>
                                        <p:tgtEl>
                                          <p:spTgt spid="135"/>
                                        </p:tgtEl>
                                        <p:attrNameLst>
                                          <p:attrName>style.visibility</p:attrName>
                                        </p:attrNameLst>
                                      </p:cBhvr>
                                      <p:to>
                                        <p:strVal val="visible"/>
                                      </p:to>
                                    </p:set>
                                  </p:childTnLst>
                                </p:cTn>
                              </p:par>
                              <p:par>
                                <p:cTn id="131" presetID="1" presetClass="entr" fill="hold" nodeType="withEffect">
                                  <p:stCondLst>
                                    <p:cond delay="0"/>
                                  </p:stCondLst>
                                  <p:childTnLst>
                                    <p:set>
                                      <p:cBhvr>
                                        <p:cTn id="132" dur="1" fill="hold">
                                          <p:stCondLst>
                                            <p:cond delay="0"/>
                                          </p:stCondLst>
                                        </p:cTn>
                                        <p:tgtEl>
                                          <p:spTgt spid="136"/>
                                        </p:tgtEl>
                                        <p:attrNameLst>
                                          <p:attrName>style.visibility</p:attrName>
                                        </p:attrNameLst>
                                      </p:cBhvr>
                                      <p:to>
                                        <p:strVal val="visible"/>
                                      </p:to>
                                    </p:set>
                                  </p:childTnLst>
                                </p:cTn>
                              </p:par>
                              <p:par>
                                <p:cTn id="133" presetID="1" presetClass="entr" fill="hold" nodeType="withEffect">
                                  <p:stCondLst>
                                    <p:cond delay="0"/>
                                  </p:stCondLst>
                                  <p:childTnLst>
                                    <p:set>
                                      <p:cBhvr>
                                        <p:cTn id="134" dur="1" fill="hold">
                                          <p:stCondLst>
                                            <p:cond delay="0"/>
                                          </p:stCondLst>
                                        </p:cTn>
                                        <p:tgtEl>
                                          <p:spTgt spid="137"/>
                                        </p:tgtEl>
                                        <p:attrNameLst>
                                          <p:attrName>style.visibility</p:attrName>
                                        </p:attrNameLst>
                                      </p:cBhvr>
                                      <p:to>
                                        <p:strVal val="visible"/>
                                      </p:to>
                                    </p:set>
                                  </p:childTnLst>
                                </p:cTn>
                              </p:par>
                              <p:par>
                                <p:cTn id="135" presetID="1" presetClass="entr" fill="hold" nodeType="withEffect">
                                  <p:stCondLst>
                                    <p:cond delay="0"/>
                                  </p:stCondLst>
                                  <p:childTnLst>
                                    <p:set>
                                      <p:cBhvr>
                                        <p:cTn id="136" dur="1" fill="hold">
                                          <p:stCondLst>
                                            <p:cond delay="0"/>
                                          </p:stCondLst>
                                        </p:cTn>
                                        <p:tgtEl>
                                          <p:spTgt spid="138"/>
                                        </p:tgtEl>
                                        <p:attrNameLst>
                                          <p:attrName>style.visibility</p:attrName>
                                        </p:attrNameLst>
                                      </p:cBhvr>
                                      <p:to>
                                        <p:strVal val="visible"/>
                                      </p:to>
                                    </p:set>
                                  </p:childTnLst>
                                </p:cTn>
                              </p:par>
                              <p:par>
                                <p:cTn id="137" presetID="1" presetClass="entr" fill="hold" nodeType="withEffect">
                                  <p:stCondLst>
                                    <p:cond delay="0"/>
                                  </p:stCondLst>
                                  <p:childTnLst>
                                    <p:set>
                                      <p:cBhvr>
                                        <p:cTn id="138" dur="1" fill="hold">
                                          <p:stCondLst>
                                            <p:cond delay="0"/>
                                          </p:stCondLst>
                                        </p:cTn>
                                        <p:tgtEl>
                                          <p:spTgt spid="139"/>
                                        </p:tgtEl>
                                        <p:attrNameLst>
                                          <p:attrName>style.visibility</p:attrName>
                                        </p:attrNameLst>
                                      </p:cBhvr>
                                      <p:to>
                                        <p:strVal val="visible"/>
                                      </p:to>
                                    </p:set>
                                  </p:childTnLst>
                                </p:cTn>
                              </p:par>
                              <p:par>
                                <p:cTn id="139" presetID="1" presetClass="entr" fill="hold" nodeType="withEffect">
                                  <p:stCondLst>
                                    <p:cond delay="0"/>
                                  </p:stCondLst>
                                  <p:childTnLst>
                                    <p:set>
                                      <p:cBhvr>
                                        <p:cTn id="140" dur="1" fill="hold">
                                          <p:stCondLst>
                                            <p:cond delay="0"/>
                                          </p:stCondLst>
                                        </p:cTn>
                                        <p:tgtEl>
                                          <p:spTgt spid="140"/>
                                        </p:tgtEl>
                                        <p:attrNameLst>
                                          <p:attrName>style.visibility</p:attrName>
                                        </p:attrNameLst>
                                      </p:cBhvr>
                                      <p:to>
                                        <p:strVal val="visible"/>
                                      </p:to>
                                    </p:set>
                                  </p:childTnLst>
                                </p:cTn>
                              </p:par>
                              <p:par>
                                <p:cTn id="141" presetID="1" presetClass="entr" fill="hold" nodeType="withEffect">
                                  <p:stCondLst>
                                    <p:cond delay="0"/>
                                  </p:stCondLst>
                                  <p:childTnLst>
                                    <p:set>
                                      <p:cBhvr>
                                        <p:cTn id="142" dur="1" fill="hold">
                                          <p:stCondLst>
                                            <p:cond delay="0"/>
                                          </p:stCondLst>
                                        </p:cTn>
                                        <p:tgtEl>
                                          <p:spTgt spid="141"/>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fill="hold" nodeType="clickEffect">
                                  <p:stCondLst>
                                    <p:cond delay="0"/>
                                  </p:stCondLst>
                                  <p:childTnLst>
                                    <p:set>
                                      <p:cBhvr>
                                        <p:cTn id="146" dur="1" fill="hold">
                                          <p:stCondLst>
                                            <p:cond delay="0"/>
                                          </p:stCondLst>
                                        </p:cTn>
                                        <p:tgtEl>
                                          <p:spTgt spid="142"/>
                                        </p:tgtEl>
                                        <p:attrNameLst>
                                          <p:attrName>style.visibility</p:attrName>
                                        </p:attrNameLst>
                                      </p:cBhvr>
                                      <p:to>
                                        <p:strVal val="visible"/>
                                      </p:to>
                                    </p:set>
                                  </p:childTnLst>
                                </p:cTn>
                              </p:par>
                              <p:par>
                                <p:cTn id="147" presetID="1" presetClass="entr" fill="hold" nodeType="withEffect">
                                  <p:stCondLst>
                                    <p:cond delay="0"/>
                                  </p:stCondLst>
                                  <p:childTnLst>
                                    <p:set>
                                      <p:cBhvr>
                                        <p:cTn id="148" dur="1" fill="hold">
                                          <p:stCondLst>
                                            <p:cond delay="0"/>
                                          </p:stCondLst>
                                        </p:cTn>
                                        <p:tgtEl>
                                          <p:spTgt spid="143"/>
                                        </p:tgtEl>
                                        <p:attrNameLst>
                                          <p:attrName>style.visibility</p:attrName>
                                        </p:attrNameLst>
                                      </p:cBhvr>
                                      <p:to>
                                        <p:strVal val="visible"/>
                                      </p:to>
                                    </p:set>
                                  </p:childTnLst>
                                </p:cTn>
                              </p:par>
                              <p:par>
                                <p:cTn id="149" presetID="1" presetClass="entr" fill="hold" nodeType="withEffect">
                                  <p:stCondLst>
                                    <p:cond delay="0"/>
                                  </p:stCondLst>
                                  <p:childTnLst>
                                    <p:set>
                                      <p:cBhvr>
                                        <p:cTn id="150" dur="1" fill="hold">
                                          <p:stCondLst>
                                            <p:cond delay="0"/>
                                          </p:stCondLst>
                                        </p:cTn>
                                        <p:tgtEl>
                                          <p:spTgt spid="144"/>
                                        </p:tgtEl>
                                        <p:attrNameLst>
                                          <p:attrName>style.visibility</p:attrName>
                                        </p:attrNameLst>
                                      </p:cBhvr>
                                      <p:to>
                                        <p:strVal val="visible"/>
                                      </p:to>
                                    </p:set>
                                  </p:childTnLst>
                                </p:cTn>
                              </p:par>
                              <p:par>
                                <p:cTn id="151" presetID="1" presetClass="entr" fill="hold" nodeType="withEffect">
                                  <p:stCondLst>
                                    <p:cond delay="0"/>
                                  </p:stCondLst>
                                  <p:childTnLst>
                                    <p:set>
                                      <p:cBhvr>
                                        <p:cTn id="152" dur="1" fill="hold">
                                          <p:stCondLst>
                                            <p:cond delay="0"/>
                                          </p:stCondLst>
                                        </p:cTn>
                                        <p:tgtEl>
                                          <p:spTgt spid="145"/>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fill="hold" nodeType="clickEffect">
                                  <p:stCondLst>
                                    <p:cond delay="0"/>
                                  </p:stCondLst>
                                  <p:childTnLst>
                                    <p:set>
                                      <p:cBhvr>
                                        <p:cTn id="156" dur="1" fill="hold">
                                          <p:stCondLst>
                                            <p:cond delay="0"/>
                                          </p:stCondLst>
                                        </p:cTn>
                                        <p:tgtEl>
                                          <p:spTgt spid="146"/>
                                        </p:tgtEl>
                                        <p:attrNameLst>
                                          <p:attrName>style.visibility</p:attrName>
                                        </p:attrNameLst>
                                      </p:cBhvr>
                                      <p:to>
                                        <p:strVal val="visible"/>
                                      </p:to>
                                    </p:set>
                                  </p:childTnLst>
                                </p:cTn>
                              </p:par>
                              <p:par>
                                <p:cTn id="157" presetID="1" presetClass="entr" fill="hold" nodeType="withEffect">
                                  <p:stCondLst>
                                    <p:cond delay="0"/>
                                  </p:stCondLst>
                                  <p:childTnLst>
                                    <p:set>
                                      <p:cBhvr>
                                        <p:cTn id="158" dur="1" fill="hold">
                                          <p:stCondLst>
                                            <p:cond delay="0"/>
                                          </p:stCondLst>
                                        </p:cTn>
                                        <p:tgtEl>
                                          <p:spTgt spid="147"/>
                                        </p:tgtEl>
                                        <p:attrNameLst>
                                          <p:attrName>style.visibility</p:attrName>
                                        </p:attrNameLst>
                                      </p:cBhvr>
                                      <p:to>
                                        <p:strVal val="visible"/>
                                      </p:to>
                                    </p:set>
                                  </p:childTnLst>
                                </p:cTn>
                              </p:par>
                              <p:par>
                                <p:cTn id="159" presetID="1" presetClass="entr" fill="hold" nodeType="withEffect">
                                  <p:stCondLst>
                                    <p:cond delay="0"/>
                                  </p:stCondLst>
                                  <p:childTnLst>
                                    <p:set>
                                      <p:cBhvr>
                                        <p:cTn id="160" dur="1" fill="hold">
                                          <p:stCondLst>
                                            <p:cond delay="0"/>
                                          </p:stCondLst>
                                        </p:cTn>
                                        <p:tgtEl>
                                          <p:spTgt spid="148"/>
                                        </p:tgtEl>
                                        <p:attrNameLst>
                                          <p:attrName>style.visibility</p:attrName>
                                        </p:attrNameLst>
                                      </p:cBhvr>
                                      <p:to>
                                        <p:strVal val="visible"/>
                                      </p:to>
                                    </p:set>
                                  </p:childTnLst>
                                </p:cTn>
                              </p:par>
                              <p:par>
                                <p:cTn id="161" presetID="1" presetClass="entr" fill="hold" nodeType="withEffect">
                                  <p:stCondLst>
                                    <p:cond delay="0"/>
                                  </p:stCondLst>
                                  <p:childTnLst>
                                    <p:set>
                                      <p:cBhvr>
                                        <p:cTn id="162" dur="1" fill="hold">
                                          <p:stCondLst>
                                            <p:cond delay="0"/>
                                          </p:stCondLst>
                                        </p:cTn>
                                        <p:tgtEl>
                                          <p:spTgt spid="1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82B"/>
        </a:solidFill>
      </p:bgPr>
    </p:bg>
    <p:spTree>
      <p:nvGrpSpPr>
        <p:cNvPr id="1" name=""/>
        <p:cNvGrpSpPr/>
        <p:nvPr/>
      </p:nvGrpSpPr>
      <p:grpSpPr>
        <a:xfrm>
          <a:off x="0" y="0"/>
          <a:ext cx="0" cy="0"/>
          <a:chOff x="0" y="0"/>
          <a:chExt cx="0" cy="0"/>
        </a:xfrm>
      </p:grpSpPr>
      <p:sp>
        <p:nvSpPr>
          <p:cNvPr id="152" name="Text 0"/>
          <p:cNvSpPr/>
          <p:nvPr/>
        </p:nvSpPr>
        <p:spPr>
          <a:xfrm>
            <a:off x="457200" y="6464880"/>
            <a:ext cx="27424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harness</a:t>
            </a:r>
            <a:r>
              <a:rPr lang="en-US" sz="1200" b="1" u="none" strike="noStrike">
                <a:solidFill>
                  <a:srgbClr val="00ADE4"/>
                </a:solidFill>
                <a:effectLst/>
                <a:uFillTx/>
                <a:latin typeface="Arial"/>
                <a:ea typeface="Arial"/>
              </a:rPr>
              <a:t>  FME</a:t>
            </a:r>
            <a:endParaRPr lang="en-US" sz="1200" b="0" u="none" strike="noStrike">
              <a:solidFill>
                <a:srgbClr val="FFFFFF"/>
              </a:solidFill>
              <a:effectLst/>
              <a:uFillTx/>
              <a:latin typeface="Arial"/>
            </a:endParaRPr>
          </a:p>
        </p:txBody>
      </p:sp>
      <p:sp>
        <p:nvSpPr>
          <p:cNvPr id="153" name="Text 1"/>
          <p:cNvSpPr/>
          <p:nvPr/>
        </p:nvSpPr>
        <p:spPr>
          <a:xfrm>
            <a:off x="5943600" y="6464880"/>
            <a:ext cx="5211360" cy="365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9FB3C8"/>
                </a:solidFill>
                <a:effectLst/>
                <a:uFillTx/>
                <a:latin typeface="Arial"/>
                <a:ea typeface="Arial"/>
              </a:rPr>
              <a:t>Odido × Harness  |  Confidential</a:t>
            </a:r>
            <a:endParaRPr lang="en-US" sz="900" b="0" u="none" strike="noStrike">
              <a:solidFill>
                <a:srgbClr val="FFFFFF"/>
              </a:solidFill>
              <a:effectLst/>
              <a:uFillTx/>
              <a:latin typeface="Arial"/>
            </a:endParaRPr>
          </a:p>
        </p:txBody>
      </p:sp>
      <p:sp>
        <p:nvSpPr>
          <p:cNvPr id="154" name="Shape 2"/>
          <p:cNvSpPr/>
          <p:nvPr/>
        </p:nvSpPr>
        <p:spPr>
          <a:xfrm>
            <a:off x="7863840" y="-2194560"/>
            <a:ext cx="6765840" cy="6765840"/>
          </a:xfrm>
          <a:prstGeom prst="ellipse">
            <a:avLst/>
          </a:prstGeom>
          <a:solidFill>
            <a:srgbClr val="0278D5">
              <a:alpha val="75000"/>
            </a:srgbClr>
          </a:solidFill>
          <a:ln w="12700">
            <a:solidFill>
              <a:srgbClr val="0278D5">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155" name="Shape 3"/>
          <p:cNvSpPr/>
          <p:nvPr/>
        </p:nvSpPr>
        <p:spPr>
          <a:xfrm>
            <a:off x="9692640" y="1828800"/>
            <a:ext cx="3839760" cy="3839760"/>
          </a:xfrm>
          <a:prstGeom prst="ellipse">
            <a:avLst/>
          </a:prstGeom>
          <a:solidFill>
            <a:srgbClr val="7D4DD3">
              <a:alpha val="70000"/>
            </a:srgbClr>
          </a:solidFill>
          <a:ln w="12700">
            <a:solidFill>
              <a:srgbClr val="7D4DD3">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156" name="PlaceHolder 1"/>
          <p:cNvSpPr>
            <a:spLocks noGrp="1"/>
          </p:cNvSpPr>
          <p:nvPr>
            <p:ph type="sldNum" idx="10"/>
          </p:nvPr>
        </p:nvSpPr>
        <p:spPr>
          <a:xfrm>
            <a:off x="11338560" y="6519600"/>
            <a:ext cx="456480" cy="2736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900" b="0" u="none" strike="noStrike">
                <a:solidFill>
                  <a:srgbClr val="9FB3C8"/>
                </a:solidFill>
                <a:effectLst/>
                <a:uFillTx/>
                <a:latin typeface="Arial"/>
                <a:ea typeface="Arial"/>
              </a:defRPr>
            </a:lvl1pPr>
          </a:lstStyle>
          <a:p>
            <a:pPr indent="0" algn="l" defTabSz="914400">
              <a:lnSpc>
                <a:spcPct val="100000"/>
              </a:lnSpc>
              <a:buNone/>
              <a:tabLst>
                <a:tab pos="0" algn="l"/>
              </a:tabLst>
            </a:pPr>
            <a:fld id="{26D6445B-10F6-495A-AF66-A2FDDF2B92BC}" type="slidenum">
              <a:rPr lang="en-US" sz="900" b="0" u="none" strike="noStrike">
                <a:solidFill>
                  <a:srgbClr val="9FB3C8"/>
                </a:solidFill>
                <a:effectLst/>
                <a:uFillTx/>
                <a:latin typeface="Arial"/>
                <a:ea typeface="Arial"/>
              </a:rPr>
              <a:t>1</a:t>
            </a:fld>
            <a:endParaRPr lang="en-US" sz="900" b="0" u="none" strike="noStrike">
              <a:solidFill>
                <a:srgbClr val="FFFFFF"/>
              </a:solidFill>
              <a:effectLst/>
              <a:uFillTx/>
              <a:latin typeface="Times New Roman"/>
            </a:endParaRPr>
          </a:p>
        </p:txBody>
      </p:sp>
      <p:sp>
        <p:nvSpPr>
          <p:cNvPr id="157" name="Rectangle 25"/>
          <p:cNvSpPr/>
          <p:nvPr/>
        </p:nvSpPr>
        <p:spPr>
          <a:xfrm>
            <a:off x="548640" y="2240280"/>
            <a:ext cx="822240" cy="63360"/>
          </a:xfrm>
          <a:prstGeom prst="rect">
            <a:avLst/>
          </a:prstGeom>
          <a:solidFill>
            <a:srgbClr val="7D4DD3"/>
          </a:solidFill>
          <a:ln>
            <a:noFill/>
          </a:ln>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158" name="TextBox 26"/>
          <p:cNvSpPr/>
          <p:nvPr/>
        </p:nvSpPr>
        <p:spPr>
          <a:xfrm>
            <a:off x="548640" y="2468880"/>
            <a:ext cx="5485680" cy="6393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3000" b="1" u="none" strike="noStrike">
                <a:solidFill>
                  <a:srgbClr val="7D4DD3"/>
                </a:solidFill>
                <a:effectLst/>
                <a:uFillTx/>
                <a:latin typeface="Arial"/>
              </a:rPr>
              <a:t>03</a:t>
            </a:r>
            <a:endParaRPr lang="en-US" sz="3000" b="0" u="none" strike="noStrike">
              <a:solidFill>
                <a:srgbClr val="FFFFFF"/>
              </a:solidFill>
              <a:effectLst/>
              <a:uFillTx/>
              <a:latin typeface="Arial"/>
            </a:endParaRPr>
          </a:p>
        </p:txBody>
      </p:sp>
      <p:sp>
        <p:nvSpPr>
          <p:cNvPr id="159" name="TextBox 27"/>
          <p:cNvSpPr/>
          <p:nvPr/>
        </p:nvSpPr>
        <p:spPr>
          <a:xfrm>
            <a:off x="548640" y="3063240"/>
            <a:ext cx="7771680" cy="10051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5400" b="1" u="none" strike="noStrike">
                <a:solidFill>
                  <a:srgbClr val="FFFFFF"/>
                </a:solidFill>
                <a:effectLst/>
                <a:uFillTx/>
                <a:latin typeface="Arial"/>
              </a:rPr>
              <a:t>Demo</a:t>
            </a:r>
            <a:endParaRPr lang="en-US" sz="5400" b="0" u="none" strike="noStrike">
              <a:solidFill>
                <a:srgbClr val="FFFFFF"/>
              </a:solidFill>
              <a:effectLst/>
              <a:uFillTx/>
              <a:latin typeface="Arial"/>
            </a:endParaRPr>
          </a:p>
        </p:txBody>
      </p:sp>
      <p:sp>
        <p:nvSpPr>
          <p:cNvPr id="160" name="TextBox 28"/>
          <p:cNvSpPr/>
          <p:nvPr/>
        </p:nvSpPr>
        <p:spPr>
          <a:xfrm>
            <a:off x="548640" y="4114800"/>
            <a:ext cx="7497360" cy="7308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800" b="0" u="none" strike="noStrike">
                <a:solidFill>
                  <a:srgbClr val="C9D6E3"/>
                </a:solidFill>
                <a:effectLst/>
                <a:uFillTx/>
                <a:latin typeface="Arial"/>
              </a:rPr>
              <a:t>The Odido plan upgrade journey, live on Harness FME: what I'll show, the demo, then what you saw.</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A"/>
        </a:solidFill>
      </p:bgPr>
    </p:bg>
    <p:spTree>
      <p:nvGrpSpPr>
        <p:cNvPr id="1" name=""/>
        <p:cNvGrpSpPr/>
        <p:nvPr/>
      </p:nvGrpSpPr>
      <p:grpSpPr>
        <a:xfrm>
          <a:off x="0" y="0"/>
          <a:ext cx="0" cy="0"/>
          <a:chOff x="0" y="0"/>
          <a:chExt cx="0" cy="0"/>
        </a:xfrm>
      </p:grpSpPr>
      <p:sp>
        <p:nvSpPr>
          <p:cNvPr id="161" name="Shape 0"/>
          <p:cNvSpPr/>
          <p:nvPr/>
        </p:nvSpPr>
        <p:spPr>
          <a:xfrm>
            <a:off x="0" y="6446520"/>
            <a:ext cx="12191040" cy="410760"/>
          </a:xfrm>
          <a:prstGeom prst="rect">
            <a:avLst/>
          </a:prstGeom>
          <a:solidFill>
            <a:srgbClr val="07182B"/>
          </a:solidFill>
          <a:ln w="12700">
            <a:solidFill>
              <a:srgbClr val="07182B"/>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162" name="Text 1"/>
          <p:cNvSpPr/>
          <p:nvPr/>
        </p:nvSpPr>
        <p:spPr>
          <a:xfrm>
            <a:off x="457200" y="6464880"/>
            <a:ext cx="27424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harness</a:t>
            </a:r>
            <a:r>
              <a:rPr lang="en-US" sz="1200" b="1" u="none" strike="noStrike">
                <a:solidFill>
                  <a:srgbClr val="00ADE4"/>
                </a:solidFill>
                <a:effectLst/>
                <a:uFillTx/>
                <a:latin typeface="Arial"/>
                <a:ea typeface="Arial"/>
              </a:rPr>
              <a:t>  FME</a:t>
            </a:r>
            <a:endParaRPr lang="en-US" sz="1200" b="0" u="none" strike="noStrike">
              <a:solidFill>
                <a:srgbClr val="000000"/>
              </a:solidFill>
              <a:effectLst/>
              <a:uFillTx/>
              <a:latin typeface="Arial"/>
            </a:endParaRPr>
          </a:p>
        </p:txBody>
      </p:sp>
      <p:sp>
        <p:nvSpPr>
          <p:cNvPr id="163" name="Text 2"/>
          <p:cNvSpPr/>
          <p:nvPr/>
        </p:nvSpPr>
        <p:spPr>
          <a:xfrm>
            <a:off x="5943600" y="6464880"/>
            <a:ext cx="5211360" cy="365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9FB3C8"/>
                </a:solidFill>
                <a:effectLst/>
                <a:uFillTx/>
                <a:latin typeface="Arial"/>
                <a:ea typeface="Arial"/>
              </a:rPr>
              <a:t>Odido × Harness  |  Confidential</a:t>
            </a:r>
            <a:endParaRPr lang="en-US" sz="900" b="0" u="none" strike="noStrike">
              <a:solidFill>
                <a:srgbClr val="000000"/>
              </a:solidFill>
              <a:effectLst/>
              <a:uFillTx/>
              <a:latin typeface="Arial"/>
            </a:endParaRPr>
          </a:p>
        </p:txBody>
      </p:sp>
      <p:sp>
        <p:nvSpPr>
          <p:cNvPr id="164" name="Text 3"/>
          <p:cNvSpPr/>
          <p:nvPr/>
        </p:nvSpPr>
        <p:spPr>
          <a:xfrm>
            <a:off x="457200" y="274320"/>
            <a:ext cx="1124640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0B1A2B"/>
                </a:solidFill>
                <a:effectLst/>
                <a:uFillTx/>
                <a:latin typeface="Arial"/>
                <a:ea typeface="Arial"/>
              </a:rPr>
              <a:t>What I'll show you, and why it matters</a:t>
            </a:r>
            <a:endParaRPr lang="en-US" sz="2800" b="0" u="none" strike="noStrike">
              <a:solidFill>
                <a:srgbClr val="000000"/>
              </a:solidFill>
              <a:effectLst/>
              <a:uFillTx/>
              <a:latin typeface="Arial"/>
            </a:endParaRPr>
          </a:p>
        </p:txBody>
      </p:sp>
      <p:sp>
        <p:nvSpPr>
          <p:cNvPr id="165" name="Text 4"/>
          <p:cNvSpPr/>
          <p:nvPr/>
        </p:nvSpPr>
        <p:spPr>
          <a:xfrm>
            <a:off x="457200" y="841320"/>
            <a:ext cx="1124640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B6B7F"/>
                </a:solidFill>
                <a:effectLst/>
                <a:uFillTx/>
                <a:latin typeface="Arial"/>
                <a:ea typeface="Arial"/>
              </a:rPr>
              <a:t>Live on Harness FME (Global · Prod-Default), on Odido's plan upgrade journey. Code: github.com/squalliram/odido-harness-fme-demo</a:t>
            </a:r>
            <a:endParaRPr lang="en-US" sz="1300" b="0" u="none" strike="noStrike">
              <a:solidFill>
                <a:srgbClr val="000000"/>
              </a:solidFill>
              <a:effectLst/>
              <a:uFillTx/>
              <a:latin typeface="Arial"/>
            </a:endParaRPr>
          </a:p>
        </p:txBody>
      </p:sp>
      <p:graphicFrame>
        <p:nvGraphicFramePr>
          <p:cNvPr id="166" name="Table 0"/>
          <p:cNvGraphicFramePr/>
          <p:nvPr/>
        </p:nvGraphicFramePr>
        <p:xfrm>
          <a:off x="457200" y="1280160"/>
          <a:ext cx="11246760" cy="4148640"/>
        </p:xfrm>
        <a:graphic>
          <a:graphicData uri="http://schemas.openxmlformats.org/drawingml/2006/table">
            <a:tbl>
              <a:tblPr/>
              <a:tblGrid>
                <a:gridCol w="411480"/>
                <a:gridCol w="4206240"/>
                <a:gridCol w="2971800"/>
                <a:gridCol w="3657600"/>
              </a:tblGrid>
              <a:tr h="274320">
                <a:tc>
                  <a:txBody>
                    <a:bodyPr lIns="50760" tIns="88560" rIns="75960" bIns="88560" anchor="t">
                      <a:noAutofit/>
                    </a:bodyPr>
                    <a:p>
                      <a:pPr/>
                      <a:endParaRPr lang="en-US" sz="180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18720">
                      <a:solidFill>
                        <a:srgbClr val="0B1A2B"/>
                      </a:solidFill>
                      <a:prstDash val="solid"/>
                    </a:lnB>
                    <a:noFill/>
                  </a:tcPr>
                </a:tc>
                <a:tc>
                  <a:txBody>
                    <a:bodyPr lIns="50760" tIns="88560" rIns="75960" bIns="88560" anchor="t">
                      <a:noAutofit/>
                    </a:bodyPr>
                    <a:p>
                      <a:pPr defTabSz="914400">
                        <a:lnSpc>
                          <a:spcPct val="100000"/>
                        </a:lnSpc>
                        <a:tabLst>
                          <a:tab pos="0" algn="l"/>
                        </a:tabLst>
                      </a:pPr>
                      <a:r>
                        <a:rPr lang="en-US" sz="950" b="1" u="none" strike="noStrike">
                          <a:solidFill>
                            <a:srgbClr val="5B6B7F"/>
                          </a:solidFill>
                          <a:effectLst/>
                          <a:uFillTx/>
                          <a:latin typeface="Arial"/>
                        </a:rPr>
                        <a:t>WHAT I'LL SHOW</a:t>
                      </a:r>
                      <a:endParaRPr lang="en-US" sz="95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18720">
                      <a:solidFill>
                        <a:srgbClr val="0B1A2B"/>
                      </a:solidFill>
                      <a:prstDash val="solid"/>
                    </a:lnB>
                    <a:noFill/>
                  </a:tcPr>
                </a:tc>
                <a:tc>
                  <a:txBody>
                    <a:bodyPr lIns="50760" tIns="88560" rIns="75960" bIns="88560" anchor="t">
                      <a:noAutofit/>
                    </a:bodyPr>
                    <a:p>
                      <a:pPr defTabSz="914400">
                        <a:lnSpc>
                          <a:spcPct val="100000"/>
                        </a:lnSpc>
                        <a:tabLst>
                          <a:tab pos="0" algn="l"/>
                        </a:tabLst>
                      </a:pPr>
                      <a:r>
                        <a:rPr lang="en-US" sz="950" b="1" u="none" strike="noStrike">
                          <a:solidFill>
                            <a:srgbClr val="5B6B7F"/>
                          </a:solidFill>
                          <a:effectLst/>
                          <a:uFillTx/>
                          <a:latin typeface="Arial"/>
                        </a:rPr>
                        <a:t>CAPABILITY</a:t>
                      </a:r>
                      <a:endParaRPr lang="en-US" sz="95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18720">
                      <a:solidFill>
                        <a:srgbClr val="0B1A2B"/>
                      </a:solidFill>
                      <a:prstDash val="solid"/>
                    </a:lnB>
                    <a:noFill/>
                  </a:tcPr>
                </a:tc>
                <a:tc>
                  <a:txBody>
                    <a:bodyPr lIns="50760" tIns="88560" rIns="75960" bIns="88560" anchor="t">
                      <a:noAutofit/>
                    </a:bodyPr>
                    <a:p>
                      <a:pPr defTabSz="914400">
                        <a:lnSpc>
                          <a:spcPct val="100000"/>
                        </a:lnSpc>
                        <a:tabLst>
                          <a:tab pos="0" algn="l"/>
                        </a:tabLst>
                      </a:pPr>
                      <a:r>
                        <a:rPr lang="en-US" sz="950" b="1" u="none" strike="noStrike">
                          <a:solidFill>
                            <a:srgbClr val="5B6B7F"/>
                          </a:solidFill>
                          <a:effectLst/>
                          <a:uFillTx/>
                          <a:latin typeface="Arial"/>
                        </a:rPr>
                        <a:t>BUSINESS VALUE FOR ODIDO</a:t>
                      </a:r>
                      <a:endParaRPr lang="en-US" sz="95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18720">
                      <a:solidFill>
                        <a:srgbClr val="0B1A2B"/>
                      </a:solidFill>
                      <a:prstDash val="solid"/>
                    </a:lnB>
                    <a:noFill/>
                  </a:tcPr>
                </a:tc>
              </a:tr>
              <a:tr h="274320">
                <a:tc>
                  <a:txBody>
                    <a:bodyPr lIns="50760" tIns="88560" rIns="75960" bIns="88560" anchor="t">
                      <a:noAutofit/>
                    </a:bodyPr>
                    <a:p>
                      <a:pPr defTabSz="914400">
                        <a:lnSpc>
                          <a:spcPct val="100000"/>
                        </a:lnSpc>
                        <a:tabLst>
                          <a:tab pos="0" algn="l"/>
                        </a:tabLst>
                      </a:pPr>
                      <a:r>
                        <a:rPr lang="en-US" sz="1400" b="1" u="none" strike="noStrike">
                          <a:solidFill>
                            <a:srgbClr val="7D4DD3"/>
                          </a:solidFill>
                          <a:effectLst/>
                          <a:uFillTx/>
                          <a:latin typeface="Arial"/>
                        </a:rPr>
                        <a:t>1</a:t>
                      </a:r>
                      <a:endParaRPr lang="en-US" sz="140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c>
                  <a:txBody>
                    <a:bodyPr lIns="50760" tIns="88560" rIns="75960" bIns="88560" anchor="t">
                      <a:noAutofit/>
                    </a:bodyPr>
                    <a:p>
                      <a:pPr defTabSz="914400">
                        <a:lnSpc>
                          <a:spcPct val="100000"/>
                        </a:lnSpc>
                        <a:tabLst>
                          <a:tab pos="0" algn="l"/>
                        </a:tabLst>
                      </a:pPr>
                      <a:r>
                        <a:rPr lang="en-US" sz="1200" b="1" u="none" strike="noStrike">
                          <a:solidFill>
                            <a:srgbClr val="0B1A2B"/>
                          </a:solidFill>
                          <a:effectLst/>
                          <a:uFillTx/>
                          <a:latin typeface="Arial"/>
                        </a:rPr>
                        <a:t>Target precisely  </a:t>
                      </a:r>
                      <a:r>
                        <a:rPr lang="en-US" sz="1100" b="0" u="none" strike="noStrike">
                          <a:solidFill>
                            <a:srgbClr val="2B3947"/>
                          </a:solidFill>
                          <a:effectLst/>
                          <a:uFillTx/>
                          <a:latin typeface="Arial"/>
                        </a:rPr>
                        <a:t>Staff, beta and Amsterdam get the new journey; old app version and business customers don't.</a:t>
                      </a:r>
                      <a:endParaRPr lang="en-US" sz="110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c>
                  <a:txBody>
                    <a:bodyPr lIns="50760" tIns="88560" rIns="75960" bIns="88560" anchor="t">
                      <a:noAutofit/>
                    </a:bodyPr>
                    <a:p>
                      <a:pPr defTabSz="914400">
                        <a:lnSpc>
                          <a:spcPct val="100000"/>
                        </a:lnSpc>
                        <a:tabLst>
                          <a:tab pos="0" algn="l"/>
                        </a:tabLst>
                      </a:pPr>
                      <a:r>
                        <a:rPr lang="en-US" sz="1150" b="0" u="none" strike="noStrike">
                          <a:solidFill>
                            <a:srgbClr val="2B3947"/>
                          </a:solidFill>
                          <a:effectLst/>
                          <a:uFillTx/>
                          <a:latin typeface="Arial"/>
                        </a:rPr>
                        <a:t>Targeting by segment, city, app version</a:t>
                      </a:r>
                      <a:endParaRPr lang="en-US" sz="115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c>
                  <a:txBody>
                    <a:bodyPr lIns="50760" tIns="88560" rIns="75960" bIns="88560" anchor="t">
                      <a:noAutofit/>
                    </a:bodyPr>
                    <a:p>
                      <a:pPr defTabSz="914400">
                        <a:lnSpc>
                          <a:spcPct val="100000"/>
                        </a:lnSpc>
                        <a:tabLst>
                          <a:tab pos="0" algn="l"/>
                        </a:tabLst>
                      </a:pPr>
                      <a:r>
                        <a:rPr lang="en-US" sz="1150" b="1" u="none" strike="noStrike">
                          <a:solidFill>
                            <a:srgbClr val="0278D5"/>
                          </a:solidFill>
                          <a:effectLst/>
                          <a:uFillTx/>
                          <a:latin typeface="Arial"/>
                        </a:rPr>
                        <a:t>Release to the right people first; fewer customers exposed</a:t>
                      </a:r>
                      <a:endParaRPr lang="en-US" sz="115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r>
              <a:tr h="274320">
                <a:tc>
                  <a:txBody>
                    <a:bodyPr lIns="50760" tIns="88560" rIns="75960" bIns="88560" anchor="t">
                      <a:noAutofit/>
                    </a:bodyPr>
                    <a:p>
                      <a:pPr defTabSz="914400">
                        <a:lnSpc>
                          <a:spcPct val="100000"/>
                        </a:lnSpc>
                        <a:tabLst>
                          <a:tab pos="0" algn="l"/>
                        </a:tabLst>
                      </a:pPr>
                      <a:r>
                        <a:rPr lang="en-US" sz="1400" b="1" u="none" strike="noStrike">
                          <a:solidFill>
                            <a:srgbClr val="7D4DD3"/>
                          </a:solidFill>
                          <a:effectLst/>
                          <a:uFillTx/>
                          <a:latin typeface="Arial"/>
                        </a:rPr>
                        <a:t>2</a:t>
                      </a:r>
                      <a:endParaRPr lang="en-US" sz="140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c>
                  <a:txBody>
                    <a:bodyPr lIns="50760" tIns="88560" rIns="75960" bIns="88560" anchor="t">
                      <a:noAutofit/>
                    </a:bodyPr>
                    <a:p>
                      <a:pPr defTabSz="914400">
                        <a:lnSpc>
                          <a:spcPct val="100000"/>
                        </a:lnSpc>
                        <a:tabLst>
                          <a:tab pos="0" algn="l"/>
                        </a:tabLst>
                      </a:pPr>
                      <a:r>
                        <a:rPr lang="en-US" sz="1200" b="1" u="none" strike="noStrike">
                          <a:solidFill>
                            <a:srgbClr val="0B1A2B"/>
                          </a:solidFill>
                          <a:effectLst/>
                          <a:uFillTx/>
                          <a:latin typeface="Arial"/>
                        </a:rPr>
                        <a:t>Add Rotterdam, live  </a:t>
                      </a:r>
                      <a:r>
                        <a:rPr lang="en-US" sz="1100" b="0" u="none" strike="noStrike">
                          <a:solidFill>
                            <a:srgbClr val="2B3947"/>
                          </a:solidFill>
                          <a:effectLst/>
                          <a:uFillTx/>
                          <a:latin typeface="Arial"/>
                        </a:rPr>
                        <a:t>One rule change; the customer flips in seconds.</a:t>
                      </a:r>
                      <a:endParaRPr lang="en-US" sz="110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c>
                  <a:txBody>
                    <a:bodyPr lIns="50760" tIns="88560" rIns="75960" bIns="88560" anchor="t">
                      <a:noAutofit/>
                    </a:bodyPr>
                    <a:p>
                      <a:pPr defTabSz="914400">
                        <a:lnSpc>
                          <a:spcPct val="100000"/>
                        </a:lnSpc>
                        <a:tabLst>
                          <a:tab pos="0" algn="l"/>
                        </a:tabLst>
                      </a:pPr>
                      <a:r>
                        <a:rPr lang="en-US" sz="1150" b="0" u="none" strike="noStrike">
                          <a:solidFill>
                            <a:srgbClr val="2B3947"/>
                          </a:solidFill>
                          <a:effectLst/>
                          <a:uFillTx/>
                          <a:latin typeface="Arial"/>
                        </a:rPr>
                        <a:t>Live rollout changes, no deploy</a:t>
                      </a:r>
                      <a:endParaRPr lang="en-US" sz="115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c>
                  <a:txBody>
                    <a:bodyPr lIns="50760" tIns="88560" rIns="75960" bIns="88560" anchor="t">
                      <a:noAutofit/>
                    </a:bodyPr>
                    <a:p>
                      <a:pPr defTabSz="914400">
                        <a:lnSpc>
                          <a:spcPct val="100000"/>
                        </a:lnSpc>
                        <a:tabLst>
                          <a:tab pos="0" algn="l"/>
                        </a:tabLst>
                      </a:pPr>
                      <a:r>
                        <a:rPr lang="en-US" sz="1150" b="1" u="none" strike="noStrike">
                          <a:solidFill>
                            <a:srgbClr val="0278D5"/>
                          </a:solidFill>
                          <a:effectLst/>
                          <a:uFillTx/>
                          <a:latin typeface="Arial"/>
                        </a:rPr>
                        <a:t>Business owns the rollout; more releases, faster</a:t>
                      </a:r>
                      <a:endParaRPr lang="en-US" sz="115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r>
              <a:tr h="274320">
                <a:tc>
                  <a:txBody>
                    <a:bodyPr lIns="50760" tIns="88560" rIns="75960" bIns="88560" anchor="t">
                      <a:noAutofit/>
                    </a:bodyPr>
                    <a:p>
                      <a:pPr defTabSz="914400">
                        <a:lnSpc>
                          <a:spcPct val="100000"/>
                        </a:lnSpc>
                        <a:tabLst>
                          <a:tab pos="0" algn="l"/>
                        </a:tabLst>
                      </a:pPr>
                      <a:r>
                        <a:rPr lang="en-US" sz="1400" b="1" u="none" strike="noStrike">
                          <a:solidFill>
                            <a:srgbClr val="7D4DD3"/>
                          </a:solidFill>
                          <a:effectLst/>
                          <a:uFillTx/>
                          <a:latin typeface="Arial"/>
                        </a:rPr>
                        <a:t>3</a:t>
                      </a:r>
                      <a:endParaRPr lang="en-US" sz="140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c>
                  <a:txBody>
                    <a:bodyPr lIns="50760" tIns="88560" rIns="75960" bIns="88560" anchor="t">
                      <a:noAutofit/>
                    </a:bodyPr>
                    <a:p>
                      <a:pPr defTabSz="914400">
                        <a:lnSpc>
                          <a:spcPct val="100000"/>
                        </a:lnSpc>
                        <a:tabLst>
                          <a:tab pos="0" algn="l"/>
                        </a:tabLst>
                      </a:pPr>
                      <a:r>
                        <a:rPr lang="en-US" sz="1200" b="1" u="none" strike="noStrike">
                          <a:solidFill>
                            <a:srgbClr val="0B1A2B"/>
                          </a:solidFill>
                          <a:effectLst/>
                          <a:uFillTx/>
                          <a:latin typeface="Arial"/>
                        </a:rPr>
                        <a:t>Press the kill switch  </a:t>
                      </a:r>
                      <a:r>
                        <a:rPr lang="en-US" sz="1100" b="0" u="none" strike="noStrike">
                          <a:solidFill>
                            <a:srgbClr val="2B3947"/>
                          </a:solidFill>
                          <a:effectLst/>
                          <a:uFillTx/>
                          <a:latin typeface="Arial"/>
                        </a:rPr>
                        <a:t>Plan changes pause instantly; the app degrades gracefully.</a:t>
                      </a:r>
                      <a:endParaRPr lang="en-US" sz="110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c>
                  <a:txBody>
                    <a:bodyPr lIns="50760" tIns="88560" rIns="75960" bIns="88560" anchor="t">
                      <a:noAutofit/>
                    </a:bodyPr>
                    <a:p>
                      <a:pPr defTabSz="914400">
                        <a:lnSpc>
                          <a:spcPct val="100000"/>
                        </a:lnSpc>
                        <a:tabLst>
                          <a:tab pos="0" algn="l"/>
                        </a:tabLst>
                      </a:pPr>
                      <a:r>
                        <a:rPr lang="en-US" sz="1150" b="0" u="none" strike="noStrike">
                          <a:solidFill>
                            <a:srgbClr val="2B3947"/>
                          </a:solidFill>
                          <a:effectLst/>
                          <a:uFillTx/>
                          <a:latin typeface="Arial"/>
                        </a:rPr>
                        <a:t>Instant kill switch</a:t>
                      </a:r>
                      <a:endParaRPr lang="en-US" sz="115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c>
                  <a:txBody>
                    <a:bodyPr lIns="50760" tIns="88560" rIns="75960" bIns="88560" anchor="t">
                      <a:noAutofit/>
                    </a:bodyPr>
                    <a:p>
                      <a:pPr defTabSz="914400">
                        <a:lnSpc>
                          <a:spcPct val="100000"/>
                        </a:lnSpc>
                        <a:tabLst>
                          <a:tab pos="0" algn="l"/>
                        </a:tabLst>
                      </a:pPr>
                      <a:r>
                        <a:rPr lang="en-US" sz="1150" b="1" u="none" strike="noStrike">
                          <a:solidFill>
                            <a:srgbClr val="0278D5"/>
                          </a:solidFill>
                          <a:effectLst/>
                          <a:uFillTx/>
                          <a:latin typeface="Arial"/>
                        </a:rPr>
                        <a:t>Recovery in seconds, not days</a:t>
                      </a:r>
                      <a:endParaRPr lang="en-US" sz="115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r>
              <a:tr h="274320">
                <a:tc>
                  <a:txBody>
                    <a:bodyPr lIns="50760" tIns="88560" rIns="75960" bIns="88560" anchor="t">
                      <a:noAutofit/>
                    </a:bodyPr>
                    <a:p>
                      <a:pPr defTabSz="914400">
                        <a:lnSpc>
                          <a:spcPct val="100000"/>
                        </a:lnSpc>
                        <a:tabLst>
                          <a:tab pos="0" algn="l"/>
                        </a:tabLst>
                      </a:pPr>
                      <a:r>
                        <a:rPr lang="en-US" sz="1400" b="1" u="none" strike="noStrike">
                          <a:solidFill>
                            <a:srgbClr val="7D4DD3"/>
                          </a:solidFill>
                          <a:effectLst/>
                          <a:uFillTx/>
                          <a:latin typeface="Arial"/>
                        </a:rPr>
                        <a:t>4</a:t>
                      </a:r>
                      <a:endParaRPr lang="en-US" sz="140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c>
                  <a:txBody>
                    <a:bodyPr lIns="50760" tIns="88560" rIns="75960" bIns="88560" anchor="t">
                      <a:noAutofit/>
                    </a:bodyPr>
                    <a:p>
                      <a:pPr defTabSz="914400">
                        <a:lnSpc>
                          <a:spcPct val="100000"/>
                        </a:lnSpc>
                        <a:tabLst>
                          <a:tab pos="0" algn="l"/>
                        </a:tabLst>
                      </a:pPr>
                      <a:r>
                        <a:rPr lang="en-US" sz="1200" b="1" u="none" strike="noStrike">
                          <a:solidFill>
                            <a:srgbClr val="0B1A2B"/>
                          </a:solidFill>
                          <a:effectLst/>
                          <a:uFillTx/>
                          <a:latin typeface="Arial"/>
                        </a:rPr>
                        <a:t>Open the code  </a:t>
                      </a:r>
                      <a:r>
                        <a:rPr lang="en-US" sz="1100" b="0" u="none" strike="noStrike">
                          <a:solidFill>
                            <a:srgbClr val="2B3947"/>
                          </a:solidFill>
                          <a:effectLst/>
                          <a:uFillTx/>
                          <a:latin typeface="Arial"/>
                        </a:rPr>
                        <a:t>Three small files: one SDK call, safe fallback, track events.</a:t>
                      </a:r>
                      <a:endParaRPr lang="en-US" sz="110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c>
                  <a:txBody>
                    <a:bodyPr lIns="50760" tIns="88560" rIns="75960" bIns="88560" anchor="t">
                      <a:noAutofit/>
                    </a:bodyPr>
                    <a:p>
                      <a:pPr defTabSz="914400">
                        <a:lnSpc>
                          <a:spcPct val="100000"/>
                        </a:lnSpc>
                        <a:tabLst>
                          <a:tab pos="0" algn="l"/>
                        </a:tabLst>
                      </a:pPr>
                      <a:r>
                        <a:rPr lang="en-US" sz="1150" b="0" u="none" strike="noStrike">
                          <a:solidFill>
                            <a:srgbClr val="2B3947"/>
                          </a:solidFill>
                          <a:effectLst/>
                          <a:uFillTx/>
                          <a:latin typeface="Arial"/>
                        </a:rPr>
                        <a:t>Local evaluation, no PII sent</a:t>
                      </a:r>
                      <a:endParaRPr lang="en-US" sz="115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c>
                  <a:txBody>
                    <a:bodyPr lIns="50760" tIns="88560" rIns="75960" bIns="88560" anchor="t">
                      <a:noAutofit/>
                    </a:bodyPr>
                    <a:p>
                      <a:pPr defTabSz="914400">
                        <a:lnSpc>
                          <a:spcPct val="100000"/>
                        </a:lnSpc>
                        <a:tabLst>
                          <a:tab pos="0" algn="l"/>
                        </a:tabLst>
                      </a:pPr>
                      <a:r>
                        <a:rPr lang="en-US" sz="1150" b="1" u="none" strike="noStrike">
                          <a:solidFill>
                            <a:srgbClr val="0278D5"/>
                          </a:solidFill>
                          <a:effectLst/>
                          <a:uFillTx/>
                          <a:latin typeface="Arial"/>
                        </a:rPr>
                        <a:t>Low adoption effort; the flag platform can't break the app</a:t>
                      </a:r>
                      <a:endParaRPr lang="en-US" sz="115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r>
              <a:tr h="274320">
                <a:tc>
                  <a:txBody>
                    <a:bodyPr lIns="50760" tIns="88560" rIns="75960" bIns="88560" anchor="t">
                      <a:noAutofit/>
                    </a:bodyPr>
                    <a:p>
                      <a:pPr defTabSz="914400">
                        <a:lnSpc>
                          <a:spcPct val="100000"/>
                        </a:lnSpc>
                        <a:tabLst>
                          <a:tab pos="0" algn="l"/>
                        </a:tabLst>
                      </a:pPr>
                      <a:r>
                        <a:rPr lang="en-US" sz="1400" b="1" u="none" strike="noStrike">
                          <a:solidFill>
                            <a:srgbClr val="7D4DD3"/>
                          </a:solidFill>
                          <a:effectLst/>
                          <a:uFillTx/>
                          <a:latin typeface="Arial"/>
                        </a:rPr>
                        <a:t>5</a:t>
                      </a:r>
                      <a:endParaRPr lang="en-US" sz="140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c>
                  <a:txBody>
                    <a:bodyPr lIns="50760" tIns="88560" rIns="75960" bIns="88560" anchor="t">
                      <a:noAutofit/>
                    </a:bodyPr>
                    <a:p>
                      <a:pPr defTabSz="914400">
                        <a:lnSpc>
                          <a:spcPct val="100000"/>
                        </a:lnSpc>
                        <a:tabLst>
                          <a:tab pos="0" algn="l"/>
                        </a:tabLst>
                      </a:pPr>
                      <a:r>
                        <a:rPr lang="en-US" sz="1200" b="1" u="none" strike="noStrike">
                          <a:solidFill>
                            <a:srgbClr val="0B1A2B"/>
                          </a:solidFill>
                          <a:effectLst/>
                          <a:uFillTx/>
                          <a:latin typeface="Arial"/>
                        </a:rPr>
                        <a:t>Read the release scorecard  </a:t>
                      </a:r>
                      <a:r>
                        <a:rPr lang="en-US" sz="1100" b="0" u="none" strike="noStrike">
                          <a:solidFill>
                            <a:srgbClr val="2B3947"/>
                          </a:solidFill>
                          <a:effectLst/>
                          <a:uFillTx/>
                          <a:latin typeface="Arial"/>
                        </a:rPr>
                        <a:t>Old vs new: conversion 7.4% → 10.5%, load time 1.1 s → 0.5 s; failure alert.</a:t>
                      </a:r>
                      <a:endParaRPr lang="en-US" sz="110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c>
                  <a:txBody>
                    <a:bodyPr lIns="50760" tIns="88560" rIns="75960" bIns="88560" anchor="t">
                      <a:noAutofit/>
                    </a:bodyPr>
                    <a:p>
                      <a:pPr defTabSz="914400">
                        <a:lnSpc>
                          <a:spcPct val="100000"/>
                        </a:lnSpc>
                        <a:tabLst>
                          <a:tab pos="0" algn="l"/>
                        </a:tabLst>
                      </a:pPr>
                      <a:r>
                        <a:rPr lang="en-US" sz="1150" b="0" u="none" strike="noStrike">
                          <a:solidFill>
                            <a:srgbClr val="2B3947"/>
                          </a:solidFill>
                          <a:effectLst/>
                          <a:uFillTx/>
                          <a:latin typeface="Arial"/>
                        </a:rPr>
                        <a:t>Release monitoring and guardrails</a:t>
                      </a:r>
                      <a:endParaRPr lang="en-US" sz="115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c>
                  <a:txBody>
                    <a:bodyPr lIns="50760" tIns="88560" rIns="75960" bIns="88560" anchor="t">
                      <a:noAutofit/>
                    </a:bodyPr>
                    <a:p>
                      <a:pPr defTabSz="914400">
                        <a:lnSpc>
                          <a:spcPct val="100000"/>
                        </a:lnSpc>
                        <a:tabLst>
                          <a:tab pos="0" algn="l"/>
                        </a:tabLst>
                      </a:pPr>
                      <a:r>
                        <a:rPr lang="en-US" sz="1150" b="1" u="none" strike="noStrike">
                          <a:solidFill>
                            <a:srgbClr val="0278D5"/>
                          </a:solidFill>
                          <a:effectLst/>
                          <a:uFillTx/>
                          <a:latin typeface="Arial"/>
                        </a:rPr>
                        <a:t>Lower change failure rate; issues caught early</a:t>
                      </a:r>
                      <a:endParaRPr lang="en-US" sz="115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r>
              <a:tr h="274320">
                <a:tc>
                  <a:txBody>
                    <a:bodyPr lIns="50760" tIns="88560" rIns="75960" bIns="88560" anchor="t">
                      <a:noAutofit/>
                    </a:bodyPr>
                    <a:p>
                      <a:pPr defTabSz="914400">
                        <a:lnSpc>
                          <a:spcPct val="100000"/>
                        </a:lnSpc>
                        <a:tabLst>
                          <a:tab pos="0" algn="l"/>
                        </a:tabLst>
                      </a:pPr>
                      <a:r>
                        <a:rPr lang="en-US" sz="1400" b="1" u="none" strike="noStrike">
                          <a:solidFill>
                            <a:srgbClr val="7D4DD3"/>
                          </a:solidFill>
                          <a:effectLst/>
                          <a:uFillTx/>
                          <a:latin typeface="Arial"/>
                        </a:rPr>
                        <a:t>6</a:t>
                      </a:r>
                      <a:endParaRPr lang="en-US" sz="140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c>
                  <a:txBody>
                    <a:bodyPr lIns="50760" tIns="88560" rIns="75960" bIns="88560" anchor="t">
                      <a:noAutofit/>
                    </a:bodyPr>
                    <a:p>
                      <a:pPr defTabSz="914400">
                        <a:lnSpc>
                          <a:spcPct val="100000"/>
                        </a:lnSpc>
                        <a:tabLst>
                          <a:tab pos="0" algn="l"/>
                        </a:tabLst>
                      </a:pPr>
                      <a:r>
                        <a:rPr lang="en-US" sz="1200" b="1" u="none" strike="noStrike">
                          <a:solidFill>
                            <a:srgbClr val="0B1A2B"/>
                          </a:solidFill>
                          <a:effectLst/>
                          <a:uFillTx/>
                          <a:latin typeface="Arial"/>
                        </a:rPr>
                        <a:t>Run the offer test  </a:t>
                      </a:r>
                      <a:r>
                        <a:rPr lang="en-US" sz="1100" b="0" u="none" strike="noStrike">
                          <a:solidFill>
                            <a:srgbClr val="2B3947"/>
                          </a:solidFill>
                          <a:effectLst/>
                          <a:uFillTx/>
                          <a:latin typeface="Arial"/>
                        </a:rPr>
                        <a:t>"First month free" lifts conversion 13.8% → 24.3% (p &lt; 0.01).</a:t>
                      </a:r>
                      <a:endParaRPr lang="en-US" sz="110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c>
                  <a:txBody>
                    <a:bodyPr lIns="50760" tIns="88560" rIns="75960" bIns="88560" anchor="t">
                      <a:noAutofit/>
                    </a:bodyPr>
                    <a:p>
                      <a:pPr defTabSz="914400">
                        <a:lnSpc>
                          <a:spcPct val="100000"/>
                        </a:lnSpc>
                        <a:tabLst>
                          <a:tab pos="0" algn="l"/>
                        </a:tabLst>
                      </a:pPr>
                      <a:r>
                        <a:rPr lang="en-US" sz="1150" b="0" u="none" strike="noStrike">
                          <a:solidFill>
                            <a:srgbClr val="2B3947"/>
                          </a:solidFill>
                          <a:effectLst/>
                          <a:uFillTx/>
                          <a:latin typeface="Arial"/>
                        </a:rPr>
                        <a:t>Experimentation on the same flags</a:t>
                      </a:r>
                      <a:endParaRPr lang="en-US" sz="115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c>
                  <a:txBody>
                    <a:bodyPr lIns="50760" tIns="88560" rIns="75960" bIns="88560" anchor="t">
                      <a:noAutofit/>
                    </a:bodyPr>
                    <a:p>
                      <a:pPr defTabSz="914400">
                        <a:lnSpc>
                          <a:spcPct val="100000"/>
                        </a:lnSpc>
                        <a:tabLst>
                          <a:tab pos="0" algn="l"/>
                        </a:tabLst>
                      </a:pPr>
                      <a:r>
                        <a:rPr lang="en-US" sz="1150" b="1" u="none" strike="noStrike">
                          <a:solidFill>
                            <a:srgbClr val="0278D5"/>
                          </a:solidFill>
                          <a:effectLst/>
                          <a:uFillTx/>
                          <a:latin typeface="Arial"/>
                        </a:rPr>
                        <a:t>Higher ARPU; decisions in days, not weeks</a:t>
                      </a:r>
                      <a:endParaRPr lang="en-US" sz="115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r>
              <a:tr h="274320">
                <a:tc>
                  <a:txBody>
                    <a:bodyPr lIns="50760" tIns="88560" rIns="75960" bIns="88560" anchor="t">
                      <a:noAutofit/>
                    </a:bodyPr>
                    <a:p>
                      <a:pPr defTabSz="914400">
                        <a:lnSpc>
                          <a:spcPct val="100000"/>
                        </a:lnSpc>
                        <a:tabLst>
                          <a:tab pos="0" algn="l"/>
                        </a:tabLst>
                      </a:pPr>
                      <a:r>
                        <a:rPr lang="en-US" sz="1400" b="1" u="none" strike="noStrike">
                          <a:solidFill>
                            <a:srgbClr val="7D4DD3"/>
                          </a:solidFill>
                          <a:effectLst/>
                          <a:uFillTx/>
                          <a:latin typeface="Arial"/>
                        </a:rPr>
                        <a:t>7</a:t>
                      </a:r>
                      <a:endParaRPr lang="en-US" sz="140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c>
                  <a:txBody>
                    <a:bodyPr lIns="50760" tIns="88560" rIns="75960" bIns="88560" anchor="t">
                      <a:noAutofit/>
                    </a:bodyPr>
                    <a:p>
                      <a:pPr defTabSz="914400">
                        <a:lnSpc>
                          <a:spcPct val="100000"/>
                        </a:lnSpc>
                        <a:tabLst>
                          <a:tab pos="0" algn="l"/>
                        </a:tabLst>
                      </a:pPr>
                      <a:r>
                        <a:rPr lang="en-US" sz="1200" b="1" u="none" strike="noStrike">
                          <a:solidFill>
                            <a:srgbClr val="0B1A2B"/>
                          </a:solidFill>
                          <a:effectLst/>
                          <a:uFillTx/>
                          <a:latin typeface="Arial"/>
                        </a:rPr>
                        <a:t>Check the audit trail  </a:t>
                      </a:r>
                      <a:r>
                        <a:rPr lang="en-US" sz="1100" b="0" u="none" strike="noStrike">
                          <a:solidFill>
                            <a:srgbClr val="2B3947"/>
                          </a:solidFill>
                          <a:effectLst/>
                          <a:uFillTx/>
                          <a:latin typeface="Arial"/>
                        </a:rPr>
                        <a:t>The Rotterdam change: who, when, why. Tag policy enforced.</a:t>
                      </a:r>
                      <a:endParaRPr lang="en-US" sz="110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c>
                  <a:txBody>
                    <a:bodyPr lIns="50760" tIns="88560" rIns="75960" bIns="88560" anchor="t">
                      <a:noAutofit/>
                    </a:bodyPr>
                    <a:p>
                      <a:pPr defTabSz="914400">
                        <a:lnSpc>
                          <a:spcPct val="100000"/>
                        </a:lnSpc>
                        <a:tabLst>
                          <a:tab pos="0" algn="l"/>
                        </a:tabLst>
                      </a:pPr>
                      <a:r>
                        <a:rPr lang="en-US" sz="1150" b="0" u="none" strike="noStrike">
                          <a:solidFill>
                            <a:srgbClr val="2B3947"/>
                          </a:solidFill>
                          <a:effectLst/>
                          <a:uFillTx/>
                          <a:latin typeface="Arial"/>
                        </a:rPr>
                        <a:t>Governance: audit, policy, approvals</a:t>
                      </a:r>
                      <a:endParaRPr lang="en-US" sz="115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c>
                  <a:txBody>
                    <a:bodyPr lIns="50760" tIns="88560" rIns="75960" bIns="88560" anchor="t">
                      <a:noAutofit/>
                    </a:bodyPr>
                    <a:p>
                      <a:pPr defTabSz="914400">
                        <a:lnSpc>
                          <a:spcPct val="100000"/>
                        </a:lnSpc>
                        <a:tabLst>
                          <a:tab pos="0" algn="l"/>
                        </a:tabLst>
                      </a:pPr>
                      <a:r>
                        <a:rPr lang="en-US" sz="1150" b="1" u="none" strike="noStrike">
                          <a:solidFill>
                            <a:srgbClr val="0278D5"/>
                          </a:solidFill>
                          <a:effectLst/>
                          <a:uFillTx/>
                          <a:latin typeface="Arial"/>
                        </a:rPr>
                        <a:t>Every change accountable; passes InfoSec</a:t>
                      </a:r>
                      <a:endParaRPr lang="en-US" sz="1150" b="0" u="none" strike="noStrike">
                        <a:solidFill>
                          <a:srgbClr val="000000"/>
                        </a:solidFill>
                        <a:effectLst/>
                        <a:uFillTx/>
                        <a:latin typeface="Arial"/>
                      </a:endParaRPr>
                    </a:p>
                  </a:txBody>
                  <a:tcPr anchor="t" marL="50760" marR="75960" marT="88560" marB="88560">
                    <a:lnL w="12240">
                      <a:noFill/>
                      <a:prstDash val="solid"/>
                    </a:lnL>
                    <a:lnR w="12240">
                      <a:noFill/>
                      <a:prstDash val="solid"/>
                    </a:lnR>
                    <a:lnT w="12240">
                      <a:noFill/>
                      <a:prstDash val="solid"/>
                    </a:lnT>
                    <a:lnB w="9360">
                      <a:solidFill>
                        <a:srgbClr val="DFE6EE"/>
                      </a:solidFill>
                      <a:prstDash val="solid"/>
                    </a:lnB>
                    <a:noFill/>
                  </a:tcPr>
                </a:tc>
              </a:tr>
            </a:tbl>
          </a:graphicData>
        </a:graphic>
      </p:graphicFrame>
      <p:sp>
        <p:nvSpPr>
          <p:cNvPr id="167" name="Shape 5"/>
          <p:cNvSpPr/>
          <p:nvPr/>
        </p:nvSpPr>
        <p:spPr>
          <a:xfrm>
            <a:off x="457200" y="5806440"/>
            <a:ext cx="11246400" cy="456480"/>
          </a:xfrm>
          <a:prstGeom prst="rect">
            <a:avLst/>
          </a:prstGeom>
          <a:solidFill>
            <a:srgbClr val="07182B"/>
          </a:solidFill>
          <a:ln w="12700">
            <a:solidFill>
              <a:srgbClr val="07182B"/>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168" name="Text 6"/>
          <p:cNvSpPr/>
          <p:nvPr/>
        </p:nvSpPr>
        <p:spPr>
          <a:xfrm>
            <a:off x="640080" y="5806440"/>
            <a:ext cx="10972080" cy="4564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50" b="1" u="none" strike="noStrike">
                <a:solidFill>
                  <a:srgbClr val="C8F169"/>
                </a:solidFill>
                <a:effectLst/>
                <a:uFillTx/>
                <a:latin typeface="Arial"/>
                <a:ea typeface="Arial"/>
              </a:rPr>
              <a:t>All it takes in the app:  </a:t>
            </a:r>
            <a:r>
              <a:rPr lang="en-US" sz="1250" b="0" u="none" strike="noStrike">
                <a:solidFill>
                  <a:srgbClr val="FFFFFF"/>
                </a:solidFill>
                <a:effectLst/>
                <a:uFillTx/>
                <a:latin typeface="Courier New"/>
                <a:ea typeface="Courier New"/>
              </a:rPr>
              <a:t>client.getTreatment('odido_upgrade_journey_v2', { city, customerType, appVersion, plan })</a:t>
            </a:r>
            <a:endParaRPr lang="en-US" sz="1250" b="0" u="none" strike="noStrike">
              <a:solidFill>
                <a:srgbClr val="000000"/>
              </a:solidFill>
              <a:effectLst/>
              <a:uFillTx/>
              <a:latin typeface="Arial"/>
            </a:endParaRPr>
          </a:p>
        </p:txBody>
      </p:sp>
      <p:sp>
        <p:nvSpPr>
          <p:cNvPr id="169" name="PlaceHolder 1"/>
          <p:cNvSpPr>
            <a:spLocks noGrp="1"/>
          </p:cNvSpPr>
          <p:nvPr>
            <p:ph type="sldNum" idx="11"/>
          </p:nvPr>
        </p:nvSpPr>
        <p:spPr>
          <a:xfrm>
            <a:off x="11338560" y="6519600"/>
            <a:ext cx="456480" cy="2736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900" b="0" u="none" strike="noStrike">
                <a:solidFill>
                  <a:srgbClr val="9FB3C8"/>
                </a:solidFill>
                <a:effectLst/>
                <a:uFillTx/>
                <a:latin typeface="Arial"/>
                <a:ea typeface="Arial"/>
              </a:defRPr>
            </a:lvl1pPr>
          </a:lstStyle>
          <a:p>
            <a:pPr indent="0" algn="l" defTabSz="914400">
              <a:lnSpc>
                <a:spcPct val="100000"/>
              </a:lnSpc>
              <a:buNone/>
              <a:tabLst>
                <a:tab pos="0" algn="l"/>
              </a:tabLst>
            </a:pPr>
            <a:fld id="{D5FA506C-FE11-46CC-80CB-335E687CB420}" type="slidenum">
              <a:rPr lang="en-US" sz="900" b="0" u="none" strike="noStrike">
                <a:solidFill>
                  <a:srgbClr val="9FB3C8"/>
                </a:solidFill>
                <a:effectLst/>
                <a:uFillTx/>
                <a:latin typeface="Arial"/>
                <a:ea typeface="Arial"/>
              </a:rPr>
              <a:t>1</a:t>
            </a:fld>
            <a:endParaRPr lang="en-US" sz="900" b="0" u="none" strike="noStrike">
              <a:solidFill>
                <a:srgbClr val="000000"/>
              </a:solidFill>
              <a:effectLst/>
              <a:uFillTx/>
              <a:latin typeface="Times New Roman"/>
            </a:endParaRPr>
          </a:p>
        </p:txBody>
      </p:sp>
      <p:pic>
        <p:nvPicPr>
          <p:cNvPr id="170" name=""/>
          <p:cNvPicPr/>
          <p:nvPr/>
        </p:nvPicPr>
        <p:blipFill>
          <a:blip r:embed="rId1"/>
          <a:stretch/>
        </p:blipFill>
        <p:spPr>
          <a:xfrm>
            <a:off x="10287000" y="228600"/>
            <a:ext cx="1371600" cy="300240"/>
          </a:xfrm>
          <a:prstGeom prst="rect">
            <a:avLst/>
          </a:prstGeom>
          <a:noFill/>
          <a:ln w="3816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Shape 0"/>
          <p:cNvSpPr/>
          <p:nvPr/>
        </p:nvSpPr>
        <p:spPr>
          <a:xfrm>
            <a:off x="0" y="6446520"/>
            <a:ext cx="12191040" cy="410760"/>
          </a:xfrm>
          <a:prstGeom prst="rect">
            <a:avLst/>
          </a:prstGeom>
          <a:solidFill>
            <a:srgbClr val="07182B"/>
          </a:solidFill>
          <a:ln w="12700">
            <a:solidFill>
              <a:srgbClr val="07182B"/>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172" name="Text 1"/>
          <p:cNvSpPr/>
          <p:nvPr/>
        </p:nvSpPr>
        <p:spPr>
          <a:xfrm>
            <a:off x="457200" y="6464880"/>
            <a:ext cx="27424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harness</a:t>
            </a:r>
            <a:r>
              <a:rPr lang="en-US" sz="1200" b="1" u="none" strike="noStrike">
                <a:solidFill>
                  <a:srgbClr val="00ADE4"/>
                </a:solidFill>
                <a:effectLst/>
                <a:uFillTx/>
                <a:latin typeface="Arial"/>
                <a:ea typeface="Arial"/>
              </a:rPr>
              <a:t>  FME</a:t>
            </a:r>
            <a:endParaRPr lang="en-US" sz="1200" b="0" u="none" strike="noStrike">
              <a:solidFill>
                <a:srgbClr val="000000"/>
              </a:solidFill>
              <a:effectLst/>
              <a:uFillTx/>
              <a:latin typeface="Arial"/>
            </a:endParaRPr>
          </a:p>
        </p:txBody>
      </p:sp>
      <p:sp>
        <p:nvSpPr>
          <p:cNvPr id="173" name="Text 2"/>
          <p:cNvSpPr/>
          <p:nvPr/>
        </p:nvSpPr>
        <p:spPr>
          <a:xfrm>
            <a:off x="5943600" y="6464880"/>
            <a:ext cx="5211360" cy="365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9FB3C8"/>
                </a:solidFill>
                <a:effectLst/>
                <a:uFillTx/>
                <a:latin typeface="Arial"/>
                <a:ea typeface="Arial"/>
              </a:rPr>
              <a:t>Odido × Harness  |  Confidential</a:t>
            </a:r>
            <a:endParaRPr lang="en-US" sz="900" b="0" u="none" strike="noStrike">
              <a:solidFill>
                <a:srgbClr val="000000"/>
              </a:solidFill>
              <a:effectLst/>
              <a:uFillTx/>
              <a:latin typeface="Arial"/>
            </a:endParaRPr>
          </a:p>
        </p:txBody>
      </p:sp>
      <p:sp>
        <p:nvSpPr>
          <p:cNvPr id="174" name="Text 3"/>
          <p:cNvSpPr/>
          <p:nvPr/>
        </p:nvSpPr>
        <p:spPr>
          <a:xfrm>
            <a:off x="457200" y="274320"/>
            <a:ext cx="1124640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0B1A2B"/>
                </a:solidFill>
                <a:effectLst/>
                <a:uFillTx/>
                <a:latin typeface="Arial"/>
                <a:ea typeface="Arial"/>
              </a:rPr>
              <a:t>What you just saw</a:t>
            </a:r>
            <a:endParaRPr lang="en-US" sz="2800" b="0" u="none" strike="noStrike">
              <a:solidFill>
                <a:srgbClr val="000000"/>
              </a:solidFill>
              <a:effectLst/>
              <a:uFillTx/>
              <a:latin typeface="Arial"/>
            </a:endParaRPr>
          </a:p>
        </p:txBody>
      </p:sp>
      <p:sp>
        <p:nvSpPr>
          <p:cNvPr id="175" name="Text 4"/>
          <p:cNvSpPr/>
          <p:nvPr/>
        </p:nvSpPr>
        <p:spPr>
          <a:xfrm>
            <a:off x="457200" y="841320"/>
            <a:ext cx="1124640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B6B7F"/>
                </a:solidFill>
                <a:effectLst/>
                <a:uFillTx/>
                <a:latin typeface="Arial"/>
                <a:ea typeface="Arial"/>
              </a:rPr>
              <a:t>Every required capability from Our Understanding, proven live on Odido's own journey.</a:t>
            </a:r>
            <a:endParaRPr lang="en-US" sz="1300" b="0" u="none" strike="noStrike">
              <a:solidFill>
                <a:srgbClr val="000000"/>
              </a:solidFill>
              <a:effectLst/>
              <a:uFillTx/>
              <a:latin typeface="Arial"/>
            </a:endParaRPr>
          </a:p>
        </p:txBody>
      </p:sp>
      <p:sp>
        <p:nvSpPr>
          <p:cNvPr id="176" name="PlaceHolder 1"/>
          <p:cNvSpPr>
            <a:spLocks noGrp="1"/>
          </p:cNvSpPr>
          <p:nvPr>
            <p:ph type="sldNum" idx="12"/>
          </p:nvPr>
        </p:nvSpPr>
        <p:spPr>
          <a:xfrm>
            <a:off x="11338560" y="6519600"/>
            <a:ext cx="456480" cy="2736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900" b="0" u="none" strike="noStrike">
                <a:solidFill>
                  <a:srgbClr val="9FB3C8"/>
                </a:solidFill>
                <a:effectLst/>
                <a:uFillTx/>
                <a:latin typeface="Arial"/>
                <a:ea typeface="Arial"/>
              </a:defRPr>
            </a:lvl1pPr>
          </a:lstStyle>
          <a:p>
            <a:pPr indent="0" algn="l" defTabSz="914400">
              <a:lnSpc>
                <a:spcPct val="100000"/>
              </a:lnSpc>
              <a:buNone/>
              <a:tabLst>
                <a:tab pos="0" algn="l"/>
              </a:tabLst>
            </a:pPr>
            <a:fld id="{9E4DE646-A40B-4CA4-8014-9049B4DC1697}" type="slidenum">
              <a:rPr lang="en-US" sz="900" b="0" u="none" strike="noStrike">
                <a:solidFill>
                  <a:srgbClr val="9FB3C8"/>
                </a:solidFill>
                <a:effectLst/>
                <a:uFillTx/>
                <a:latin typeface="Arial"/>
                <a:ea typeface="Arial"/>
              </a:rPr>
              <a:t>1</a:t>
            </a:fld>
            <a:endParaRPr lang="en-US" sz="900" b="0" u="none" strike="noStrike">
              <a:solidFill>
                <a:srgbClr val="000000"/>
              </a:solidFill>
              <a:effectLst/>
              <a:uFillTx/>
              <a:latin typeface="Times New Roman"/>
            </a:endParaRPr>
          </a:p>
        </p:txBody>
      </p:sp>
      <p:sp>
        <p:nvSpPr>
          <p:cNvPr id="177" name="TextBox 25"/>
          <p:cNvSpPr/>
          <p:nvPr/>
        </p:nvSpPr>
        <p:spPr>
          <a:xfrm>
            <a:off x="457200" y="1325880"/>
            <a:ext cx="639360" cy="27360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950" b="1" u="none" strike="noStrike">
                <a:solidFill>
                  <a:srgbClr val="5B6B7F"/>
                </a:solidFill>
                <a:effectLst/>
                <a:uFillTx/>
                <a:latin typeface="Arial"/>
              </a:rPr>
              <a:t>SHOWN</a:t>
            </a:r>
            <a:endParaRPr lang="en-US" sz="950" b="0" u="none" strike="noStrike">
              <a:solidFill>
                <a:srgbClr val="000000"/>
              </a:solidFill>
              <a:effectLst/>
              <a:uFillTx/>
              <a:latin typeface="Arial"/>
            </a:endParaRPr>
          </a:p>
        </p:txBody>
      </p:sp>
      <p:sp>
        <p:nvSpPr>
          <p:cNvPr id="178" name="TextBox 26"/>
          <p:cNvSpPr/>
          <p:nvPr/>
        </p:nvSpPr>
        <p:spPr>
          <a:xfrm>
            <a:off x="1188720" y="1325880"/>
            <a:ext cx="3245400" cy="27360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950" b="1" u="none" strike="noStrike">
                <a:solidFill>
                  <a:srgbClr val="5B6B7F"/>
                </a:solidFill>
                <a:effectLst/>
                <a:uFillTx/>
                <a:latin typeface="Arial"/>
              </a:rPr>
              <a:t>REQUIRED CAPABILITY</a:t>
            </a:r>
            <a:endParaRPr lang="en-US" sz="950" b="0" u="none" strike="noStrike">
              <a:solidFill>
                <a:srgbClr val="000000"/>
              </a:solidFill>
              <a:effectLst/>
              <a:uFillTx/>
              <a:latin typeface="Arial"/>
            </a:endParaRPr>
          </a:p>
        </p:txBody>
      </p:sp>
      <p:sp>
        <p:nvSpPr>
          <p:cNvPr id="179" name="TextBox 27"/>
          <p:cNvSpPr/>
          <p:nvPr/>
        </p:nvSpPr>
        <p:spPr>
          <a:xfrm>
            <a:off x="4572000" y="1325880"/>
            <a:ext cx="3976920" cy="27360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950" b="1" u="none" strike="noStrike">
                <a:solidFill>
                  <a:srgbClr val="5B6B7F"/>
                </a:solidFill>
                <a:effectLst/>
                <a:uFillTx/>
                <a:latin typeface="Arial"/>
              </a:rPr>
              <a:t>WHAT YOU SAW</a:t>
            </a:r>
            <a:endParaRPr lang="en-US" sz="950" b="0" u="none" strike="noStrike">
              <a:solidFill>
                <a:srgbClr val="000000"/>
              </a:solidFill>
              <a:effectLst/>
              <a:uFillTx/>
              <a:latin typeface="Arial"/>
            </a:endParaRPr>
          </a:p>
        </p:txBody>
      </p:sp>
      <p:sp>
        <p:nvSpPr>
          <p:cNvPr id="180" name="TextBox 28"/>
          <p:cNvSpPr/>
          <p:nvPr/>
        </p:nvSpPr>
        <p:spPr>
          <a:xfrm>
            <a:off x="8686800" y="1325880"/>
            <a:ext cx="3016800" cy="27360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950" b="1" u="none" strike="noStrike">
                <a:solidFill>
                  <a:srgbClr val="5B6B7F"/>
                </a:solidFill>
                <a:effectLst/>
                <a:uFillTx/>
                <a:latin typeface="Arial"/>
              </a:rPr>
              <a:t>METRIC IT MOVES</a:t>
            </a:r>
            <a:endParaRPr lang="en-US" sz="950" b="0" u="none" strike="noStrike">
              <a:solidFill>
                <a:srgbClr val="000000"/>
              </a:solidFill>
              <a:effectLst/>
              <a:uFillTx/>
              <a:latin typeface="Arial"/>
            </a:endParaRPr>
          </a:p>
        </p:txBody>
      </p:sp>
      <p:cxnSp>
        <p:nvCxnSpPr>
          <p:cNvPr id="181" name="Connector 29"/>
          <p:cNvCxnSpPr/>
          <p:nvPr/>
        </p:nvCxnSpPr>
        <p:spPr>
          <a:xfrm>
            <a:off x="457200" y="1627560"/>
            <a:ext cx="11247840" cy="720"/>
          </a:xfrm>
          <a:prstGeom prst="straightConnector1">
            <a:avLst/>
          </a:prstGeom>
          <a:ln w="19050">
            <a:solidFill>
              <a:srgbClr val="0B1A2B"/>
            </a:solidFill>
            <a:round/>
          </a:ln>
        </p:spPr>
      </p:cxnSp>
      <p:sp>
        <p:nvSpPr>
          <p:cNvPr id="182" name="Rounded Rectangle 30"/>
          <p:cNvSpPr/>
          <p:nvPr/>
        </p:nvSpPr>
        <p:spPr>
          <a:xfrm>
            <a:off x="567000" y="1874520"/>
            <a:ext cx="383400" cy="383400"/>
          </a:xfrm>
          <a:prstGeom prst="roundRect">
            <a:avLst>
              <a:gd name="adj" fmla="val 18000"/>
            </a:avLst>
          </a:prstGeom>
          <a:solidFill>
            <a:srgbClr val="1FA971"/>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83" name="Freeform 6"/>
          <p:cNvSpPr/>
          <p:nvPr/>
        </p:nvSpPr>
        <p:spPr>
          <a:xfrm>
            <a:off x="658440" y="1974960"/>
            <a:ext cx="209520" cy="182160"/>
          </a:xfrm>
          <a:custGeom>
            <a:avLst/>
            <a:gdLst>
              <a:gd name="textAreaLeft" fmla="*/ 0 w 209520"/>
              <a:gd name="textAreaRight" fmla="*/ 210240 w 209520"/>
              <a:gd name="textAreaTop" fmla="*/ 0 h 182160"/>
              <a:gd name="textAreaBottom" fmla="*/ 182880 h 182160"/>
            </a:gdLst>
            <a:ahLst/>
            <a:cxnLst/>
            <a:rect l="textAreaLeft" t="textAreaTop" r="textAreaRight" b="textAreaBottom"/>
            <a:pathLst>
              <a:path w="210312" h="182880">
                <a:moveTo>
                  <a:pt x="0" y="100584"/>
                </a:moveTo>
                <a:lnTo>
                  <a:pt x="73152" y="182880"/>
                </a:lnTo>
                <a:lnTo>
                  <a:pt x="210312" y="0"/>
                </a:lnTo>
              </a:path>
            </a:pathLst>
          </a:custGeom>
          <a:noFill/>
          <a:ln w="34925">
            <a:solidFill>
              <a:srgbClr val="FFFFFF"/>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84" name="TextBox 31"/>
          <p:cNvSpPr/>
          <p:nvPr/>
        </p:nvSpPr>
        <p:spPr>
          <a:xfrm>
            <a:off x="1188720" y="1691640"/>
            <a:ext cx="3245400" cy="7491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250" b="1" u="none" strike="noStrike">
                <a:solidFill>
                  <a:srgbClr val="0B1A2B"/>
                </a:solidFill>
                <a:effectLst/>
                <a:uFillTx/>
                <a:latin typeface="Arial"/>
              </a:rPr>
              <a:t>% rollouts and targeting by segment, city, staff, beta</a:t>
            </a:r>
            <a:endParaRPr lang="en-US" sz="1250" b="0" u="none" strike="noStrike">
              <a:solidFill>
                <a:srgbClr val="000000"/>
              </a:solidFill>
              <a:effectLst/>
              <a:uFillTx/>
              <a:latin typeface="Arial"/>
            </a:endParaRPr>
          </a:p>
        </p:txBody>
      </p:sp>
      <p:sp>
        <p:nvSpPr>
          <p:cNvPr id="185" name="TextBox 32"/>
          <p:cNvSpPr/>
          <p:nvPr/>
        </p:nvSpPr>
        <p:spPr>
          <a:xfrm>
            <a:off x="4572000" y="1691640"/>
            <a:ext cx="3976920" cy="7491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150" b="0" u="none" strike="noStrike">
                <a:solidFill>
                  <a:srgbClr val="2B3947"/>
                </a:solidFill>
                <a:effectLst/>
                <a:uFillTx/>
                <a:latin typeface="Arial"/>
              </a:rPr>
              <a:t>Staff, beta and Amsterdam in; old app and business customers out. Rotterdam added live, no deploy.</a:t>
            </a:r>
            <a:endParaRPr lang="en-US" sz="1150" b="0" u="none" strike="noStrike">
              <a:solidFill>
                <a:srgbClr val="000000"/>
              </a:solidFill>
              <a:effectLst/>
              <a:uFillTx/>
              <a:latin typeface="Arial"/>
            </a:endParaRPr>
          </a:p>
        </p:txBody>
      </p:sp>
      <p:sp>
        <p:nvSpPr>
          <p:cNvPr id="186" name="TextBox 33"/>
          <p:cNvSpPr/>
          <p:nvPr/>
        </p:nvSpPr>
        <p:spPr>
          <a:xfrm>
            <a:off x="8686800" y="1691640"/>
            <a:ext cx="3016800" cy="7491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150" b="1" u="none" strike="noStrike">
                <a:solidFill>
                  <a:srgbClr val="0278D5"/>
                </a:solidFill>
                <a:effectLst/>
                <a:uFillTx/>
                <a:latin typeface="Arial"/>
              </a:rPr>
              <a:t>Release frequency · % of customers exposed</a:t>
            </a:r>
            <a:endParaRPr lang="en-US" sz="1150" b="0" u="none" strike="noStrike">
              <a:solidFill>
                <a:srgbClr val="000000"/>
              </a:solidFill>
              <a:effectLst/>
              <a:uFillTx/>
              <a:latin typeface="Arial"/>
            </a:endParaRPr>
          </a:p>
        </p:txBody>
      </p:sp>
      <p:cxnSp>
        <p:nvCxnSpPr>
          <p:cNvPr id="187" name="Connector 34"/>
          <p:cNvCxnSpPr/>
          <p:nvPr/>
        </p:nvCxnSpPr>
        <p:spPr>
          <a:xfrm>
            <a:off x="457200" y="2441160"/>
            <a:ext cx="11247840" cy="720"/>
          </a:xfrm>
          <a:prstGeom prst="straightConnector1">
            <a:avLst/>
          </a:prstGeom>
          <a:ln w="9525">
            <a:solidFill>
              <a:srgbClr val="DFE6EE"/>
            </a:solidFill>
            <a:round/>
          </a:ln>
        </p:spPr>
      </p:cxnSp>
      <p:sp>
        <p:nvSpPr>
          <p:cNvPr id="188" name="Rounded Rectangle 35"/>
          <p:cNvSpPr/>
          <p:nvPr/>
        </p:nvSpPr>
        <p:spPr>
          <a:xfrm>
            <a:off x="567000" y="2624400"/>
            <a:ext cx="383400" cy="383400"/>
          </a:xfrm>
          <a:prstGeom prst="roundRect">
            <a:avLst>
              <a:gd name="adj" fmla="val 18000"/>
            </a:avLst>
          </a:prstGeom>
          <a:solidFill>
            <a:srgbClr val="1FA971"/>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89" name="Freeform 7"/>
          <p:cNvSpPr/>
          <p:nvPr/>
        </p:nvSpPr>
        <p:spPr>
          <a:xfrm>
            <a:off x="658440" y="2724840"/>
            <a:ext cx="209520" cy="182160"/>
          </a:xfrm>
          <a:custGeom>
            <a:avLst/>
            <a:gdLst>
              <a:gd name="textAreaLeft" fmla="*/ 0 w 209520"/>
              <a:gd name="textAreaRight" fmla="*/ 210240 w 209520"/>
              <a:gd name="textAreaTop" fmla="*/ 0 h 182160"/>
              <a:gd name="textAreaBottom" fmla="*/ 182880 h 182160"/>
            </a:gdLst>
            <a:ahLst/>
            <a:cxnLst/>
            <a:rect l="textAreaLeft" t="textAreaTop" r="textAreaRight" b="textAreaBottom"/>
            <a:pathLst>
              <a:path w="210312" h="182879">
                <a:moveTo>
                  <a:pt x="0" y="100584"/>
                </a:moveTo>
                <a:lnTo>
                  <a:pt x="73152" y="182879"/>
                </a:lnTo>
                <a:lnTo>
                  <a:pt x="210312" y="0"/>
                </a:lnTo>
              </a:path>
            </a:pathLst>
          </a:custGeom>
          <a:noFill/>
          <a:ln w="34925">
            <a:solidFill>
              <a:srgbClr val="FFFFFF"/>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90" name="TextBox 36"/>
          <p:cNvSpPr/>
          <p:nvPr/>
        </p:nvSpPr>
        <p:spPr>
          <a:xfrm>
            <a:off x="1188720" y="2441520"/>
            <a:ext cx="3245400" cy="7491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250" b="1" u="none" strike="noStrike">
                <a:solidFill>
                  <a:srgbClr val="0B1A2B"/>
                </a:solidFill>
                <a:effectLst/>
                <a:uFillTx/>
                <a:latin typeface="Arial"/>
              </a:rPr>
              <a:t>Instant kill switch, no deploy or app-store release</a:t>
            </a:r>
            <a:endParaRPr lang="en-US" sz="1250" b="0" u="none" strike="noStrike">
              <a:solidFill>
                <a:srgbClr val="000000"/>
              </a:solidFill>
              <a:effectLst/>
              <a:uFillTx/>
              <a:latin typeface="Arial"/>
            </a:endParaRPr>
          </a:p>
        </p:txBody>
      </p:sp>
      <p:sp>
        <p:nvSpPr>
          <p:cNvPr id="191" name="TextBox 37"/>
          <p:cNvSpPr/>
          <p:nvPr/>
        </p:nvSpPr>
        <p:spPr>
          <a:xfrm>
            <a:off x="4572000" y="2441520"/>
            <a:ext cx="3976920" cy="7491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150" b="0" u="none" strike="noStrike">
                <a:solidFill>
                  <a:srgbClr val="2B3947"/>
                </a:solidFill>
                <a:effectLst/>
                <a:uFillTx/>
                <a:latin typeface="Arial"/>
              </a:rPr>
              <a:t>Plan changes paused in seconds, app degraded gracefully, restored in one click.</a:t>
            </a:r>
            <a:endParaRPr lang="en-US" sz="1150" b="0" u="none" strike="noStrike">
              <a:solidFill>
                <a:srgbClr val="000000"/>
              </a:solidFill>
              <a:effectLst/>
              <a:uFillTx/>
              <a:latin typeface="Arial"/>
            </a:endParaRPr>
          </a:p>
        </p:txBody>
      </p:sp>
      <p:sp>
        <p:nvSpPr>
          <p:cNvPr id="192" name="TextBox 38"/>
          <p:cNvSpPr/>
          <p:nvPr/>
        </p:nvSpPr>
        <p:spPr>
          <a:xfrm>
            <a:off x="8686800" y="2441520"/>
            <a:ext cx="3016800" cy="7491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150" b="1" u="none" strike="noStrike">
                <a:solidFill>
                  <a:srgbClr val="0278D5"/>
                </a:solidFill>
                <a:effectLst/>
                <a:uFillTx/>
                <a:latin typeface="Arial"/>
              </a:rPr>
              <a:t>Mean time to recover · incidents</a:t>
            </a:r>
            <a:endParaRPr lang="en-US" sz="1150" b="0" u="none" strike="noStrike">
              <a:solidFill>
                <a:srgbClr val="000000"/>
              </a:solidFill>
              <a:effectLst/>
              <a:uFillTx/>
              <a:latin typeface="Arial"/>
            </a:endParaRPr>
          </a:p>
        </p:txBody>
      </p:sp>
      <p:cxnSp>
        <p:nvCxnSpPr>
          <p:cNvPr id="193" name="Connector 39"/>
          <p:cNvCxnSpPr/>
          <p:nvPr/>
        </p:nvCxnSpPr>
        <p:spPr>
          <a:xfrm>
            <a:off x="457200" y="3191040"/>
            <a:ext cx="11247840" cy="720"/>
          </a:xfrm>
          <a:prstGeom prst="straightConnector1">
            <a:avLst/>
          </a:prstGeom>
          <a:ln w="9525">
            <a:solidFill>
              <a:srgbClr val="DFE6EE"/>
            </a:solidFill>
            <a:round/>
          </a:ln>
        </p:spPr>
      </p:cxnSp>
      <p:sp>
        <p:nvSpPr>
          <p:cNvPr id="194" name="Rounded Rectangle 40"/>
          <p:cNvSpPr/>
          <p:nvPr/>
        </p:nvSpPr>
        <p:spPr>
          <a:xfrm>
            <a:off x="567000" y="3374280"/>
            <a:ext cx="383400" cy="383400"/>
          </a:xfrm>
          <a:prstGeom prst="roundRect">
            <a:avLst>
              <a:gd name="adj" fmla="val 18000"/>
            </a:avLst>
          </a:prstGeom>
          <a:solidFill>
            <a:srgbClr val="1FA971"/>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95" name="Freeform 8"/>
          <p:cNvSpPr/>
          <p:nvPr/>
        </p:nvSpPr>
        <p:spPr>
          <a:xfrm>
            <a:off x="658440" y="3474720"/>
            <a:ext cx="209520" cy="182160"/>
          </a:xfrm>
          <a:custGeom>
            <a:avLst/>
            <a:gdLst>
              <a:gd name="textAreaLeft" fmla="*/ 0 w 209520"/>
              <a:gd name="textAreaRight" fmla="*/ 210240 w 209520"/>
              <a:gd name="textAreaTop" fmla="*/ 0 h 182160"/>
              <a:gd name="textAreaBottom" fmla="*/ 182880 h 182160"/>
            </a:gdLst>
            <a:ahLst/>
            <a:cxnLst/>
            <a:rect l="textAreaLeft" t="textAreaTop" r="textAreaRight" b="textAreaBottom"/>
            <a:pathLst>
              <a:path w="210312" h="182880">
                <a:moveTo>
                  <a:pt x="0" y="100584"/>
                </a:moveTo>
                <a:lnTo>
                  <a:pt x="73152" y="182880"/>
                </a:lnTo>
                <a:lnTo>
                  <a:pt x="210312" y="0"/>
                </a:lnTo>
              </a:path>
            </a:pathLst>
          </a:custGeom>
          <a:noFill/>
          <a:ln w="34925">
            <a:solidFill>
              <a:srgbClr val="FFFFFF"/>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196" name="TextBox 41"/>
          <p:cNvSpPr/>
          <p:nvPr/>
        </p:nvSpPr>
        <p:spPr>
          <a:xfrm>
            <a:off x="1188720" y="3191400"/>
            <a:ext cx="3245400" cy="7491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250" b="1" u="none" strike="noStrike">
                <a:solidFill>
                  <a:srgbClr val="0B1A2B"/>
                </a:solidFill>
                <a:effectLst/>
                <a:uFillTx/>
                <a:latin typeface="Arial"/>
              </a:rPr>
              <a:t>Release monitoring and guardrails with alerts</a:t>
            </a:r>
            <a:endParaRPr lang="en-US" sz="1250" b="0" u="none" strike="noStrike">
              <a:solidFill>
                <a:srgbClr val="000000"/>
              </a:solidFill>
              <a:effectLst/>
              <a:uFillTx/>
              <a:latin typeface="Arial"/>
            </a:endParaRPr>
          </a:p>
        </p:txBody>
      </p:sp>
      <p:sp>
        <p:nvSpPr>
          <p:cNvPr id="197" name="TextBox 42"/>
          <p:cNvSpPr/>
          <p:nvPr/>
        </p:nvSpPr>
        <p:spPr>
          <a:xfrm>
            <a:off x="4572000" y="3191400"/>
            <a:ext cx="3976920" cy="7491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150" b="0" u="none" strike="noStrike">
                <a:solidFill>
                  <a:srgbClr val="2B3947"/>
                </a:solidFill>
                <a:effectLst/>
                <a:uFillTx/>
                <a:latin typeface="Arial"/>
              </a:rPr>
              <a:t>Scorecard per flag: conversion 7.4% → 10.5%, load time 1.1 s → 0.5 s; failure-rate alert policy.</a:t>
            </a:r>
            <a:endParaRPr lang="en-US" sz="1150" b="0" u="none" strike="noStrike">
              <a:solidFill>
                <a:srgbClr val="000000"/>
              </a:solidFill>
              <a:effectLst/>
              <a:uFillTx/>
              <a:latin typeface="Arial"/>
            </a:endParaRPr>
          </a:p>
        </p:txBody>
      </p:sp>
      <p:sp>
        <p:nvSpPr>
          <p:cNvPr id="198" name="TextBox 43"/>
          <p:cNvSpPr/>
          <p:nvPr/>
        </p:nvSpPr>
        <p:spPr>
          <a:xfrm>
            <a:off x="8686800" y="3191400"/>
            <a:ext cx="3016800" cy="7491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150" b="1" u="none" strike="noStrike">
                <a:solidFill>
                  <a:srgbClr val="0278D5"/>
                </a:solidFill>
                <a:effectLst/>
                <a:uFillTx/>
                <a:latin typeface="Arial"/>
              </a:rPr>
              <a:t>Change failure rate · issues caught early</a:t>
            </a:r>
            <a:endParaRPr lang="en-US" sz="1150" b="0" u="none" strike="noStrike">
              <a:solidFill>
                <a:srgbClr val="000000"/>
              </a:solidFill>
              <a:effectLst/>
              <a:uFillTx/>
              <a:latin typeface="Arial"/>
            </a:endParaRPr>
          </a:p>
        </p:txBody>
      </p:sp>
      <p:cxnSp>
        <p:nvCxnSpPr>
          <p:cNvPr id="199" name="Connector 44"/>
          <p:cNvCxnSpPr/>
          <p:nvPr/>
        </p:nvCxnSpPr>
        <p:spPr>
          <a:xfrm>
            <a:off x="457200" y="3940920"/>
            <a:ext cx="11247840" cy="720"/>
          </a:xfrm>
          <a:prstGeom prst="straightConnector1">
            <a:avLst/>
          </a:prstGeom>
          <a:ln w="9525">
            <a:solidFill>
              <a:srgbClr val="DFE6EE"/>
            </a:solidFill>
            <a:round/>
          </a:ln>
        </p:spPr>
      </p:cxnSp>
      <p:sp>
        <p:nvSpPr>
          <p:cNvPr id="200" name="Rounded Rectangle 45"/>
          <p:cNvSpPr/>
          <p:nvPr/>
        </p:nvSpPr>
        <p:spPr>
          <a:xfrm>
            <a:off x="567000" y="4123800"/>
            <a:ext cx="383400" cy="383400"/>
          </a:xfrm>
          <a:prstGeom prst="roundRect">
            <a:avLst>
              <a:gd name="adj" fmla="val 18000"/>
            </a:avLst>
          </a:prstGeom>
          <a:solidFill>
            <a:srgbClr val="1FA971"/>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01" name="Freeform 9"/>
          <p:cNvSpPr/>
          <p:nvPr/>
        </p:nvSpPr>
        <p:spPr>
          <a:xfrm>
            <a:off x="658440" y="4224600"/>
            <a:ext cx="209520" cy="182160"/>
          </a:xfrm>
          <a:custGeom>
            <a:avLst/>
            <a:gdLst>
              <a:gd name="textAreaLeft" fmla="*/ 0 w 209520"/>
              <a:gd name="textAreaRight" fmla="*/ 210240 w 209520"/>
              <a:gd name="textAreaTop" fmla="*/ 0 h 182160"/>
              <a:gd name="textAreaBottom" fmla="*/ 182880 h 182160"/>
            </a:gdLst>
            <a:ahLst/>
            <a:cxnLst/>
            <a:rect l="textAreaLeft" t="textAreaTop" r="textAreaRight" b="textAreaBottom"/>
            <a:pathLst>
              <a:path w="210312" h="182880">
                <a:moveTo>
                  <a:pt x="0" y="100584"/>
                </a:moveTo>
                <a:lnTo>
                  <a:pt x="73152" y="182880"/>
                </a:lnTo>
                <a:lnTo>
                  <a:pt x="210312" y="0"/>
                </a:lnTo>
              </a:path>
            </a:pathLst>
          </a:custGeom>
          <a:noFill/>
          <a:ln w="34925">
            <a:solidFill>
              <a:srgbClr val="FFFFFF"/>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02" name="TextBox 46"/>
          <p:cNvSpPr/>
          <p:nvPr/>
        </p:nvSpPr>
        <p:spPr>
          <a:xfrm>
            <a:off x="1188720" y="3940920"/>
            <a:ext cx="3245400" cy="7491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250" b="1" u="none" strike="noStrike">
                <a:solidFill>
                  <a:srgbClr val="0B1A2B"/>
                </a:solidFill>
                <a:effectLst/>
                <a:uFillTx/>
                <a:latin typeface="Arial"/>
              </a:rPr>
              <a:t>Built-in experimentation on the same flags</a:t>
            </a:r>
            <a:endParaRPr lang="en-US" sz="1250" b="0" u="none" strike="noStrike">
              <a:solidFill>
                <a:srgbClr val="000000"/>
              </a:solidFill>
              <a:effectLst/>
              <a:uFillTx/>
              <a:latin typeface="Arial"/>
            </a:endParaRPr>
          </a:p>
        </p:txBody>
      </p:sp>
      <p:sp>
        <p:nvSpPr>
          <p:cNvPr id="203" name="TextBox 47"/>
          <p:cNvSpPr/>
          <p:nvPr/>
        </p:nvSpPr>
        <p:spPr>
          <a:xfrm>
            <a:off x="4572000" y="3940920"/>
            <a:ext cx="3976920" cy="7491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150" b="0" u="none" strike="noStrike">
                <a:solidFill>
                  <a:srgbClr val="2B3947"/>
                </a:solidFill>
                <a:effectLst/>
                <a:uFillTx/>
                <a:latin typeface="Arial"/>
              </a:rPr>
              <a:t>"First month free" lifted conversion 13.8% → 24.3% (p &lt; 0.01), guardrails flat.</a:t>
            </a:r>
            <a:endParaRPr lang="en-US" sz="1150" b="0" u="none" strike="noStrike">
              <a:solidFill>
                <a:srgbClr val="000000"/>
              </a:solidFill>
              <a:effectLst/>
              <a:uFillTx/>
              <a:latin typeface="Arial"/>
            </a:endParaRPr>
          </a:p>
        </p:txBody>
      </p:sp>
      <p:sp>
        <p:nvSpPr>
          <p:cNvPr id="204" name="TextBox 48"/>
          <p:cNvSpPr/>
          <p:nvPr/>
        </p:nvSpPr>
        <p:spPr>
          <a:xfrm>
            <a:off x="8686800" y="3940920"/>
            <a:ext cx="3016800" cy="7491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150" b="1" u="none" strike="noStrike">
                <a:solidFill>
                  <a:srgbClr val="0278D5"/>
                </a:solidFill>
                <a:effectLst/>
                <a:uFillTx/>
                <a:latin typeface="Arial"/>
              </a:rPr>
              <a:t>Experiments per quarter · days to decision</a:t>
            </a:r>
            <a:endParaRPr lang="en-US" sz="1150" b="0" u="none" strike="noStrike">
              <a:solidFill>
                <a:srgbClr val="000000"/>
              </a:solidFill>
              <a:effectLst/>
              <a:uFillTx/>
              <a:latin typeface="Arial"/>
            </a:endParaRPr>
          </a:p>
        </p:txBody>
      </p:sp>
      <p:cxnSp>
        <p:nvCxnSpPr>
          <p:cNvPr id="205" name="Connector 49"/>
          <p:cNvCxnSpPr/>
          <p:nvPr/>
        </p:nvCxnSpPr>
        <p:spPr>
          <a:xfrm>
            <a:off x="457200" y="4690800"/>
            <a:ext cx="11247840" cy="720"/>
          </a:xfrm>
          <a:prstGeom prst="straightConnector1">
            <a:avLst/>
          </a:prstGeom>
          <a:ln w="9525">
            <a:solidFill>
              <a:srgbClr val="DFE6EE"/>
            </a:solidFill>
            <a:round/>
          </a:ln>
        </p:spPr>
      </p:cxnSp>
      <p:sp>
        <p:nvSpPr>
          <p:cNvPr id="206" name="Rounded Rectangle 50"/>
          <p:cNvSpPr/>
          <p:nvPr/>
        </p:nvSpPr>
        <p:spPr>
          <a:xfrm>
            <a:off x="567000" y="4873680"/>
            <a:ext cx="383400" cy="383400"/>
          </a:xfrm>
          <a:prstGeom prst="roundRect">
            <a:avLst>
              <a:gd name="adj" fmla="val 18000"/>
            </a:avLst>
          </a:prstGeom>
          <a:solidFill>
            <a:srgbClr val="1FA971"/>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07" name="Freeform 10"/>
          <p:cNvSpPr/>
          <p:nvPr/>
        </p:nvSpPr>
        <p:spPr>
          <a:xfrm>
            <a:off x="658440" y="4974480"/>
            <a:ext cx="209520" cy="182160"/>
          </a:xfrm>
          <a:custGeom>
            <a:avLst/>
            <a:gdLst>
              <a:gd name="textAreaLeft" fmla="*/ 0 w 209520"/>
              <a:gd name="textAreaRight" fmla="*/ 210240 w 209520"/>
              <a:gd name="textAreaTop" fmla="*/ 0 h 182160"/>
              <a:gd name="textAreaBottom" fmla="*/ 182880 h 182160"/>
            </a:gdLst>
            <a:ahLst/>
            <a:cxnLst/>
            <a:rect l="textAreaLeft" t="textAreaTop" r="textAreaRight" b="textAreaBottom"/>
            <a:pathLst>
              <a:path w="210312" h="182880">
                <a:moveTo>
                  <a:pt x="0" y="100584"/>
                </a:moveTo>
                <a:lnTo>
                  <a:pt x="73152" y="182880"/>
                </a:lnTo>
                <a:lnTo>
                  <a:pt x="210312" y="0"/>
                </a:lnTo>
              </a:path>
            </a:pathLst>
          </a:custGeom>
          <a:noFill/>
          <a:ln w="34925">
            <a:solidFill>
              <a:srgbClr val="FFFFFF"/>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08" name="TextBox 51"/>
          <p:cNvSpPr/>
          <p:nvPr/>
        </p:nvSpPr>
        <p:spPr>
          <a:xfrm>
            <a:off x="1188720" y="4690800"/>
            <a:ext cx="3245400" cy="7491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250" b="1" u="none" strike="noStrike">
                <a:solidFill>
                  <a:srgbClr val="0B1A2B"/>
                </a:solidFill>
                <a:effectLst/>
                <a:uFillTx/>
                <a:latin typeface="Arial"/>
              </a:rPr>
              <a:t>Governance: approvals, policy-as-code, audit, RBAC</a:t>
            </a:r>
            <a:endParaRPr lang="en-US" sz="1250" b="0" u="none" strike="noStrike">
              <a:solidFill>
                <a:srgbClr val="000000"/>
              </a:solidFill>
              <a:effectLst/>
              <a:uFillTx/>
              <a:latin typeface="Arial"/>
            </a:endParaRPr>
          </a:p>
        </p:txBody>
      </p:sp>
      <p:sp>
        <p:nvSpPr>
          <p:cNvPr id="209" name="TextBox 52"/>
          <p:cNvSpPr/>
          <p:nvPr/>
        </p:nvSpPr>
        <p:spPr>
          <a:xfrm>
            <a:off x="4572000" y="4690800"/>
            <a:ext cx="3976920" cy="7491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150" b="0" u="none" strike="noStrike">
                <a:solidFill>
                  <a:srgbClr val="2B3947"/>
                </a:solidFill>
                <a:effectLst/>
                <a:uFillTx/>
                <a:latin typeface="Arial"/>
              </a:rPr>
              <a:t>Rotterdam change in the audit log with who, when and why; tag policy enforced on every flag.</a:t>
            </a:r>
            <a:endParaRPr lang="en-US" sz="1150" b="0" u="none" strike="noStrike">
              <a:solidFill>
                <a:srgbClr val="000000"/>
              </a:solidFill>
              <a:effectLst/>
              <a:uFillTx/>
              <a:latin typeface="Arial"/>
            </a:endParaRPr>
          </a:p>
        </p:txBody>
      </p:sp>
      <p:sp>
        <p:nvSpPr>
          <p:cNvPr id="210" name="TextBox 53"/>
          <p:cNvSpPr/>
          <p:nvPr/>
        </p:nvSpPr>
        <p:spPr>
          <a:xfrm>
            <a:off x="8686800" y="4690800"/>
            <a:ext cx="3016800" cy="7491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150" b="1" u="none" strike="noStrike">
                <a:solidFill>
                  <a:srgbClr val="0278D5"/>
                </a:solidFill>
                <a:effectLst/>
                <a:uFillTx/>
                <a:latin typeface="Arial"/>
              </a:rPr>
              <a:t>Audited changes · security findings</a:t>
            </a:r>
            <a:endParaRPr lang="en-US" sz="1150" b="0" u="none" strike="noStrike">
              <a:solidFill>
                <a:srgbClr val="000000"/>
              </a:solidFill>
              <a:effectLst/>
              <a:uFillTx/>
              <a:latin typeface="Arial"/>
            </a:endParaRPr>
          </a:p>
        </p:txBody>
      </p:sp>
      <p:cxnSp>
        <p:nvCxnSpPr>
          <p:cNvPr id="211" name="Connector 54"/>
          <p:cNvCxnSpPr/>
          <p:nvPr/>
        </p:nvCxnSpPr>
        <p:spPr>
          <a:xfrm>
            <a:off x="457200" y="5440680"/>
            <a:ext cx="11247840" cy="720"/>
          </a:xfrm>
          <a:prstGeom prst="straightConnector1">
            <a:avLst/>
          </a:prstGeom>
          <a:ln w="9525">
            <a:solidFill>
              <a:srgbClr val="DFE6EE"/>
            </a:solidFill>
            <a:round/>
          </a:ln>
        </p:spPr>
      </p:cxnSp>
      <p:sp>
        <p:nvSpPr>
          <p:cNvPr id="212" name="Rounded Rectangle 55"/>
          <p:cNvSpPr/>
          <p:nvPr/>
        </p:nvSpPr>
        <p:spPr>
          <a:xfrm>
            <a:off x="567000" y="5623560"/>
            <a:ext cx="383400" cy="383400"/>
          </a:xfrm>
          <a:prstGeom prst="roundRect">
            <a:avLst>
              <a:gd name="adj" fmla="val 18000"/>
            </a:avLst>
          </a:prstGeom>
          <a:solidFill>
            <a:srgbClr val="1FA971"/>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13" name="Freeform 11"/>
          <p:cNvSpPr/>
          <p:nvPr/>
        </p:nvSpPr>
        <p:spPr>
          <a:xfrm>
            <a:off x="658440" y="5724000"/>
            <a:ext cx="209520" cy="182160"/>
          </a:xfrm>
          <a:custGeom>
            <a:avLst/>
            <a:gdLst>
              <a:gd name="textAreaLeft" fmla="*/ 0 w 209520"/>
              <a:gd name="textAreaRight" fmla="*/ 210240 w 209520"/>
              <a:gd name="textAreaTop" fmla="*/ 0 h 182160"/>
              <a:gd name="textAreaBottom" fmla="*/ 182880 h 182160"/>
            </a:gdLst>
            <a:ahLst/>
            <a:cxnLst/>
            <a:rect l="textAreaLeft" t="textAreaTop" r="textAreaRight" b="textAreaBottom"/>
            <a:pathLst>
              <a:path w="210312" h="182880">
                <a:moveTo>
                  <a:pt x="0" y="100584"/>
                </a:moveTo>
                <a:lnTo>
                  <a:pt x="73152" y="182880"/>
                </a:lnTo>
                <a:lnTo>
                  <a:pt x="210312" y="0"/>
                </a:lnTo>
              </a:path>
            </a:pathLst>
          </a:custGeom>
          <a:noFill/>
          <a:ln w="34925">
            <a:solidFill>
              <a:srgbClr val="FFFFFF"/>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14" name="TextBox 56"/>
          <p:cNvSpPr/>
          <p:nvPr/>
        </p:nvSpPr>
        <p:spPr>
          <a:xfrm>
            <a:off x="1188720" y="5440680"/>
            <a:ext cx="3245400" cy="7491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250" b="1" u="none" strike="noStrike">
                <a:solidFill>
                  <a:srgbClr val="0B1A2B"/>
                </a:solidFill>
                <a:effectLst/>
                <a:uFillTx/>
                <a:latin typeface="Arial"/>
              </a:rPr>
              <a:t>Developer fit: lightweight SDK, local evaluation</a:t>
            </a:r>
            <a:endParaRPr lang="en-US" sz="1250" b="0" u="none" strike="noStrike">
              <a:solidFill>
                <a:srgbClr val="000000"/>
              </a:solidFill>
              <a:effectLst/>
              <a:uFillTx/>
              <a:latin typeface="Arial"/>
            </a:endParaRPr>
          </a:p>
        </p:txBody>
      </p:sp>
      <p:sp>
        <p:nvSpPr>
          <p:cNvPr id="215" name="TextBox 57"/>
          <p:cNvSpPr/>
          <p:nvPr/>
        </p:nvSpPr>
        <p:spPr>
          <a:xfrm>
            <a:off x="4572000" y="5440680"/>
            <a:ext cx="3976920" cy="7491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150" b="0" u="none" strike="noStrike">
                <a:solidFill>
                  <a:srgbClr val="2B3947"/>
                </a:solidFill>
                <a:effectLst/>
                <a:uFillTx/>
                <a:latin typeface="Arial"/>
              </a:rPr>
              <a:t>Three small files: one SDK call, safe fallback, track events. No PII leaves the device.</a:t>
            </a:r>
            <a:endParaRPr lang="en-US" sz="1150" b="0" u="none" strike="noStrike">
              <a:solidFill>
                <a:srgbClr val="000000"/>
              </a:solidFill>
              <a:effectLst/>
              <a:uFillTx/>
              <a:latin typeface="Arial"/>
            </a:endParaRPr>
          </a:p>
        </p:txBody>
      </p:sp>
      <p:sp>
        <p:nvSpPr>
          <p:cNvPr id="216" name="TextBox 58"/>
          <p:cNvSpPr/>
          <p:nvPr/>
        </p:nvSpPr>
        <p:spPr>
          <a:xfrm>
            <a:off x="8686800" y="5440680"/>
            <a:ext cx="3016800" cy="7491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150" b="1" u="none" strike="noStrike">
                <a:solidFill>
                  <a:srgbClr val="0278D5"/>
                </a:solidFill>
                <a:effectLst/>
                <a:uFillTx/>
                <a:latin typeface="Arial"/>
              </a:rPr>
              <a:t>Adoption effort · app stability</a:t>
            </a:r>
            <a:endParaRPr lang="en-US" sz="1150" b="0" u="none" strike="noStrike">
              <a:solidFill>
                <a:srgbClr val="000000"/>
              </a:solidFill>
              <a:effectLst/>
              <a:uFillTx/>
              <a:latin typeface="Arial"/>
            </a:endParaRPr>
          </a:p>
        </p:txBody>
      </p:sp>
      <p:pic>
        <p:nvPicPr>
          <p:cNvPr id="217" name=""/>
          <p:cNvPicPr/>
          <p:nvPr/>
        </p:nvPicPr>
        <p:blipFill>
          <a:blip r:embed="rId1"/>
          <a:stretch/>
        </p:blipFill>
        <p:spPr>
          <a:xfrm>
            <a:off x="10287000" y="228600"/>
            <a:ext cx="1371600" cy="300240"/>
          </a:xfrm>
          <a:prstGeom prst="rect">
            <a:avLst/>
          </a:prstGeom>
          <a:noFill/>
          <a:ln w="3816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A"/>
        </a:solidFill>
      </p:bgPr>
    </p:bg>
    <p:spTree>
      <p:nvGrpSpPr>
        <p:cNvPr id="1" name=""/>
        <p:cNvGrpSpPr/>
        <p:nvPr/>
      </p:nvGrpSpPr>
      <p:grpSpPr>
        <a:xfrm>
          <a:off x="0" y="0"/>
          <a:ext cx="0" cy="0"/>
          <a:chOff x="0" y="0"/>
          <a:chExt cx="0" cy="0"/>
        </a:xfrm>
      </p:grpSpPr>
      <p:sp>
        <p:nvSpPr>
          <p:cNvPr id="218" name="Shape 0"/>
          <p:cNvSpPr/>
          <p:nvPr/>
        </p:nvSpPr>
        <p:spPr>
          <a:xfrm>
            <a:off x="0" y="6446520"/>
            <a:ext cx="12191040" cy="410760"/>
          </a:xfrm>
          <a:prstGeom prst="rect">
            <a:avLst/>
          </a:prstGeom>
          <a:solidFill>
            <a:srgbClr val="07182B"/>
          </a:solidFill>
          <a:ln w="12700">
            <a:solidFill>
              <a:srgbClr val="07182B"/>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219" name="Text 1"/>
          <p:cNvSpPr/>
          <p:nvPr/>
        </p:nvSpPr>
        <p:spPr>
          <a:xfrm>
            <a:off x="457200" y="6464880"/>
            <a:ext cx="27424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harness</a:t>
            </a:r>
            <a:r>
              <a:rPr lang="en-US" sz="1200" b="1" u="none" strike="noStrike">
                <a:solidFill>
                  <a:srgbClr val="00ADE4"/>
                </a:solidFill>
                <a:effectLst/>
                <a:uFillTx/>
                <a:latin typeface="Arial"/>
                <a:ea typeface="Arial"/>
              </a:rPr>
              <a:t>  FME</a:t>
            </a:r>
            <a:endParaRPr lang="en-US" sz="1200" b="0" u="none" strike="noStrike">
              <a:solidFill>
                <a:srgbClr val="000000"/>
              </a:solidFill>
              <a:effectLst/>
              <a:uFillTx/>
              <a:latin typeface="Arial"/>
            </a:endParaRPr>
          </a:p>
        </p:txBody>
      </p:sp>
      <p:sp>
        <p:nvSpPr>
          <p:cNvPr id="220" name="Text 2"/>
          <p:cNvSpPr/>
          <p:nvPr/>
        </p:nvSpPr>
        <p:spPr>
          <a:xfrm>
            <a:off x="5943600" y="6464880"/>
            <a:ext cx="5211360" cy="365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9FB3C8"/>
                </a:solidFill>
                <a:effectLst/>
                <a:uFillTx/>
                <a:latin typeface="Arial"/>
                <a:ea typeface="Arial"/>
              </a:rPr>
              <a:t>Odido × Harness  |  Confidential</a:t>
            </a:r>
            <a:endParaRPr lang="en-US" sz="900" b="0" u="none" strike="noStrike">
              <a:solidFill>
                <a:srgbClr val="000000"/>
              </a:solidFill>
              <a:effectLst/>
              <a:uFillTx/>
              <a:latin typeface="Arial"/>
            </a:endParaRPr>
          </a:p>
        </p:txBody>
      </p:sp>
      <p:sp>
        <p:nvSpPr>
          <p:cNvPr id="221" name="Text 3"/>
          <p:cNvSpPr/>
          <p:nvPr/>
        </p:nvSpPr>
        <p:spPr>
          <a:xfrm>
            <a:off x="457200" y="274320"/>
            <a:ext cx="1124640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0B1A2B"/>
                </a:solidFill>
                <a:effectLst/>
                <a:uFillTx/>
                <a:latin typeface="Arial"/>
                <a:ea typeface="Arial"/>
              </a:rPr>
              <a:t>Where we have done this before</a:t>
            </a:r>
            <a:endParaRPr lang="en-US" sz="2800" b="0" u="none" strike="noStrike">
              <a:solidFill>
                <a:srgbClr val="000000"/>
              </a:solidFill>
              <a:effectLst/>
              <a:uFillTx/>
              <a:latin typeface="Arial"/>
            </a:endParaRPr>
          </a:p>
        </p:txBody>
      </p:sp>
      <p:sp>
        <p:nvSpPr>
          <p:cNvPr id="222" name="Text 4"/>
          <p:cNvSpPr/>
          <p:nvPr/>
        </p:nvSpPr>
        <p:spPr>
          <a:xfrm>
            <a:off x="457200" y="841320"/>
            <a:ext cx="1124640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B6B7F"/>
                </a:solidFill>
                <a:effectLst/>
                <a:uFillTx/>
                <a:latin typeface="Arial"/>
                <a:ea typeface="Arial"/>
              </a:rPr>
              <a:t>Two programmes I led personally and two public Harness case studies, each mapped to Odido's required capabilities.</a:t>
            </a:r>
            <a:endParaRPr lang="en-US" sz="1300" b="0" u="none" strike="noStrike">
              <a:solidFill>
                <a:srgbClr val="000000"/>
              </a:solidFill>
              <a:effectLst/>
              <a:uFillTx/>
              <a:latin typeface="Arial"/>
            </a:endParaRPr>
          </a:p>
        </p:txBody>
      </p:sp>
      <p:sp>
        <p:nvSpPr>
          <p:cNvPr id="223" name="PlaceHolder 1"/>
          <p:cNvSpPr>
            <a:spLocks noGrp="1"/>
          </p:cNvSpPr>
          <p:nvPr>
            <p:ph type="sldNum" idx="13"/>
          </p:nvPr>
        </p:nvSpPr>
        <p:spPr>
          <a:xfrm>
            <a:off x="11338560" y="6519600"/>
            <a:ext cx="456480" cy="2736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900" b="0" u="none" strike="noStrike">
                <a:solidFill>
                  <a:srgbClr val="9FB3C8"/>
                </a:solidFill>
                <a:effectLst/>
                <a:uFillTx/>
                <a:latin typeface="Arial"/>
                <a:ea typeface="Arial"/>
              </a:defRPr>
            </a:lvl1pPr>
          </a:lstStyle>
          <a:p>
            <a:pPr indent="0" algn="l" defTabSz="914400">
              <a:lnSpc>
                <a:spcPct val="100000"/>
              </a:lnSpc>
              <a:buNone/>
              <a:tabLst>
                <a:tab pos="0" algn="l"/>
              </a:tabLst>
            </a:pPr>
            <a:fld id="{EF972A7E-7B1C-4D19-9487-9E3FD52AD9BE}" type="slidenum">
              <a:rPr lang="en-US" sz="900" b="0" u="none" strike="noStrike">
                <a:solidFill>
                  <a:srgbClr val="9FB3C8"/>
                </a:solidFill>
                <a:effectLst/>
                <a:uFillTx/>
                <a:latin typeface="Arial"/>
                <a:ea typeface="Arial"/>
              </a:rPr>
              <a:t>1</a:t>
            </a:fld>
            <a:endParaRPr lang="en-US" sz="900" b="0" u="none" strike="noStrike">
              <a:solidFill>
                <a:srgbClr val="000000"/>
              </a:solidFill>
              <a:effectLst/>
              <a:uFillTx/>
              <a:latin typeface="Times New Roman"/>
            </a:endParaRPr>
          </a:p>
        </p:txBody>
      </p:sp>
      <p:sp>
        <p:nvSpPr>
          <p:cNvPr id="224" name="Rectangle 25"/>
          <p:cNvSpPr/>
          <p:nvPr/>
        </p:nvSpPr>
        <p:spPr>
          <a:xfrm>
            <a:off x="457200" y="1325880"/>
            <a:ext cx="2696760" cy="4754160"/>
          </a:xfrm>
          <a:prstGeom prst="rect">
            <a:avLst/>
          </a:prstGeom>
          <a:solidFill>
            <a:srgbClr val="FFFFFF"/>
          </a:solidFill>
          <a:ln w="9525">
            <a:solidFill>
              <a:srgbClr val="DFE6EE"/>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25" name="Rectangle 26"/>
          <p:cNvSpPr/>
          <p:nvPr/>
        </p:nvSpPr>
        <p:spPr>
          <a:xfrm>
            <a:off x="457200" y="1325880"/>
            <a:ext cx="2696760" cy="54000"/>
          </a:xfrm>
          <a:prstGeom prst="rect">
            <a:avLst/>
          </a:prstGeom>
          <a:solidFill>
            <a:srgbClr val="0278D5"/>
          </a:solidFill>
          <a:ln>
            <a:noFill/>
          </a:ln>
        </p:spPr>
        <p:style>
          <a:lnRef idx="1">
            <a:schemeClr val="accent1"/>
          </a:lnRef>
          <a:fillRef idx="3">
            <a:schemeClr val="accent1"/>
          </a:fillRef>
          <a:effectRef idx="2">
            <a:schemeClr val="accent1"/>
          </a:effectRef>
          <a:fontRef idx="minor"/>
        </p:style>
        <p:txBody>
          <a:bodyPr lIns="90000" tIns="9720" rIns="90000" bIns="9720" anchor="ctr">
            <a:noAutofit/>
          </a:bodyPr>
          <a:p>
            <a:pPr/>
            <a:endParaRPr lang="en-US" sz="1800" b="0" u="none" strike="noStrike">
              <a:solidFill>
                <a:schemeClr val="lt1"/>
              </a:solidFill>
              <a:effectLst/>
              <a:uFillTx/>
              <a:latin typeface="Calibri"/>
            </a:endParaRPr>
          </a:p>
        </p:txBody>
      </p:sp>
      <p:sp>
        <p:nvSpPr>
          <p:cNvPr id="226" name="TextBox 27"/>
          <p:cNvSpPr/>
          <p:nvPr/>
        </p:nvSpPr>
        <p:spPr>
          <a:xfrm>
            <a:off x="640080" y="1463040"/>
            <a:ext cx="2376720" cy="3650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700" b="1" u="none" strike="noStrike">
                <a:solidFill>
                  <a:srgbClr val="0B1A2B"/>
                </a:solidFill>
                <a:effectLst/>
                <a:uFillTx/>
                <a:latin typeface="Arial"/>
              </a:rPr>
              <a:t>Barclays</a:t>
            </a:r>
            <a:endParaRPr lang="en-US" sz="1700" b="0" u="none" strike="noStrike">
              <a:solidFill>
                <a:srgbClr val="000000"/>
              </a:solidFill>
              <a:effectLst/>
              <a:uFillTx/>
              <a:latin typeface="Arial"/>
            </a:endParaRPr>
          </a:p>
        </p:txBody>
      </p:sp>
      <p:sp>
        <p:nvSpPr>
          <p:cNvPr id="227" name="TextBox 28"/>
          <p:cNvSpPr/>
          <p:nvPr/>
        </p:nvSpPr>
        <p:spPr>
          <a:xfrm>
            <a:off x="640080" y="1810440"/>
            <a:ext cx="2376720" cy="23688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000" b="1" u="none" strike="noStrike">
                <a:solidFill>
                  <a:srgbClr val="0278D5"/>
                </a:solidFill>
                <a:effectLst/>
                <a:uFillTx/>
                <a:latin typeface="Arial"/>
              </a:rPr>
              <a:t>Led by me · UK bank, regulated</a:t>
            </a:r>
            <a:endParaRPr lang="en-US" sz="1000" b="0" u="none" strike="noStrike">
              <a:solidFill>
                <a:srgbClr val="000000"/>
              </a:solidFill>
              <a:effectLst/>
              <a:uFillTx/>
              <a:latin typeface="Arial"/>
            </a:endParaRPr>
          </a:p>
        </p:txBody>
      </p:sp>
      <p:sp>
        <p:nvSpPr>
          <p:cNvPr id="228" name="TextBox 29"/>
          <p:cNvSpPr/>
          <p:nvPr/>
        </p:nvSpPr>
        <p:spPr>
          <a:xfrm>
            <a:off x="640080" y="2139840"/>
            <a:ext cx="2376720" cy="2005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950" b="1" u="none" strike="noStrike">
                <a:solidFill>
                  <a:srgbClr val="5B6B7F"/>
                </a:solidFill>
                <a:effectLst/>
                <a:uFillTx/>
                <a:latin typeface="Arial"/>
              </a:rPr>
              <a:t>CHALLENGE</a:t>
            </a:r>
            <a:endParaRPr lang="en-US" sz="950" b="0" u="none" strike="noStrike">
              <a:solidFill>
                <a:srgbClr val="000000"/>
              </a:solidFill>
              <a:effectLst/>
              <a:uFillTx/>
              <a:latin typeface="Arial"/>
            </a:endParaRPr>
          </a:p>
        </p:txBody>
      </p:sp>
      <p:sp>
        <p:nvSpPr>
          <p:cNvPr id="229" name="TextBox 30"/>
          <p:cNvSpPr/>
          <p:nvPr/>
        </p:nvSpPr>
        <p:spPr>
          <a:xfrm>
            <a:off x="640080" y="2368440"/>
            <a:ext cx="2376720" cy="671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100" b="0" u="none" strike="noStrike">
                <a:solidFill>
                  <a:srgbClr val="2B3947"/>
                </a:solidFill>
                <a:effectLst/>
                <a:uFillTx/>
                <a:latin typeface="Arial"/>
              </a:rPr>
              <a:t>Every config change needed a deploy: 2–3 week delays, 4-6 h recovery, no A/B tests. Customer data couldn't go to SaaS.</a:t>
            </a:r>
            <a:endParaRPr lang="en-US" sz="1100" b="0" u="none" strike="noStrike">
              <a:solidFill>
                <a:srgbClr val="000000"/>
              </a:solidFill>
              <a:effectLst/>
              <a:uFillTx/>
              <a:latin typeface="Arial"/>
            </a:endParaRPr>
          </a:p>
        </p:txBody>
      </p:sp>
      <p:sp>
        <p:nvSpPr>
          <p:cNvPr id="230" name="TextBox 31"/>
          <p:cNvSpPr/>
          <p:nvPr/>
        </p:nvSpPr>
        <p:spPr>
          <a:xfrm>
            <a:off x="640080" y="3127320"/>
            <a:ext cx="2376720" cy="2005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950" b="1" u="none" strike="noStrike">
                <a:solidFill>
                  <a:srgbClr val="5B6B7F"/>
                </a:solidFill>
                <a:effectLst/>
                <a:uFillTx/>
                <a:latin typeface="Arial"/>
              </a:rPr>
              <a:t>WHAT WE DID</a:t>
            </a:r>
            <a:endParaRPr lang="en-US" sz="950" b="0" u="none" strike="noStrike">
              <a:solidFill>
                <a:srgbClr val="000000"/>
              </a:solidFill>
              <a:effectLst/>
              <a:uFillTx/>
              <a:latin typeface="Arial"/>
            </a:endParaRPr>
          </a:p>
        </p:txBody>
      </p:sp>
      <p:sp>
        <p:nvSpPr>
          <p:cNvPr id="231" name="TextBox 32"/>
          <p:cNvSpPr/>
          <p:nvPr/>
        </p:nvSpPr>
        <p:spPr>
          <a:xfrm>
            <a:off x="640080" y="3355920"/>
            <a:ext cx="2376720" cy="74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100" b="0" u="none" strike="noStrike">
                <a:solidFill>
                  <a:srgbClr val="2B3947"/>
                </a:solidFill>
                <a:effectLst/>
                <a:uFillTx/>
                <a:latin typeface="Arial"/>
              </a:rPr>
              <a:t>6-week POC: Java/Spring Boot, iOS and Android SDKs evaluating locally, Relay Proxy in the bank's VPC. ~40 flags mapped.</a:t>
            </a:r>
            <a:endParaRPr lang="en-US" sz="1100" b="0" u="none" strike="noStrike">
              <a:solidFill>
                <a:srgbClr val="000000"/>
              </a:solidFill>
              <a:effectLst/>
              <a:uFillTx/>
              <a:latin typeface="Arial"/>
            </a:endParaRPr>
          </a:p>
        </p:txBody>
      </p:sp>
      <p:sp>
        <p:nvSpPr>
          <p:cNvPr id="232" name="TextBox 33"/>
          <p:cNvSpPr/>
          <p:nvPr/>
        </p:nvSpPr>
        <p:spPr>
          <a:xfrm>
            <a:off x="640080" y="4114800"/>
            <a:ext cx="2376720" cy="2005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950" b="1" u="none" strike="noStrike">
                <a:solidFill>
                  <a:srgbClr val="5B6B7F"/>
                </a:solidFill>
                <a:effectLst/>
                <a:uFillTx/>
                <a:latin typeface="Arial"/>
              </a:rPr>
              <a:t>OUTCOME</a:t>
            </a:r>
            <a:endParaRPr lang="en-US" sz="950" b="0" u="none" strike="noStrike">
              <a:solidFill>
                <a:srgbClr val="000000"/>
              </a:solidFill>
              <a:effectLst/>
              <a:uFillTx/>
              <a:latin typeface="Arial"/>
            </a:endParaRPr>
          </a:p>
        </p:txBody>
      </p:sp>
      <p:sp>
        <p:nvSpPr>
          <p:cNvPr id="233" name="TextBox 34"/>
          <p:cNvSpPr/>
          <p:nvPr/>
        </p:nvSpPr>
        <p:spPr>
          <a:xfrm>
            <a:off x="640080" y="4343400"/>
            <a:ext cx="2376720" cy="74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100" b="1" u="none" strike="noStrike">
                <a:solidFill>
                  <a:srgbClr val="0278D5"/>
                </a:solidFill>
                <a:effectLst/>
                <a:uFillTx/>
                <a:latin typeface="Arial"/>
              </a:rPr>
              <a:t>1→10→50→100% rollout; off in under 3 s, no pipeline. p99 1.4 ms. Loan CTA test: +23% CTR, significant in 11 days.</a:t>
            </a:r>
            <a:endParaRPr lang="en-US" sz="1100" b="0" u="none" strike="noStrike">
              <a:solidFill>
                <a:srgbClr val="000000"/>
              </a:solidFill>
              <a:effectLst/>
              <a:uFillTx/>
              <a:latin typeface="Arial"/>
            </a:endParaRPr>
          </a:p>
        </p:txBody>
      </p:sp>
      <p:cxnSp>
        <p:nvCxnSpPr>
          <p:cNvPr id="234" name="Connector 35"/>
          <p:cNvCxnSpPr/>
          <p:nvPr/>
        </p:nvCxnSpPr>
        <p:spPr>
          <a:xfrm>
            <a:off x="640080" y="5138640"/>
            <a:ext cx="2378160" cy="720"/>
          </a:xfrm>
          <a:prstGeom prst="straightConnector1">
            <a:avLst/>
          </a:prstGeom>
          <a:ln w="9525">
            <a:solidFill>
              <a:srgbClr val="DFE6EE"/>
            </a:solidFill>
            <a:round/>
          </a:ln>
        </p:spPr>
      </p:cxnSp>
      <p:sp>
        <p:nvSpPr>
          <p:cNvPr id="235" name="TextBox 36"/>
          <p:cNvSpPr/>
          <p:nvPr/>
        </p:nvSpPr>
        <p:spPr>
          <a:xfrm>
            <a:off x="640080" y="5212080"/>
            <a:ext cx="2376720" cy="2005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950" b="1" u="none" strike="noStrike">
                <a:solidFill>
                  <a:srgbClr val="5B6B7F"/>
                </a:solidFill>
                <a:effectLst/>
                <a:uFillTx/>
                <a:latin typeface="Arial"/>
              </a:rPr>
              <a:t>BACKS UP FOR ODIDO</a:t>
            </a:r>
            <a:endParaRPr lang="en-US" sz="950" b="0" u="none" strike="noStrike">
              <a:solidFill>
                <a:srgbClr val="000000"/>
              </a:solidFill>
              <a:effectLst/>
              <a:uFillTx/>
              <a:latin typeface="Arial"/>
            </a:endParaRPr>
          </a:p>
        </p:txBody>
      </p:sp>
      <p:sp>
        <p:nvSpPr>
          <p:cNvPr id="236" name="TextBox 37"/>
          <p:cNvSpPr/>
          <p:nvPr/>
        </p:nvSpPr>
        <p:spPr>
          <a:xfrm>
            <a:off x="640080" y="5440680"/>
            <a:ext cx="2376720" cy="5479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050" b="1" u="none" strike="noStrike">
                <a:solidFill>
                  <a:srgbClr val="0B1A2B"/>
                </a:solidFill>
                <a:effectLst/>
                <a:uFillTx/>
                <a:latin typeface="Arial"/>
              </a:rPr>
              <a:t>✓  Kill switch · % rollout</a:t>
            </a:r>
            <a:endParaRPr lang="en-US" sz="1050" b="0" u="none" strike="noStrike">
              <a:solidFill>
                <a:srgbClr val="000000"/>
              </a:solidFill>
              <a:effectLst/>
              <a:uFillTx/>
              <a:latin typeface="Arial"/>
            </a:endParaRPr>
          </a:p>
          <a:p>
            <a:pPr defTabSz="914400">
              <a:lnSpc>
                <a:spcPct val="100000"/>
              </a:lnSpc>
            </a:pPr>
            <a:r>
              <a:rPr lang="en-US" sz="1050" b="1" u="none" strike="noStrike">
                <a:solidFill>
                  <a:srgbClr val="0B1A2B"/>
                </a:solidFill>
                <a:effectLst/>
                <a:uFillTx/>
                <a:latin typeface="Arial"/>
              </a:rPr>
              <a:t>✓  Experimentation · privacy &amp; audit</a:t>
            </a:r>
            <a:endParaRPr lang="en-US" sz="1050" b="0" u="none" strike="noStrike">
              <a:solidFill>
                <a:srgbClr val="000000"/>
              </a:solidFill>
              <a:effectLst/>
              <a:uFillTx/>
              <a:latin typeface="Arial"/>
            </a:endParaRPr>
          </a:p>
        </p:txBody>
      </p:sp>
      <p:sp>
        <p:nvSpPr>
          <p:cNvPr id="237" name="Rectangle 38"/>
          <p:cNvSpPr/>
          <p:nvPr/>
        </p:nvSpPr>
        <p:spPr>
          <a:xfrm>
            <a:off x="3291840" y="1325880"/>
            <a:ext cx="2696760" cy="4754160"/>
          </a:xfrm>
          <a:prstGeom prst="rect">
            <a:avLst/>
          </a:prstGeom>
          <a:solidFill>
            <a:srgbClr val="FFFFFF"/>
          </a:solidFill>
          <a:ln w="9525">
            <a:solidFill>
              <a:srgbClr val="DFE6EE"/>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38" name="Rectangle 39"/>
          <p:cNvSpPr/>
          <p:nvPr/>
        </p:nvSpPr>
        <p:spPr>
          <a:xfrm>
            <a:off x="3291840" y="1325880"/>
            <a:ext cx="2696760" cy="54000"/>
          </a:xfrm>
          <a:prstGeom prst="rect">
            <a:avLst/>
          </a:prstGeom>
          <a:solidFill>
            <a:srgbClr val="7D4DD3"/>
          </a:solidFill>
          <a:ln>
            <a:noFill/>
          </a:ln>
        </p:spPr>
        <p:style>
          <a:lnRef idx="1">
            <a:schemeClr val="accent1"/>
          </a:lnRef>
          <a:fillRef idx="3">
            <a:schemeClr val="accent1"/>
          </a:fillRef>
          <a:effectRef idx="2">
            <a:schemeClr val="accent1"/>
          </a:effectRef>
          <a:fontRef idx="minor"/>
        </p:style>
        <p:txBody>
          <a:bodyPr lIns="90000" tIns="9720" rIns="90000" bIns="9720" anchor="ctr">
            <a:noAutofit/>
          </a:bodyPr>
          <a:p>
            <a:pPr/>
            <a:endParaRPr lang="en-US" sz="1800" b="0" u="none" strike="noStrike">
              <a:solidFill>
                <a:schemeClr val="lt1"/>
              </a:solidFill>
              <a:effectLst/>
              <a:uFillTx/>
              <a:latin typeface="Calibri"/>
            </a:endParaRPr>
          </a:p>
        </p:txBody>
      </p:sp>
      <p:sp>
        <p:nvSpPr>
          <p:cNvPr id="239" name="TextBox 40"/>
          <p:cNvSpPr/>
          <p:nvPr/>
        </p:nvSpPr>
        <p:spPr>
          <a:xfrm>
            <a:off x="3474720" y="1463040"/>
            <a:ext cx="2376720" cy="3650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700" b="1" u="none" strike="noStrike">
                <a:solidFill>
                  <a:srgbClr val="0B1A2B"/>
                </a:solidFill>
                <a:effectLst/>
                <a:uFillTx/>
                <a:latin typeface="Arial"/>
              </a:rPr>
              <a:t>Citi (Lightspeed)</a:t>
            </a:r>
            <a:endParaRPr lang="en-US" sz="1700" b="0" u="none" strike="noStrike">
              <a:solidFill>
                <a:srgbClr val="000000"/>
              </a:solidFill>
              <a:effectLst/>
              <a:uFillTx/>
              <a:latin typeface="Arial"/>
            </a:endParaRPr>
          </a:p>
        </p:txBody>
      </p:sp>
      <p:sp>
        <p:nvSpPr>
          <p:cNvPr id="240" name="TextBox 41"/>
          <p:cNvSpPr/>
          <p:nvPr/>
        </p:nvSpPr>
        <p:spPr>
          <a:xfrm>
            <a:off x="3474720" y="1810440"/>
            <a:ext cx="2376720" cy="23688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000" b="1" u="none" strike="noStrike">
                <a:solidFill>
                  <a:srgbClr val="7D4DD3"/>
                </a:solidFill>
                <a:effectLst/>
                <a:uFillTx/>
                <a:latin typeface="Arial"/>
              </a:rPr>
              <a:t>Led by me (FME) · global bank</a:t>
            </a:r>
            <a:endParaRPr lang="en-US" sz="1000" b="0" u="none" strike="noStrike">
              <a:solidFill>
                <a:srgbClr val="000000"/>
              </a:solidFill>
              <a:effectLst/>
              <a:uFillTx/>
              <a:latin typeface="Arial"/>
            </a:endParaRPr>
          </a:p>
        </p:txBody>
      </p:sp>
      <p:sp>
        <p:nvSpPr>
          <p:cNvPr id="241" name="TextBox 42"/>
          <p:cNvSpPr/>
          <p:nvPr/>
        </p:nvSpPr>
        <p:spPr>
          <a:xfrm>
            <a:off x="3474720" y="2139840"/>
            <a:ext cx="2376720" cy="2005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950" b="1" u="none" strike="noStrike">
                <a:solidFill>
                  <a:srgbClr val="5B6B7F"/>
                </a:solidFill>
                <a:effectLst/>
                <a:uFillTx/>
                <a:latin typeface="Arial"/>
              </a:rPr>
              <a:t>CHALLENGE</a:t>
            </a:r>
            <a:endParaRPr lang="en-US" sz="950" b="0" u="none" strike="noStrike">
              <a:solidFill>
                <a:srgbClr val="000000"/>
              </a:solidFill>
              <a:effectLst/>
              <a:uFillTx/>
              <a:latin typeface="Arial"/>
            </a:endParaRPr>
          </a:p>
        </p:txBody>
      </p:sp>
      <p:sp>
        <p:nvSpPr>
          <p:cNvPr id="242" name="TextBox 43"/>
          <p:cNvSpPr/>
          <p:nvPr/>
        </p:nvSpPr>
        <p:spPr>
          <a:xfrm>
            <a:off x="3474720" y="2368440"/>
            <a:ext cx="2376720" cy="74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100" b="0" u="none" strike="noStrike">
                <a:solidFill>
                  <a:srgbClr val="2B3947"/>
                </a:solidFill>
                <a:effectLst/>
                <a:uFillTx/>
                <a:latin typeface="Arial"/>
              </a:rPr>
              <a:t>Homegrown flags in every team: environment variables, configs and third-party toggles, each done differently.</a:t>
            </a:r>
            <a:endParaRPr lang="en-US" sz="1100" b="0" u="none" strike="noStrike">
              <a:solidFill>
                <a:srgbClr val="000000"/>
              </a:solidFill>
              <a:effectLst/>
              <a:uFillTx/>
              <a:latin typeface="Arial"/>
            </a:endParaRPr>
          </a:p>
        </p:txBody>
      </p:sp>
      <p:sp>
        <p:nvSpPr>
          <p:cNvPr id="243" name="TextBox 44"/>
          <p:cNvSpPr/>
          <p:nvPr/>
        </p:nvSpPr>
        <p:spPr>
          <a:xfrm>
            <a:off x="3474720" y="3127320"/>
            <a:ext cx="2376720" cy="2005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950" b="1" u="none" strike="noStrike">
                <a:solidFill>
                  <a:srgbClr val="5B6B7F"/>
                </a:solidFill>
                <a:effectLst/>
                <a:uFillTx/>
                <a:latin typeface="Arial"/>
              </a:rPr>
              <a:t>WHAT WE DID</a:t>
            </a:r>
            <a:endParaRPr lang="en-US" sz="950" b="0" u="none" strike="noStrike">
              <a:solidFill>
                <a:srgbClr val="000000"/>
              </a:solidFill>
              <a:effectLst/>
              <a:uFillTx/>
              <a:latin typeface="Arial"/>
            </a:endParaRPr>
          </a:p>
        </p:txBody>
      </p:sp>
      <p:sp>
        <p:nvSpPr>
          <p:cNvPr id="244" name="TextBox 45"/>
          <p:cNvSpPr/>
          <p:nvPr/>
        </p:nvSpPr>
        <p:spPr>
          <a:xfrm>
            <a:off x="3474720" y="3355920"/>
            <a:ext cx="2376720" cy="6714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100" b="0" u="none" strike="noStrike">
                <a:solidFill>
                  <a:srgbClr val="2B3947"/>
                </a:solidFill>
                <a:effectLst/>
                <a:uFillTx/>
                <a:latin typeface="Arial"/>
              </a:rPr>
              <a:t>POV standardizing on Harness FME. All traffic through the Harness forward and reverse proxy, linked to the Citi proxy.</a:t>
            </a:r>
            <a:endParaRPr lang="en-US" sz="1100" b="0" u="none" strike="noStrike">
              <a:solidFill>
                <a:srgbClr val="000000"/>
              </a:solidFill>
              <a:effectLst/>
              <a:uFillTx/>
              <a:latin typeface="Arial"/>
            </a:endParaRPr>
          </a:p>
        </p:txBody>
      </p:sp>
      <p:sp>
        <p:nvSpPr>
          <p:cNvPr id="245" name="TextBox 46"/>
          <p:cNvSpPr/>
          <p:nvPr/>
        </p:nvSpPr>
        <p:spPr>
          <a:xfrm>
            <a:off x="3474720" y="4114800"/>
            <a:ext cx="2376720" cy="2005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950" b="1" u="none" strike="noStrike">
                <a:solidFill>
                  <a:srgbClr val="5B6B7F"/>
                </a:solidFill>
                <a:effectLst/>
                <a:uFillTx/>
                <a:latin typeface="Arial"/>
              </a:rPr>
              <a:t>OUTCOME</a:t>
            </a:r>
            <a:endParaRPr lang="en-US" sz="950" b="0" u="none" strike="noStrike">
              <a:solidFill>
                <a:srgbClr val="000000"/>
              </a:solidFill>
              <a:effectLst/>
              <a:uFillTx/>
              <a:latin typeface="Arial"/>
            </a:endParaRPr>
          </a:p>
        </p:txBody>
      </p:sp>
      <p:sp>
        <p:nvSpPr>
          <p:cNvPr id="246" name="TextBox 47"/>
          <p:cNvSpPr/>
          <p:nvPr/>
        </p:nvSpPr>
        <p:spPr>
          <a:xfrm>
            <a:off x="3474720" y="4343400"/>
            <a:ext cx="2376720" cy="74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100" b="1" u="none" strike="noStrike">
                <a:solidFill>
                  <a:srgbClr val="7D4DD3"/>
                </a:solidFill>
                <a:effectLst/>
                <a:uFillTx/>
                <a:latin typeface="Arial"/>
              </a:rPr>
              <a:t>One governed standard across app teams (fraud, payments, market controls); targeting by version, team, location and %.</a:t>
            </a:r>
            <a:endParaRPr lang="en-US" sz="1100" b="0" u="none" strike="noStrike">
              <a:solidFill>
                <a:srgbClr val="000000"/>
              </a:solidFill>
              <a:effectLst/>
              <a:uFillTx/>
              <a:latin typeface="Arial"/>
            </a:endParaRPr>
          </a:p>
        </p:txBody>
      </p:sp>
      <p:cxnSp>
        <p:nvCxnSpPr>
          <p:cNvPr id="247" name="Connector 48"/>
          <p:cNvCxnSpPr/>
          <p:nvPr/>
        </p:nvCxnSpPr>
        <p:spPr>
          <a:xfrm>
            <a:off x="3474720" y="5138640"/>
            <a:ext cx="2378160" cy="720"/>
          </a:xfrm>
          <a:prstGeom prst="straightConnector1">
            <a:avLst/>
          </a:prstGeom>
          <a:ln w="9525">
            <a:solidFill>
              <a:srgbClr val="DFE6EE"/>
            </a:solidFill>
            <a:round/>
          </a:ln>
        </p:spPr>
      </p:cxnSp>
      <p:sp>
        <p:nvSpPr>
          <p:cNvPr id="248" name="TextBox 49"/>
          <p:cNvSpPr/>
          <p:nvPr/>
        </p:nvSpPr>
        <p:spPr>
          <a:xfrm>
            <a:off x="3474720" y="5212080"/>
            <a:ext cx="2376720" cy="2005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950" b="1" u="none" strike="noStrike">
                <a:solidFill>
                  <a:srgbClr val="5B6B7F"/>
                </a:solidFill>
                <a:effectLst/>
                <a:uFillTx/>
                <a:latin typeface="Arial"/>
              </a:rPr>
              <a:t>BACKS UP FOR ODIDO</a:t>
            </a:r>
            <a:endParaRPr lang="en-US" sz="950" b="0" u="none" strike="noStrike">
              <a:solidFill>
                <a:srgbClr val="000000"/>
              </a:solidFill>
              <a:effectLst/>
              <a:uFillTx/>
              <a:latin typeface="Arial"/>
            </a:endParaRPr>
          </a:p>
        </p:txBody>
      </p:sp>
      <p:sp>
        <p:nvSpPr>
          <p:cNvPr id="249" name="TextBox 50"/>
          <p:cNvSpPr/>
          <p:nvPr/>
        </p:nvSpPr>
        <p:spPr>
          <a:xfrm>
            <a:off x="3474720" y="5440680"/>
            <a:ext cx="2376720" cy="5479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050" b="1" u="none" strike="noStrike">
                <a:solidFill>
                  <a:srgbClr val="0B1A2B"/>
                </a:solidFill>
                <a:effectLst/>
                <a:uFillTx/>
                <a:latin typeface="Arial"/>
              </a:rPr>
              <a:t>✓  One standard · governance</a:t>
            </a:r>
            <a:endParaRPr lang="en-US" sz="1050" b="0" u="none" strike="noStrike">
              <a:solidFill>
                <a:srgbClr val="000000"/>
              </a:solidFill>
              <a:effectLst/>
              <a:uFillTx/>
              <a:latin typeface="Arial"/>
            </a:endParaRPr>
          </a:p>
          <a:p>
            <a:pPr defTabSz="914400">
              <a:lnSpc>
                <a:spcPct val="100000"/>
              </a:lnSpc>
            </a:pPr>
            <a:r>
              <a:rPr lang="en-US" sz="1050" b="1" u="none" strike="noStrike">
                <a:solidFill>
                  <a:srgbClr val="0B1A2B"/>
                </a:solidFill>
                <a:effectLst/>
                <a:uFillTx/>
                <a:latin typeface="Arial"/>
              </a:rPr>
              <a:t>✓  Proxy-only traffic · % rollout</a:t>
            </a:r>
            <a:endParaRPr lang="en-US" sz="1050" b="0" u="none" strike="noStrike">
              <a:solidFill>
                <a:srgbClr val="000000"/>
              </a:solidFill>
              <a:effectLst/>
              <a:uFillTx/>
              <a:latin typeface="Arial"/>
            </a:endParaRPr>
          </a:p>
        </p:txBody>
      </p:sp>
      <p:sp>
        <p:nvSpPr>
          <p:cNvPr id="250" name="Rectangle 51"/>
          <p:cNvSpPr/>
          <p:nvPr/>
        </p:nvSpPr>
        <p:spPr>
          <a:xfrm>
            <a:off x="6126480" y="1325880"/>
            <a:ext cx="2696760" cy="4754160"/>
          </a:xfrm>
          <a:prstGeom prst="rect">
            <a:avLst/>
          </a:prstGeom>
          <a:solidFill>
            <a:srgbClr val="FFFFFF"/>
          </a:solidFill>
          <a:ln w="9525">
            <a:solidFill>
              <a:srgbClr val="DFE6EE"/>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51" name="Rectangle 52"/>
          <p:cNvSpPr/>
          <p:nvPr/>
        </p:nvSpPr>
        <p:spPr>
          <a:xfrm>
            <a:off x="6126480" y="1325880"/>
            <a:ext cx="2696760" cy="54000"/>
          </a:xfrm>
          <a:prstGeom prst="rect">
            <a:avLst/>
          </a:prstGeom>
          <a:solidFill>
            <a:srgbClr val="00ADE4"/>
          </a:solidFill>
          <a:ln>
            <a:noFill/>
          </a:ln>
        </p:spPr>
        <p:style>
          <a:lnRef idx="1">
            <a:schemeClr val="accent1"/>
          </a:lnRef>
          <a:fillRef idx="3">
            <a:schemeClr val="accent1"/>
          </a:fillRef>
          <a:effectRef idx="2">
            <a:schemeClr val="accent1"/>
          </a:effectRef>
          <a:fontRef idx="minor"/>
        </p:style>
        <p:txBody>
          <a:bodyPr lIns="90000" tIns="9720" rIns="90000" bIns="9720" anchor="ctr">
            <a:noAutofit/>
          </a:bodyPr>
          <a:p>
            <a:pPr/>
            <a:endParaRPr lang="en-US" sz="1800" b="0" u="none" strike="noStrike">
              <a:solidFill>
                <a:schemeClr val="lt1"/>
              </a:solidFill>
              <a:effectLst/>
              <a:uFillTx/>
              <a:latin typeface="Calibri"/>
            </a:endParaRPr>
          </a:p>
        </p:txBody>
      </p:sp>
      <p:sp>
        <p:nvSpPr>
          <p:cNvPr id="252" name="TextBox 53"/>
          <p:cNvSpPr/>
          <p:nvPr/>
        </p:nvSpPr>
        <p:spPr>
          <a:xfrm>
            <a:off x="6309360" y="1463040"/>
            <a:ext cx="2376720" cy="3650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700" b="1" u="none" strike="noStrike">
                <a:solidFill>
                  <a:srgbClr val="0B1A2B"/>
                </a:solidFill>
                <a:effectLst/>
                <a:uFillTx/>
                <a:latin typeface="Arial"/>
              </a:rPr>
              <a:t>ADP</a:t>
            </a:r>
            <a:endParaRPr lang="en-US" sz="1700" b="0" u="none" strike="noStrike">
              <a:solidFill>
                <a:srgbClr val="000000"/>
              </a:solidFill>
              <a:effectLst/>
              <a:uFillTx/>
              <a:latin typeface="Arial"/>
            </a:endParaRPr>
          </a:p>
        </p:txBody>
      </p:sp>
      <p:sp>
        <p:nvSpPr>
          <p:cNvPr id="253" name="TextBox 54"/>
          <p:cNvSpPr/>
          <p:nvPr/>
        </p:nvSpPr>
        <p:spPr>
          <a:xfrm>
            <a:off x="6309360" y="1810440"/>
            <a:ext cx="2376720" cy="23688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000" b="1" u="none" strike="noStrike">
                <a:solidFill>
                  <a:srgbClr val="00ADE4"/>
                </a:solidFill>
                <a:effectLst/>
                <a:uFillTx/>
                <a:latin typeface="Arial"/>
              </a:rPr>
              <a:t>Harness case study</a:t>
            </a:r>
            <a:endParaRPr lang="en-US" sz="1000" b="0" u="none" strike="noStrike">
              <a:solidFill>
                <a:srgbClr val="000000"/>
              </a:solidFill>
              <a:effectLst/>
              <a:uFillTx/>
              <a:latin typeface="Arial"/>
            </a:endParaRPr>
          </a:p>
        </p:txBody>
      </p:sp>
      <p:sp>
        <p:nvSpPr>
          <p:cNvPr id="254" name="TextBox 55"/>
          <p:cNvSpPr/>
          <p:nvPr/>
        </p:nvSpPr>
        <p:spPr>
          <a:xfrm>
            <a:off x="6309360" y="2139840"/>
            <a:ext cx="2376720" cy="2005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950" b="1" u="none" strike="noStrike">
                <a:solidFill>
                  <a:srgbClr val="5B6B7F"/>
                </a:solidFill>
                <a:effectLst/>
                <a:uFillTx/>
                <a:latin typeface="Arial"/>
              </a:rPr>
              <a:t>CHALLENGE</a:t>
            </a:r>
            <a:endParaRPr lang="en-US" sz="950" b="0" u="none" strike="noStrike">
              <a:solidFill>
                <a:srgbClr val="000000"/>
              </a:solidFill>
              <a:effectLst/>
              <a:uFillTx/>
              <a:latin typeface="Arial"/>
            </a:endParaRPr>
          </a:p>
        </p:txBody>
      </p:sp>
      <p:sp>
        <p:nvSpPr>
          <p:cNvPr id="255" name="TextBox 56"/>
          <p:cNvSpPr/>
          <p:nvPr/>
        </p:nvSpPr>
        <p:spPr>
          <a:xfrm>
            <a:off x="6309360" y="2368440"/>
            <a:ext cx="2376720" cy="74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100" b="0" u="none" strike="noStrike">
                <a:solidFill>
                  <a:srgbClr val="2B3947"/>
                </a:solidFill>
                <a:effectLst/>
                <a:uFillTx/>
                <a:latin typeface="Arial"/>
              </a:rPr>
              <a:t>Patchwork of homegrown flag systems; weeks to deliver a flag.</a:t>
            </a:r>
            <a:endParaRPr lang="en-US" sz="1100" b="0" u="none" strike="noStrike">
              <a:solidFill>
                <a:srgbClr val="000000"/>
              </a:solidFill>
              <a:effectLst/>
              <a:uFillTx/>
              <a:latin typeface="Arial"/>
            </a:endParaRPr>
          </a:p>
        </p:txBody>
      </p:sp>
      <p:sp>
        <p:nvSpPr>
          <p:cNvPr id="256" name="TextBox 57"/>
          <p:cNvSpPr/>
          <p:nvPr/>
        </p:nvSpPr>
        <p:spPr>
          <a:xfrm>
            <a:off x="6309360" y="3127320"/>
            <a:ext cx="2376720" cy="2005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950" b="1" u="none" strike="noStrike">
                <a:solidFill>
                  <a:srgbClr val="5B6B7F"/>
                </a:solidFill>
                <a:effectLst/>
                <a:uFillTx/>
                <a:latin typeface="Arial"/>
              </a:rPr>
              <a:t>WHAT WE DID</a:t>
            </a:r>
            <a:endParaRPr lang="en-US" sz="950" b="0" u="none" strike="noStrike">
              <a:solidFill>
                <a:srgbClr val="000000"/>
              </a:solidFill>
              <a:effectLst/>
              <a:uFillTx/>
              <a:latin typeface="Arial"/>
            </a:endParaRPr>
          </a:p>
        </p:txBody>
      </p:sp>
      <p:sp>
        <p:nvSpPr>
          <p:cNvPr id="257" name="TextBox 58"/>
          <p:cNvSpPr/>
          <p:nvPr/>
        </p:nvSpPr>
        <p:spPr>
          <a:xfrm>
            <a:off x="6309360" y="3355920"/>
            <a:ext cx="2376720" cy="33588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100" b="0" u="none" strike="noStrike">
                <a:solidFill>
                  <a:srgbClr val="2B3947"/>
                </a:solidFill>
                <a:effectLst/>
                <a:uFillTx/>
                <a:latin typeface="Arial"/>
              </a:rPr>
              <a:t>Standardized on Harness FME as one rollout engine across teams.</a:t>
            </a:r>
            <a:endParaRPr lang="en-US" sz="1100" b="0" u="none" strike="noStrike">
              <a:solidFill>
                <a:srgbClr val="000000"/>
              </a:solidFill>
              <a:effectLst/>
              <a:uFillTx/>
              <a:latin typeface="Arial"/>
            </a:endParaRPr>
          </a:p>
        </p:txBody>
      </p:sp>
      <p:sp>
        <p:nvSpPr>
          <p:cNvPr id="258" name="TextBox 59"/>
          <p:cNvSpPr/>
          <p:nvPr/>
        </p:nvSpPr>
        <p:spPr>
          <a:xfrm>
            <a:off x="6309360" y="4114800"/>
            <a:ext cx="2376720" cy="2005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950" b="1" u="none" strike="noStrike">
                <a:solidFill>
                  <a:srgbClr val="5B6B7F"/>
                </a:solidFill>
                <a:effectLst/>
                <a:uFillTx/>
                <a:latin typeface="Arial"/>
              </a:rPr>
              <a:t>OUTCOME</a:t>
            </a:r>
            <a:endParaRPr lang="en-US" sz="950" b="0" u="none" strike="noStrike">
              <a:solidFill>
                <a:srgbClr val="000000"/>
              </a:solidFill>
              <a:effectLst/>
              <a:uFillTx/>
              <a:latin typeface="Arial"/>
            </a:endParaRPr>
          </a:p>
        </p:txBody>
      </p:sp>
      <p:sp>
        <p:nvSpPr>
          <p:cNvPr id="259" name="TextBox 60"/>
          <p:cNvSpPr/>
          <p:nvPr/>
        </p:nvSpPr>
        <p:spPr>
          <a:xfrm>
            <a:off x="6309360" y="4343400"/>
            <a:ext cx="2376720" cy="74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100" b="1" u="none" strike="noStrike">
                <a:solidFill>
                  <a:srgbClr val="00ADE4"/>
                </a:solidFill>
                <a:effectLst/>
                <a:uFillTx/>
                <a:latin typeface="Arial"/>
              </a:rPr>
              <a:t>Flag delivery from weeks to days; evaluations under 3 ms at enterprise scale; measurable financial ROI.</a:t>
            </a:r>
            <a:endParaRPr lang="en-US" sz="1100" b="0" u="none" strike="noStrike">
              <a:solidFill>
                <a:srgbClr val="000000"/>
              </a:solidFill>
              <a:effectLst/>
              <a:uFillTx/>
              <a:latin typeface="Arial"/>
            </a:endParaRPr>
          </a:p>
        </p:txBody>
      </p:sp>
      <p:cxnSp>
        <p:nvCxnSpPr>
          <p:cNvPr id="260" name="Connector 61"/>
          <p:cNvCxnSpPr/>
          <p:nvPr/>
        </p:nvCxnSpPr>
        <p:spPr>
          <a:xfrm>
            <a:off x="6309360" y="5138640"/>
            <a:ext cx="2378160" cy="720"/>
          </a:xfrm>
          <a:prstGeom prst="straightConnector1">
            <a:avLst/>
          </a:prstGeom>
          <a:ln w="9525">
            <a:solidFill>
              <a:srgbClr val="DFE6EE"/>
            </a:solidFill>
            <a:round/>
          </a:ln>
        </p:spPr>
      </p:cxnSp>
      <p:sp>
        <p:nvSpPr>
          <p:cNvPr id="261" name="TextBox 62"/>
          <p:cNvSpPr/>
          <p:nvPr/>
        </p:nvSpPr>
        <p:spPr>
          <a:xfrm>
            <a:off x="6309360" y="5212080"/>
            <a:ext cx="2376720" cy="2005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950" b="1" u="none" strike="noStrike">
                <a:solidFill>
                  <a:srgbClr val="5B6B7F"/>
                </a:solidFill>
                <a:effectLst/>
                <a:uFillTx/>
                <a:latin typeface="Arial"/>
              </a:rPr>
              <a:t>BACKS UP FOR ODIDO</a:t>
            </a:r>
            <a:endParaRPr lang="en-US" sz="950" b="0" u="none" strike="noStrike">
              <a:solidFill>
                <a:srgbClr val="000000"/>
              </a:solidFill>
              <a:effectLst/>
              <a:uFillTx/>
              <a:latin typeface="Arial"/>
            </a:endParaRPr>
          </a:p>
        </p:txBody>
      </p:sp>
      <p:sp>
        <p:nvSpPr>
          <p:cNvPr id="262" name="TextBox 63"/>
          <p:cNvSpPr/>
          <p:nvPr/>
        </p:nvSpPr>
        <p:spPr>
          <a:xfrm>
            <a:off x="6309360" y="5440680"/>
            <a:ext cx="2376720" cy="32004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050" b="1" u="none" strike="noStrike">
                <a:solidFill>
                  <a:srgbClr val="0B1A2B"/>
                </a:solidFill>
                <a:effectLst/>
                <a:uFillTx/>
                <a:latin typeface="Arial"/>
              </a:rPr>
              <a:t>✓  Standardized % rollouts</a:t>
            </a:r>
            <a:endParaRPr lang="en-US" sz="1050" b="0" u="none" strike="noStrike">
              <a:solidFill>
                <a:srgbClr val="000000"/>
              </a:solidFill>
              <a:effectLst/>
              <a:uFillTx/>
              <a:latin typeface="Arial"/>
            </a:endParaRPr>
          </a:p>
          <a:p>
            <a:pPr defTabSz="914400">
              <a:lnSpc>
                <a:spcPct val="100000"/>
              </a:lnSpc>
            </a:pPr>
            <a:r>
              <a:rPr lang="en-US" sz="1050" b="1" u="none" strike="noStrike">
                <a:solidFill>
                  <a:srgbClr val="0B1A2B"/>
                </a:solidFill>
                <a:effectLst/>
                <a:uFillTx/>
                <a:latin typeface="Arial"/>
              </a:rPr>
              <a:t>✓  Fast local evaluation at scale</a:t>
            </a:r>
            <a:endParaRPr lang="en-US" sz="1050" b="0" u="none" strike="noStrike">
              <a:solidFill>
                <a:srgbClr val="000000"/>
              </a:solidFill>
              <a:effectLst/>
              <a:uFillTx/>
              <a:latin typeface="Arial"/>
            </a:endParaRPr>
          </a:p>
        </p:txBody>
      </p:sp>
      <p:sp>
        <p:nvSpPr>
          <p:cNvPr id="263" name="Rectangle 64"/>
          <p:cNvSpPr/>
          <p:nvPr/>
        </p:nvSpPr>
        <p:spPr>
          <a:xfrm>
            <a:off x="8961120" y="1325880"/>
            <a:ext cx="2696760" cy="4754160"/>
          </a:xfrm>
          <a:prstGeom prst="rect">
            <a:avLst/>
          </a:prstGeom>
          <a:solidFill>
            <a:srgbClr val="FFFFFF"/>
          </a:solidFill>
          <a:ln w="9525">
            <a:solidFill>
              <a:srgbClr val="DFE6EE"/>
            </a:solid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sp>
        <p:nvSpPr>
          <p:cNvPr id="264" name="Rectangle 65"/>
          <p:cNvSpPr/>
          <p:nvPr/>
        </p:nvSpPr>
        <p:spPr>
          <a:xfrm>
            <a:off x="8961120" y="1325880"/>
            <a:ext cx="2696760" cy="54000"/>
          </a:xfrm>
          <a:prstGeom prst="rect">
            <a:avLst/>
          </a:prstGeom>
          <a:solidFill>
            <a:srgbClr val="1FA971"/>
          </a:solidFill>
          <a:ln>
            <a:noFill/>
          </a:ln>
        </p:spPr>
        <p:style>
          <a:lnRef idx="1">
            <a:schemeClr val="accent1"/>
          </a:lnRef>
          <a:fillRef idx="3">
            <a:schemeClr val="accent1"/>
          </a:fillRef>
          <a:effectRef idx="2">
            <a:schemeClr val="accent1"/>
          </a:effectRef>
          <a:fontRef idx="minor"/>
        </p:style>
        <p:txBody>
          <a:bodyPr lIns="90000" tIns="9720" rIns="90000" bIns="9720" anchor="ctr">
            <a:noAutofit/>
          </a:bodyPr>
          <a:p>
            <a:pPr/>
            <a:endParaRPr lang="en-US" sz="1800" b="0" u="none" strike="noStrike">
              <a:solidFill>
                <a:schemeClr val="lt1"/>
              </a:solidFill>
              <a:effectLst/>
              <a:uFillTx/>
              <a:latin typeface="Calibri"/>
            </a:endParaRPr>
          </a:p>
        </p:txBody>
      </p:sp>
      <p:sp>
        <p:nvSpPr>
          <p:cNvPr id="265" name="TextBox 66"/>
          <p:cNvSpPr/>
          <p:nvPr/>
        </p:nvSpPr>
        <p:spPr>
          <a:xfrm>
            <a:off x="9144000" y="1463040"/>
            <a:ext cx="2376720" cy="36504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700" b="1" u="none" strike="noStrike">
                <a:solidFill>
                  <a:srgbClr val="0B1A2B"/>
                </a:solidFill>
                <a:effectLst/>
                <a:uFillTx/>
                <a:latin typeface="Arial"/>
              </a:rPr>
              <a:t>Speedway Motors</a:t>
            </a:r>
            <a:endParaRPr lang="en-US" sz="1700" b="0" u="none" strike="noStrike">
              <a:solidFill>
                <a:srgbClr val="000000"/>
              </a:solidFill>
              <a:effectLst/>
              <a:uFillTx/>
              <a:latin typeface="Arial"/>
            </a:endParaRPr>
          </a:p>
        </p:txBody>
      </p:sp>
      <p:sp>
        <p:nvSpPr>
          <p:cNvPr id="266" name="TextBox 67"/>
          <p:cNvSpPr/>
          <p:nvPr/>
        </p:nvSpPr>
        <p:spPr>
          <a:xfrm>
            <a:off x="9144000" y="1810440"/>
            <a:ext cx="2376720" cy="23688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000" b="1" u="none" strike="noStrike">
                <a:solidFill>
                  <a:srgbClr val="1FA971"/>
                </a:solidFill>
                <a:effectLst/>
                <a:uFillTx/>
                <a:latin typeface="Arial"/>
              </a:rPr>
              <a:t>Harness case study</a:t>
            </a:r>
            <a:endParaRPr lang="en-US" sz="1000" b="0" u="none" strike="noStrike">
              <a:solidFill>
                <a:srgbClr val="000000"/>
              </a:solidFill>
              <a:effectLst/>
              <a:uFillTx/>
              <a:latin typeface="Arial"/>
            </a:endParaRPr>
          </a:p>
        </p:txBody>
      </p:sp>
      <p:sp>
        <p:nvSpPr>
          <p:cNvPr id="267" name="TextBox 68"/>
          <p:cNvSpPr/>
          <p:nvPr/>
        </p:nvSpPr>
        <p:spPr>
          <a:xfrm>
            <a:off x="9144000" y="2139840"/>
            <a:ext cx="2376720" cy="2005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950" b="1" u="none" strike="noStrike">
                <a:solidFill>
                  <a:srgbClr val="5B6B7F"/>
                </a:solidFill>
                <a:effectLst/>
                <a:uFillTx/>
                <a:latin typeface="Arial"/>
              </a:rPr>
              <a:t>CHALLENGE</a:t>
            </a:r>
            <a:endParaRPr lang="en-US" sz="950" b="0" u="none" strike="noStrike">
              <a:solidFill>
                <a:srgbClr val="000000"/>
              </a:solidFill>
              <a:effectLst/>
              <a:uFillTx/>
              <a:latin typeface="Arial"/>
            </a:endParaRPr>
          </a:p>
        </p:txBody>
      </p:sp>
      <p:sp>
        <p:nvSpPr>
          <p:cNvPr id="268" name="TextBox 69"/>
          <p:cNvSpPr/>
          <p:nvPr/>
        </p:nvSpPr>
        <p:spPr>
          <a:xfrm>
            <a:off x="9144000" y="2368440"/>
            <a:ext cx="2376720" cy="74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100" b="0" u="none" strike="noStrike">
                <a:solidFill>
                  <a:srgbClr val="2B3947"/>
                </a:solidFill>
                <a:effectLst/>
                <a:uFillTx/>
                <a:latin typeface="Arial"/>
              </a:rPr>
              <a:t>Big-bang releases and decisions based on opinion.</a:t>
            </a:r>
            <a:endParaRPr lang="en-US" sz="1100" b="0" u="none" strike="noStrike">
              <a:solidFill>
                <a:srgbClr val="000000"/>
              </a:solidFill>
              <a:effectLst/>
              <a:uFillTx/>
              <a:latin typeface="Arial"/>
            </a:endParaRPr>
          </a:p>
        </p:txBody>
      </p:sp>
      <p:sp>
        <p:nvSpPr>
          <p:cNvPr id="269" name="TextBox 70"/>
          <p:cNvSpPr/>
          <p:nvPr/>
        </p:nvSpPr>
        <p:spPr>
          <a:xfrm>
            <a:off x="9144000" y="3127320"/>
            <a:ext cx="2376720" cy="2005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950" b="1" u="none" strike="noStrike">
                <a:solidFill>
                  <a:srgbClr val="5B6B7F"/>
                </a:solidFill>
                <a:effectLst/>
                <a:uFillTx/>
                <a:latin typeface="Arial"/>
              </a:rPr>
              <a:t>WHAT WE DID</a:t>
            </a:r>
            <a:endParaRPr lang="en-US" sz="950" b="0" u="none" strike="noStrike">
              <a:solidFill>
                <a:srgbClr val="000000"/>
              </a:solidFill>
              <a:effectLst/>
              <a:uFillTx/>
              <a:latin typeface="Arial"/>
            </a:endParaRPr>
          </a:p>
        </p:txBody>
      </p:sp>
      <p:sp>
        <p:nvSpPr>
          <p:cNvPr id="270" name="TextBox 71"/>
          <p:cNvSpPr/>
          <p:nvPr/>
        </p:nvSpPr>
        <p:spPr>
          <a:xfrm>
            <a:off x="9144000" y="3355920"/>
            <a:ext cx="2376720" cy="74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100" b="0" u="none" strike="noStrike">
                <a:solidFill>
                  <a:srgbClr val="2B3947"/>
                </a:solidFill>
                <a:effectLst/>
                <a:uFillTx/>
                <a:latin typeface="Arial"/>
              </a:rPr>
              <a:t>Progressive delivery to a small % of customers, metrics watched, then experiments on the storefront.</a:t>
            </a:r>
            <a:endParaRPr lang="en-US" sz="1100" b="0" u="none" strike="noStrike">
              <a:solidFill>
                <a:srgbClr val="000000"/>
              </a:solidFill>
              <a:effectLst/>
              <a:uFillTx/>
              <a:latin typeface="Arial"/>
            </a:endParaRPr>
          </a:p>
        </p:txBody>
      </p:sp>
      <p:sp>
        <p:nvSpPr>
          <p:cNvPr id="271" name="TextBox 72"/>
          <p:cNvSpPr/>
          <p:nvPr/>
        </p:nvSpPr>
        <p:spPr>
          <a:xfrm>
            <a:off x="9144000" y="4114800"/>
            <a:ext cx="2376720" cy="2005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950" b="1" u="none" strike="noStrike">
                <a:solidFill>
                  <a:srgbClr val="5B6B7F"/>
                </a:solidFill>
                <a:effectLst/>
                <a:uFillTx/>
                <a:latin typeface="Arial"/>
              </a:rPr>
              <a:t>OUTCOME</a:t>
            </a:r>
            <a:endParaRPr lang="en-US" sz="950" b="0" u="none" strike="noStrike">
              <a:solidFill>
                <a:srgbClr val="000000"/>
              </a:solidFill>
              <a:effectLst/>
              <a:uFillTx/>
              <a:latin typeface="Arial"/>
            </a:endParaRPr>
          </a:p>
        </p:txBody>
      </p:sp>
      <p:sp>
        <p:nvSpPr>
          <p:cNvPr id="272" name="TextBox 73"/>
          <p:cNvSpPr/>
          <p:nvPr/>
        </p:nvSpPr>
        <p:spPr>
          <a:xfrm>
            <a:off x="9144000" y="4343400"/>
            <a:ext cx="2376720" cy="7491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100" b="1" u="none" strike="noStrike">
                <a:solidFill>
                  <a:srgbClr val="1FA971"/>
                </a:solidFill>
                <a:effectLst/>
                <a:uFillTx/>
                <a:latin typeface="Arial"/>
              </a:rPr>
              <a:t>Safe scale-up within minutes; product decisions validated on real customer behaviour.</a:t>
            </a:r>
            <a:endParaRPr lang="en-US" sz="1100" b="0" u="none" strike="noStrike">
              <a:solidFill>
                <a:srgbClr val="000000"/>
              </a:solidFill>
              <a:effectLst/>
              <a:uFillTx/>
              <a:latin typeface="Arial"/>
            </a:endParaRPr>
          </a:p>
        </p:txBody>
      </p:sp>
      <p:cxnSp>
        <p:nvCxnSpPr>
          <p:cNvPr id="273" name="Connector 74"/>
          <p:cNvCxnSpPr/>
          <p:nvPr/>
        </p:nvCxnSpPr>
        <p:spPr>
          <a:xfrm>
            <a:off x="9144000" y="5138640"/>
            <a:ext cx="2378160" cy="720"/>
          </a:xfrm>
          <a:prstGeom prst="straightConnector1">
            <a:avLst/>
          </a:prstGeom>
          <a:ln w="9525">
            <a:solidFill>
              <a:srgbClr val="DFE6EE"/>
            </a:solidFill>
            <a:round/>
          </a:ln>
        </p:spPr>
      </p:cxnSp>
      <p:sp>
        <p:nvSpPr>
          <p:cNvPr id="274" name="TextBox 75"/>
          <p:cNvSpPr/>
          <p:nvPr/>
        </p:nvSpPr>
        <p:spPr>
          <a:xfrm>
            <a:off x="9144000" y="5212080"/>
            <a:ext cx="2376720" cy="2005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950" b="1" u="none" strike="noStrike">
                <a:solidFill>
                  <a:srgbClr val="5B6B7F"/>
                </a:solidFill>
                <a:effectLst/>
                <a:uFillTx/>
                <a:latin typeface="Arial"/>
              </a:rPr>
              <a:t>BACKS UP FOR ODIDO</a:t>
            </a:r>
            <a:endParaRPr lang="en-US" sz="950" b="0" u="none" strike="noStrike">
              <a:solidFill>
                <a:srgbClr val="000000"/>
              </a:solidFill>
              <a:effectLst/>
              <a:uFillTx/>
              <a:latin typeface="Arial"/>
            </a:endParaRPr>
          </a:p>
        </p:txBody>
      </p:sp>
      <p:sp>
        <p:nvSpPr>
          <p:cNvPr id="275" name="TextBox 76"/>
          <p:cNvSpPr/>
          <p:nvPr/>
        </p:nvSpPr>
        <p:spPr>
          <a:xfrm>
            <a:off x="9144000" y="5440680"/>
            <a:ext cx="2376720" cy="5479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050" b="1" u="none" strike="noStrike">
                <a:solidFill>
                  <a:srgbClr val="0B1A2B"/>
                </a:solidFill>
                <a:effectLst/>
                <a:uFillTx/>
                <a:latin typeface="Arial"/>
              </a:rPr>
              <a:t>✓  % rollout · release monitoring</a:t>
            </a:r>
            <a:endParaRPr lang="en-US" sz="1050" b="0" u="none" strike="noStrike">
              <a:solidFill>
                <a:srgbClr val="000000"/>
              </a:solidFill>
              <a:effectLst/>
              <a:uFillTx/>
              <a:latin typeface="Arial"/>
            </a:endParaRPr>
          </a:p>
          <a:p>
            <a:pPr defTabSz="914400">
              <a:lnSpc>
                <a:spcPct val="100000"/>
              </a:lnSpc>
            </a:pPr>
            <a:r>
              <a:rPr lang="en-US" sz="1050" b="1" u="none" strike="noStrike">
                <a:solidFill>
                  <a:srgbClr val="0B1A2B"/>
                </a:solidFill>
                <a:effectLst/>
                <a:uFillTx/>
                <a:latin typeface="Arial"/>
              </a:rPr>
              <a:t>✓  Experimentation</a:t>
            </a:r>
            <a:endParaRPr lang="en-US" sz="1050" b="0" u="none" strike="noStrike">
              <a:solidFill>
                <a:srgbClr val="000000"/>
              </a:solidFill>
              <a:effectLst/>
              <a:uFillTx/>
              <a:latin typeface="Arial"/>
            </a:endParaRPr>
          </a:p>
        </p:txBody>
      </p:sp>
      <p:sp>
        <p:nvSpPr>
          <p:cNvPr id="276" name="TextBox 77"/>
          <p:cNvSpPr/>
          <p:nvPr/>
        </p:nvSpPr>
        <p:spPr>
          <a:xfrm>
            <a:off x="457200" y="6189840"/>
            <a:ext cx="11246400" cy="13788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900" b="0" u="none" strike="noStrike">
                <a:solidFill>
                  <a:srgbClr val="5B6B7F"/>
                </a:solidFill>
                <a:effectLst/>
                <a:uFillTx/>
                <a:latin typeface="Arial"/>
              </a:rPr>
              <a:t>Barclays: implementation ongoing.  Citi: implementation ongoing.  ADP, Speedway Motors: public Harness case studies.</a:t>
            </a:r>
            <a:endParaRPr lang="en-US" sz="900" b="0" u="none" strike="noStrike">
              <a:solidFill>
                <a:srgbClr val="000000"/>
              </a:solidFill>
              <a:effectLst/>
              <a:uFillTx/>
              <a:latin typeface="Arial"/>
            </a:endParaRPr>
          </a:p>
        </p:txBody>
      </p:sp>
      <p:pic>
        <p:nvPicPr>
          <p:cNvPr id="277" name=""/>
          <p:cNvPicPr/>
          <p:nvPr/>
        </p:nvPicPr>
        <p:blipFill>
          <a:blip r:embed="rId1"/>
          <a:stretch/>
        </p:blipFill>
        <p:spPr>
          <a:xfrm>
            <a:off x="10287000" y="228600"/>
            <a:ext cx="1371600" cy="300240"/>
          </a:xfrm>
          <a:prstGeom prst="rect">
            <a:avLst/>
          </a:prstGeom>
          <a:noFill/>
          <a:ln w="38160">
            <a:noFill/>
          </a:ln>
        </p:spPr>
      </p:pic>
    </p:spTree>
  </p:cSld>
  <mc:AlternateContent>
    <mc:Choice Requires="p14">
      <p:transition spd="slow" p14:dur="2000"/>
    </mc:Choice>
    <mc:Fallback>
      <p:transition spd="slow"/>
    </mc:Fallback>
  </mc:AlternateContent>
  <p:timing>
    <p:tnLst>
      <p:par>
        <p:cTn id="163" dur="indefinite" restart="never" nodeType="tmRoot">
          <p:childTnLst>
            <p:seq>
              <p:cTn id="164" dur="indefinite" nodeType="mainSeq">
                <p:childTnLst>
                  <p:par>
                    <p:cTn id="165" fill="hold">
                      <p:stCondLst>
                        <p:cond delay="indefinite"/>
                      </p:stCondLst>
                      <p:childTnLst>
                        <p:par>
                          <p:cTn id="166" fill="hold">
                            <p:stCondLst>
                              <p:cond delay="0"/>
                            </p:stCondLst>
                            <p:childTnLst>
                              <p:par>
                                <p:cTn id="167" presetID="1" presetClass="entr" fill="hold" nodeType="clickEffect">
                                  <p:stCondLst>
                                    <p:cond delay="0"/>
                                  </p:stCondLst>
                                  <p:childTnLst>
                                    <p:set>
                                      <p:cBhvr>
                                        <p:cTn id="168" dur="1" fill="hold">
                                          <p:stCondLst>
                                            <p:cond delay="0"/>
                                          </p:stCondLst>
                                        </p:cTn>
                                        <p:tgtEl>
                                          <p:spTgt spid="224"/>
                                        </p:tgtEl>
                                        <p:attrNameLst>
                                          <p:attrName>style.visibility</p:attrName>
                                        </p:attrNameLst>
                                      </p:cBhvr>
                                      <p:to>
                                        <p:strVal val="visible"/>
                                      </p:to>
                                    </p:set>
                                  </p:childTnLst>
                                </p:cTn>
                              </p:par>
                              <p:par>
                                <p:cTn id="169" presetID="1" presetClass="entr" fill="hold" nodeType="withEffect">
                                  <p:stCondLst>
                                    <p:cond delay="0"/>
                                  </p:stCondLst>
                                  <p:childTnLst>
                                    <p:set>
                                      <p:cBhvr>
                                        <p:cTn id="170" dur="1" fill="hold">
                                          <p:stCondLst>
                                            <p:cond delay="0"/>
                                          </p:stCondLst>
                                        </p:cTn>
                                        <p:tgtEl>
                                          <p:spTgt spid="225"/>
                                        </p:tgtEl>
                                        <p:attrNameLst>
                                          <p:attrName>style.visibility</p:attrName>
                                        </p:attrNameLst>
                                      </p:cBhvr>
                                      <p:to>
                                        <p:strVal val="visible"/>
                                      </p:to>
                                    </p:set>
                                  </p:childTnLst>
                                </p:cTn>
                              </p:par>
                              <p:par>
                                <p:cTn id="171" presetID="1" presetClass="entr" fill="hold" nodeType="withEffect">
                                  <p:stCondLst>
                                    <p:cond delay="0"/>
                                  </p:stCondLst>
                                  <p:childTnLst>
                                    <p:set>
                                      <p:cBhvr>
                                        <p:cTn id="172" dur="1" fill="hold">
                                          <p:stCondLst>
                                            <p:cond delay="0"/>
                                          </p:stCondLst>
                                        </p:cTn>
                                        <p:tgtEl>
                                          <p:spTgt spid="226"/>
                                        </p:tgtEl>
                                        <p:attrNameLst>
                                          <p:attrName>style.visibility</p:attrName>
                                        </p:attrNameLst>
                                      </p:cBhvr>
                                      <p:to>
                                        <p:strVal val="visible"/>
                                      </p:to>
                                    </p:set>
                                  </p:childTnLst>
                                </p:cTn>
                              </p:par>
                              <p:par>
                                <p:cTn id="173" presetID="1" presetClass="entr" fill="hold" nodeType="withEffect">
                                  <p:stCondLst>
                                    <p:cond delay="0"/>
                                  </p:stCondLst>
                                  <p:childTnLst>
                                    <p:set>
                                      <p:cBhvr>
                                        <p:cTn id="174" dur="1" fill="hold">
                                          <p:stCondLst>
                                            <p:cond delay="0"/>
                                          </p:stCondLst>
                                        </p:cTn>
                                        <p:tgtEl>
                                          <p:spTgt spid="227"/>
                                        </p:tgtEl>
                                        <p:attrNameLst>
                                          <p:attrName>style.visibility</p:attrName>
                                        </p:attrNameLst>
                                      </p:cBhvr>
                                      <p:to>
                                        <p:strVal val="visible"/>
                                      </p:to>
                                    </p:set>
                                  </p:childTnLst>
                                </p:cTn>
                              </p:par>
                              <p:par>
                                <p:cTn id="175" presetID="1" presetClass="entr" fill="hold" nodeType="withEffect">
                                  <p:stCondLst>
                                    <p:cond delay="0"/>
                                  </p:stCondLst>
                                  <p:childTnLst>
                                    <p:set>
                                      <p:cBhvr>
                                        <p:cTn id="176" dur="1" fill="hold">
                                          <p:stCondLst>
                                            <p:cond delay="0"/>
                                          </p:stCondLst>
                                        </p:cTn>
                                        <p:tgtEl>
                                          <p:spTgt spid="228"/>
                                        </p:tgtEl>
                                        <p:attrNameLst>
                                          <p:attrName>style.visibility</p:attrName>
                                        </p:attrNameLst>
                                      </p:cBhvr>
                                      <p:to>
                                        <p:strVal val="visible"/>
                                      </p:to>
                                    </p:set>
                                  </p:childTnLst>
                                </p:cTn>
                              </p:par>
                              <p:par>
                                <p:cTn id="177" presetID="1" presetClass="entr" fill="hold" nodeType="withEffect">
                                  <p:stCondLst>
                                    <p:cond delay="0"/>
                                  </p:stCondLst>
                                  <p:childTnLst>
                                    <p:set>
                                      <p:cBhvr>
                                        <p:cTn id="178" dur="1" fill="hold">
                                          <p:stCondLst>
                                            <p:cond delay="0"/>
                                          </p:stCondLst>
                                        </p:cTn>
                                        <p:tgtEl>
                                          <p:spTgt spid="229"/>
                                        </p:tgtEl>
                                        <p:attrNameLst>
                                          <p:attrName>style.visibility</p:attrName>
                                        </p:attrNameLst>
                                      </p:cBhvr>
                                      <p:to>
                                        <p:strVal val="visible"/>
                                      </p:to>
                                    </p:set>
                                  </p:childTnLst>
                                </p:cTn>
                              </p:par>
                              <p:par>
                                <p:cTn id="179" presetID="1" presetClass="entr" fill="hold" nodeType="withEffect">
                                  <p:stCondLst>
                                    <p:cond delay="0"/>
                                  </p:stCondLst>
                                  <p:childTnLst>
                                    <p:set>
                                      <p:cBhvr>
                                        <p:cTn id="180" dur="1" fill="hold">
                                          <p:stCondLst>
                                            <p:cond delay="0"/>
                                          </p:stCondLst>
                                        </p:cTn>
                                        <p:tgtEl>
                                          <p:spTgt spid="230"/>
                                        </p:tgtEl>
                                        <p:attrNameLst>
                                          <p:attrName>style.visibility</p:attrName>
                                        </p:attrNameLst>
                                      </p:cBhvr>
                                      <p:to>
                                        <p:strVal val="visible"/>
                                      </p:to>
                                    </p:set>
                                  </p:childTnLst>
                                </p:cTn>
                              </p:par>
                              <p:par>
                                <p:cTn id="181" presetID="1" presetClass="entr" fill="hold" nodeType="withEffect">
                                  <p:stCondLst>
                                    <p:cond delay="0"/>
                                  </p:stCondLst>
                                  <p:childTnLst>
                                    <p:set>
                                      <p:cBhvr>
                                        <p:cTn id="182" dur="1" fill="hold">
                                          <p:stCondLst>
                                            <p:cond delay="0"/>
                                          </p:stCondLst>
                                        </p:cTn>
                                        <p:tgtEl>
                                          <p:spTgt spid="231"/>
                                        </p:tgtEl>
                                        <p:attrNameLst>
                                          <p:attrName>style.visibility</p:attrName>
                                        </p:attrNameLst>
                                      </p:cBhvr>
                                      <p:to>
                                        <p:strVal val="visible"/>
                                      </p:to>
                                    </p:set>
                                  </p:childTnLst>
                                </p:cTn>
                              </p:par>
                              <p:par>
                                <p:cTn id="183" presetID="1" presetClass="entr" fill="hold" nodeType="withEffect">
                                  <p:stCondLst>
                                    <p:cond delay="0"/>
                                  </p:stCondLst>
                                  <p:childTnLst>
                                    <p:set>
                                      <p:cBhvr>
                                        <p:cTn id="184" dur="1" fill="hold">
                                          <p:stCondLst>
                                            <p:cond delay="0"/>
                                          </p:stCondLst>
                                        </p:cTn>
                                        <p:tgtEl>
                                          <p:spTgt spid="232"/>
                                        </p:tgtEl>
                                        <p:attrNameLst>
                                          <p:attrName>style.visibility</p:attrName>
                                        </p:attrNameLst>
                                      </p:cBhvr>
                                      <p:to>
                                        <p:strVal val="visible"/>
                                      </p:to>
                                    </p:set>
                                  </p:childTnLst>
                                </p:cTn>
                              </p:par>
                              <p:par>
                                <p:cTn id="185" presetID="1" presetClass="entr" fill="hold" nodeType="withEffect">
                                  <p:stCondLst>
                                    <p:cond delay="0"/>
                                  </p:stCondLst>
                                  <p:childTnLst>
                                    <p:set>
                                      <p:cBhvr>
                                        <p:cTn id="186" dur="1" fill="hold">
                                          <p:stCondLst>
                                            <p:cond delay="0"/>
                                          </p:stCondLst>
                                        </p:cTn>
                                        <p:tgtEl>
                                          <p:spTgt spid="233"/>
                                        </p:tgtEl>
                                        <p:attrNameLst>
                                          <p:attrName>style.visibility</p:attrName>
                                        </p:attrNameLst>
                                      </p:cBhvr>
                                      <p:to>
                                        <p:strVal val="visible"/>
                                      </p:to>
                                    </p:set>
                                  </p:childTnLst>
                                </p:cTn>
                              </p:par>
                              <p:par>
                                <p:cTn id="187" presetID="1" presetClass="entr" fill="hold" nodeType="withEffect">
                                  <p:stCondLst>
                                    <p:cond delay="0"/>
                                  </p:stCondLst>
                                  <p:childTnLst>
                                    <p:set>
                                      <p:cBhvr>
                                        <p:cTn id="188" dur="1" fill="hold">
                                          <p:stCondLst>
                                            <p:cond delay="0"/>
                                          </p:stCondLst>
                                        </p:cTn>
                                        <p:tgtEl>
                                          <p:spTgt spid="234"/>
                                        </p:tgtEl>
                                        <p:attrNameLst>
                                          <p:attrName>style.visibility</p:attrName>
                                        </p:attrNameLst>
                                      </p:cBhvr>
                                      <p:to>
                                        <p:strVal val="visible"/>
                                      </p:to>
                                    </p:set>
                                  </p:childTnLst>
                                </p:cTn>
                              </p:par>
                              <p:par>
                                <p:cTn id="189" presetID="1" presetClass="entr" fill="hold" nodeType="withEffect">
                                  <p:stCondLst>
                                    <p:cond delay="0"/>
                                  </p:stCondLst>
                                  <p:childTnLst>
                                    <p:set>
                                      <p:cBhvr>
                                        <p:cTn id="190" dur="1" fill="hold">
                                          <p:stCondLst>
                                            <p:cond delay="0"/>
                                          </p:stCondLst>
                                        </p:cTn>
                                        <p:tgtEl>
                                          <p:spTgt spid="235"/>
                                        </p:tgtEl>
                                        <p:attrNameLst>
                                          <p:attrName>style.visibility</p:attrName>
                                        </p:attrNameLst>
                                      </p:cBhvr>
                                      <p:to>
                                        <p:strVal val="visible"/>
                                      </p:to>
                                    </p:set>
                                  </p:childTnLst>
                                </p:cTn>
                              </p:par>
                              <p:par>
                                <p:cTn id="191" presetID="1" presetClass="entr" fill="hold" nodeType="withEffect">
                                  <p:stCondLst>
                                    <p:cond delay="0"/>
                                  </p:stCondLst>
                                  <p:childTnLst>
                                    <p:set>
                                      <p:cBhvr>
                                        <p:cTn id="192" dur="1" fill="hold">
                                          <p:stCondLst>
                                            <p:cond delay="0"/>
                                          </p:stCondLst>
                                        </p:cTn>
                                        <p:tgtEl>
                                          <p:spTgt spid="236"/>
                                        </p:tgtEl>
                                        <p:attrNameLst>
                                          <p:attrName>style.visibility</p:attrName>
                                        </p:attrNameLst>
                                      </p:cBhvr>
                                      <p:to>
                                        <p:strVal val="visible"/>
                                      </p:to>
                                    </p:set>
                                  </p:childTnLst>
                                </p:cTn>
                              </p:par>
                            </p:childTnLst>
                          </p:cTn>
                        </p:par>
                      </p:childTnLst>
                    </p:cTn>
                  </p:par>
                  <p:par>
                    <p:cTn id="193" fill="hold">
                      <p:stCondLst>
                        <p:cond delay="indefinite"/>
                      </p:stCondLst>
                      <p:childTnLst>
                        <p:par>
                          <p:cTn id="194" fill="hold">
                            <p:stCondLst>
                              <p:cond delay="0"/>
                            </p:stCondLst>
                            <p:childTnLst>
                              <p:par>
                                <p:cTn id="195" presetID="1" presetClass="entr" fill="hold" nodeType="clickEffect">
                                  <p:stCondLst>
                                    <p:cond delay="0"/>
                                  </p:stCondLst>
                                  <p:childTnLst>
                                    <p:set>
                                      <p:cBhvr>
                                        <p:cTn id="196" dur="1" fill="hold">
                                          <p:stCondLst>
                                            <p:cond delay="0"/>
                                          </p:stCondLst>
                                        </p:cTn>
                                        <p:tgtEl>
                                          <p:spTgt spid="237"/>
                                        </p:tgtEl>
                                        <p:attrNameLst>
                                          <p:attrName>style.visibility</p:attrName>
                                        </p:attrNameLst>
                                      </p:cBhvr>
                                      <p:to>
                                        <p:strVal val="visible"/>
                                      </p:to>
                                    </p:set>
                                  </p:childTnLst>
                                </p:cTn>
                              </p:par>
                              <p:par>
                                <p:cTn id="197" presetID="1" presetClass="entr" fill="hold" nodeType="withEffect">
                                  <p:stCondLst>
                                    <p:cond delay="0"/>
                                  </p:stCondLst>
                                  <p:childTnLst>
                                    <p:set>
                                      <p:cBhvr>
                                        <p:cTn id="198" dur="1" fill="hold">
                                          <p:stCondLst>
                                            <p:cond delay="0"/>
                                          </p:stCondLst>
                                        </p:cTn>
                                        <p:tgtEl>
                                          <p:spTgt spid="238"/>
                                        </p:tgtEl>
                                        <p:attrNameLst>
                                          <p:attrName>style.visibility</p:attrName>
                                        </p:attrNameLst>
                                      </p:cBhvr>
                                      <p:to>
                                        <p:strVal val="visible"/>
                                      </p:to>
                                    </p:set>
                                  </p:childTnLst>
                                </p:cTn>
                              </p:par>
                              <p:par>
                                <p:cTn id="199" presetID="1" presetClass="entr" fill="hold" nodeType="withEffect">
                                  <p:stCondLst>
                                    <p:cond delay="0"/>
                                  </p:stCondLst>
                                  <p:childTnLst>
                                    <p:set>
                                      <p:cBhvr>
                                        <p:cTn id="200" dur="1" fill="hold">
                                          <p:stCondLst>
                                            <p:cond delay="0"/>
                                          </p:stCondLst>
                                        </p:cTn>
                                        <p:tgtEl>
                                          <p:spTgt spid="239"/>
                                        </p:tgtEl>
                                        <p:attrNameLst>
                                          <p:attrName>style.visibility</p:attrName>
                                        </p:attrNameLst>
                                      </p:cBhvr>
                                      <p:to>
                                        <p:strVal val="visible"/>
                                      </p:to>
                                    </p:set>
                                  </p:childTnLst>
                                </p:cTn>
                              </p:par>
                              <p:par>
                                <p:cTn id="201" presetID="1" presetClass="entr" fill="hold" nodeType="withEffect">
                                  <p:stCondLst>
                                    <p:cond delay="0"/>
                                  </p:stCondLst>
                                  <p:childTnLst>
                                    <p:set>
                                      <p:cBhvr>
                                        <p:cTn id="202" dur="1" fill="hold">
                                          <p:stCondLst>
                                            <p:cond delay="0"/>
                                          </p:stCondLst>
                                        </p:cTn>
                                        <p:tgtEl>
                                          <p:spTgt spid="240"/>
                                        </p:tgtEl>
                                        <p:attrNameLst>
                                          <p:attrName>style.visibility</p:attrName>
                                        </p:attrNameLst>
                                      </p:cBhvr>
                                      <p:to>
                                        <p:strVal val="visible"/>
                                      </p:to>
                                    </p:set>
                                  </p:childTnLst>
                                </p:cTn>
                              </p:par>
                              <p:par>
                                <p:cTn id="203" presetID="1" presetClass="entr" fill="hold" nodeType="withEffect">
                                  <p:stCondLst>
                                    <p:cond delay="0"/>
                                  </p:stCondLst>
                                  <p:childTnLst>
                                    <p:set>
                                      <p:cBhvr>
                                        <p:cTn id="204" dur="1" fill="hold">
                                          <p:stCondLst>
                                            <p:cond delay="0"/>
                                          </p:stCondLst>
                                        </p:cTn>
                                        <p:tgtEl>
                                          <p:spTgt spid="241"/>
                                        </p:tgtEl>
                                        <p:attrNameLst>
                                          <p:attrName>style.visibility</p:attrName>
                                        </p:attrNameLst>
                                      </p:cBhvr>
                                      <p:to>
                                        <p:strVal val="visible"/>
                                      </p:to>
                                    </p:set>
                                  </p:childTnLst>
                                </p:cTn>
                              </p:par>
                              <p:par>
                                <p:cTn id="205" presetID="1" presetClass="entr" fill="hold" nodeType="withEffect">
                                  <p:stCondLst>
                                    <p:cond delay="0"/>
                                  </p:stCondLst>
                                  <p:childTnLst>
                                    <p:set>
                                      <p:cBhvr>
                                        <p:cTn id="206" dur="1" fill="hold">
                                          <p:stCondLst>
                                            <p:cond delay="0"/>
                                          </p:stCondLst>
                                        </p:cTn>
                                        <p:tgtEl>
                                          <p:spTgt spid="242"/>
                                        </p:tgtEl>
                                        <p:attrNameLst>
                                          <p:attrName>style.visibility</p:attrName>
                                        </p:attrNameLst>
                                      </p:cBhvr>
                                      <p:to>
                                        <p:strVal val="visible"/>
                                      </p:to>
                                    </p:set>
                                  </p:childTnLst>
                                </p:cTn>
                              </p:par>
                              <p:par>
                                <p:cTn id="207" presetID="1" presetClass="entr" fill="hold" nodeType="withEffect">
                                  <p:stCondLst>
                                    <p:cond delay="0"/>
                                  </p:stCondLst>
                                  <p:childTnLst>
                                    <p:set>
                                      <p:cBhvr>
                                        <p:cTn id="208" dur="1" fill="hold">
                                          <p:stCondLst>
                                            <p:cond delay="0"/>
                                          </p:stCondLst>
                                        </p:cTn>
                                        <p:tgtEl>
                                          <p:spTgt spid="243"/>
                                        </p:tgtEl>
                                        <p:attrNameLst>
                                          <p:attrName>style.visibility</p:attrName>
                                        </p:attrNameLst>
                                      </p:cBhvr>
                                      <p:to>
                                        <p:strVal val="visible"/>
                                      </p:to>
                                    </p:set>
                                  </p:childTnLst>
                                </p:cTn>
                              </p:par>
                              <p:par>
                                <p:cTn id="209" presetID="1" presetClass="entr" fill="hold" nodeType="withEffect">
                                  <p:stCondLst>
                                    <p:cond delay="0"/>
                                  </p:stCondLst>
                                  <p:childTnLst>
                                    <p:set>
                                      <p:cBhvr>
                                        <p:cTn id="210" dur="1" fill="hold">
                                          <p:stCondLst>
                                            <p:cond delay="0"/>
                                          </p:stCondLst>
                                        </p:cTn>
                                        <p:tgtEl>
                                          <p:spTgt spid="244"/>
                                        </p:tgtEl>
                                        <p:attrNameLst>
                                          <p:attrName>style.visibility</p:attrName>
                                        </p:attrNameLst>
                                      </p:cBhvr>
                                      <p:to>
                                        <p:strVal val="visible"/>
                                      </p:to>
                                    </p:set>
                                  </p:childTnLst>
                                </p:cTn>
                              </p:par>
                              <p:par>
                                <p:cTn id="211" presetID="1" presetClass="entr" fill="hold" nodeType="withEffect">
                                  <p:stCondLst>
                                    <p:cond delay="0"/>
                                  </p:stCondLst>
                                  <p:childTnLst>
                                    <p:set>
                                      <p:cBhvr>
                                        <p:cTn id="212" dur="1" fill="hold">
                                          <p:stCondLst>
                                            <p:cond delay="0"/>
                                          </p:stCondLst>
                                        </p:cTn>
                                        <p:tgtEl>
                                          <p:spTgt spid="245"/>
                                        </p:tgtEl>
                                        <p:attrNameLst>
                                          <p:attrName>style.visibility</p:attrName>
                                        </p:attrNameLst>
                                      </p:cBhvr>
                                      <p:to>
                                        <p:strVal val="visible"/>
                                      </p:to>
                                    </p:set>
                                  </p:childTnLst>
                                </p:cTn>
                              </p:par>
                              <p:par>
                                <p:cTn id="213" presetID="1" presetClass="entr" fill="hold" nodeType="withEffect">
                                  <p:stCondLst>
                                    <p:cond delay="0"/>
                                  </p:stCondLst>
                                  <p:childTnLst>
                                    <p:set>
                                      <p:cBhvr>
                                        <p:cTn id="214" dur="1" fill="hold">
                                          <p:stCondLst>
                                            <p:cond delay="0"/>
                                          </p:stCondLst>
                                        </p:cTn>
                                        <p:tgtEl>
                                          <p:spTgt spid="246"/>
                                        </p:tgtEl>
                                        <p:attrNameLst>
                                          <p:attrName>style.visibility</p:attrName>
                                        </p:attrNameLst>
                                      </p:cBhvr>
                                      <p:to>
                                        <p:strVal val="visible"/>
                                      </p:to>
                                    </p:set>
                                  </p:childTnLst>
                                </p:cTn>
                              </p:par>
                              <p:par>
                                <p:cTn id="215" presetID="1" presetClass="entr" fill="hold" nodeType="withEffect">
                                  <p:stCondLst>
                                    <p:cond delay="0"/>
                                  </p:stCondLst>
                                  <p:childTnLst>
                                    <p:set>
                                      <p:cBhvr>
                                        <p:cTn id="216" dur="1" fill="hold">
                                          <p:stCondLst>
                                            <p:cond delay="0"/>
                                          </p:stCondLst>
                                        </p:cTn>
                                        <p:tgtEl>
                                          <p:spTgt spid="247"/>
                                        </p:tgtEl>
                                        <p:attrNameLst>
                                          <p:attrName>style.visibility</p:attrName>
                                        </p:attrNameLst>
                                      </p:cBhvr>
                                      <p:to>
                                        <p:strVal val="visible"/>
                                      </p:to>
                                    </p:set>
                                  </p:childTnLst>
                                </p:cTn>
                              </p:par>
                              <p:par>
                                <p:cTn id="217" presetID="1" presetClass="entr" fill="hold" nodeType="withEffect">
                                  <p:stCondLst>
                                    <p:cond delay="0"/>
                                  </p:stCondLst>
                                  <p:childTnLst>
                                    <p:set>
                                      <p:cBhvr>
                                        <p:cTn id="218" dur="1" fill="hold">
                                          <p:stCondLst>
                                            <p:cond delay="0"/>
                                          </p:stCondLst>
                                        </p:cTn>
                                        <p:tgtEl>
                                          <p:spTgt spid="248"/>
                                        </p:tgtEl>
                                        <p:attrNameLst>
                                          <p:attrName>style.visibility</p:attrName>
                                        </p:attrNameLst>
                                      </p:cBhvr>
                                      <p:to>
                                        <p:strVal val="visible"/>
                                      </p:to>
                                    </p:set>
                                  </p:childTnLst>
                                </p:cTn>
                              </p:par>
                              <p:par>
                                <p:cTn id="219" presetID="1" presetClass="entr" fill="hold" nodeType="withEffect">
                                  <p:stCondLst>
                                    <p:cond delay="0"/>
                                  </p:stCondLst>
                                  <p:childTnLst>
                                    <p:set>
                                      <p:cBhvr>
                                        <p:cTn id="220" dur="1" fill="hold">
                                          <p:stCondLst>
                                            <p:cond delay="0"/>
                                          </p:stCondLst>
                                        </p:cTn>
                                        <p:tgtEl>
                                          <p:spTgt spid="249"/>
                                        </p:tgtEl>
                                        <p:attrNameLst>
                                          <p:attrName>style.visibility</p:attrName>
                                        </p:attrNameLst>
                                      </p:cBhvr>
                                      <p:to>
                                        <p:strVal val="visible"/>
                                      </p:to>
                                    </p:set>
                                  </p:childTnLst>
                                </p:cTn>
                              </p:par>
                            </p:childTnLst>
                          </p:cTn>
                        </p:par>
                      </p:childTnLst>
                    </p:cTn>
                  </p:par>
                  <p:par>
                    <p:cTn id="221" fill="hold">
                      <p:stCondLst>
                        <p:cond delay="indefinite"/>
                      </p:stCondLst>
                      <p:childTnLst>
                        <p:par>
                          <p:cTn id="222" fill="hold">
                            <p:stCondLst>
                              <p:cond delay="0"/>
                            </p:stCondLst>
                            <p:childTnLst>
                              <p:par>
                                <p:cTn id="223" presetID="1" presetClass="entr" fill="hold" nodeType="clickEffect">
                                  <p:stCondLst>
                                    <p:cond delay="0"/>
                                  </p:stCondLst>
                                  <p:childTnLst>
                                    <p:set>
                                      <p:cBhvr>
                                        <p:cTn id="224" dur="1" fill="hold">
                                          <p:stCondLst>
                                            <p:cond delay="0"/>
                                          </p:stCondLst>
                                        </p:cTn>
                                        <p:tgtEl>
                                          <p:spTgt spid="250"/>
                                        </p:tgtEl>
                                        <p:attrNameLst>
                                          <p:attrName>style.visibility</p:attrName>
                                        </p:attrNameLst>
                                      </p:cBhvr>
                                      <p:to>
                                        <p:strVal val="visible"/>
                                      </p:to>
                                    </p:set>
                                  </p:childTnLst>
                                </p:cTn>
                              </p:par>
                              <p:par>
                                <p:cTn id="225" presetID="1" presetClass="entr" fill="hold" nodeType="withEffect">
                                  <p:stCondLst>
                                    <p:cond delay="0"/>
                                  </p:stCondLst>
                                  <p:childTnLst>
                                    <p:set>
                                      <p:cBhvr>
                                        <p:cTn id="226" dur="1" fill="hold">
                                          <p:stCondLst>
                                            <p:cond delay="0"/>
                                          </p:stCondLst>
                                        </p:cTn>
                                        <p:tgtEl>
                                          <p:spTgt spid="251"/>
                                        </p:tgtEl>
                                        <p:attrNameLst>
                                          <p:attrName>style.visibility</p:attrName>
                                        </p:attrNameLst>
                                      </p:cBhvr>
                                      <p:to>
                                        <p:strVal val="visible"/>
                                      </p:to>
                                    </p:set>
                                  </p:childTnLst>
                                </p:cTn>
                              </p:par>
                              <p:par>
                                <p:cTn id="227" presetID="1" presetClass="entr" fill="hold" nodeType="withEffect">
                                  <p:stCondLst>
                                    <p:cond delay="0"/>
                                  </p:stCondLst>
                                  <p:childTnLst>
                                    <p:set>
                                      <p:cBhvr>
                                        <p:cTn id="228" dur="1" fill="hold">
                                          <p:stCondLst>
                                            <p:cond delay="0"/>
                                          </p:stCondLst>
                                        </p:cTn>
                                        <p:tgtEl>
                                          <p:spTgt spid="276"/>
                                        </p:tgtEl>
                                        <p:attrNameLst>
                                          <p:attrName>style.visibility</p:attrName>
                                        </p:attrNameLst>
                                      </p:cBhvr>
                                      <p:to>
                                        <p:strVal val="visible"/>
                                      </p:to>
                                    </p:set>
                                  </p:childTnLst>
                                </p:cTn>
                              </p:par>
                              <p:par>
                                <p:cTn id="229" presetID="1" presetClass="entr" fill="hold" nodeType="withEffect">
                                  <p:stCondLst>
                                    <p:cond delay="0"/>
                                  </p:stCondLst>
                                  <p:childTnLst>
                                    <p:set>
                                      <p:cBhvr>
                                        <p:cTn id="230" dur="1" fill="hold">
                                          <p:stCondLst>
                                            <p:cond delay="0"/>
                                          </p:stCondLst>
                                        </p:cTn>
                                        <p:tgtEl>
                                          <p:spTgt spid="252"/>
                                        </p:tgtEl>
                                        <p:attrNameLst>
                                          <p:attrName>style.visibility</p:attrName>
                                        </p:attrNameLst>
                                      </p:cBhvr>
                                      <p:to>
                                        <p:strVal val="visible"/>
                                      </p:to>
                                    </p:set>
                                  </p:childTnLst>
                                </p:cTn>
                              </p:par>
                              <p:par>
                                <p:cTn id="231" presetID="1" presetClass="entr" fill="hold" nodeType="withEffect">
                                  <p:stCondLst>
                                    <p:cond delay="0"/>
                                  </p:stCondLst>
                                  <p:childTnLst>
                                    <p:set>
                                      <p:cBhvr>
                                        <p:cTn id="232" dur="1" fill="hold">
                                          <p:stCondLst>
                                            <p:cond delay="0"/>
                                          </p:stCondLst>
                                        </p:cTn>
                                        <p:tgtEl>
                                          <p:spTgt spid="253"/>
                                        </p:tgtEl>
                                        <p:attrNameLst>
                                          <p:attrName>style.visibility</p:attrName>
                                        </p:attrNameLst>
                                      </p:cBhvr>
                                      <p:to>
                                        <p:strVal val="visible"/>
                                      </p:to>
                                    </p:set>
                                  </p:childTnLst>
                                </p:cTn>
                              </p:par>
                              <p:par>
                                <p:cTn id="233" presetID="1" presetClass="entr" fill="hold" nodeType="withEffect">
                                  <p:stCondLst>
                                    <p:cond delay="0"/>
                                  </p:stCondLst>
                                  <p:childTnLst>
                                    <p:set>
                                      <p:cBhvr>
                                        <p:cTn id="234" dur="1" fill="hold">
                                          <p:stCondLst>
                                            <p:cond delay="0"/>
                                          </p:stCondLst>
                                        </p:cTn>
                                        <p:tgtEl>
                                          <p:spTgt spid="254"/>
                                        </p:tgtEl>
                                        <p:attrNameLst>
                                          <p:attrName>style.visibility</p:attrName>
                                        </p:attrNameLst>
                                      </p:cBhvr>
                                      <p:to>
                                        <p:strVal val="visible"/>
                                      </p:to>
                                    </p:set>
                                  </p:childTnLst>
                                </p:cTn>
                              </p:par>
                              <p:par>
                                <p:cTn id="235" presetID="1" presetClass="entr" fill="hold" nodeType="withEffect">
                                  <p:stCondLst>
                                    <p:cond delay="0"/>
                                  </p:stCondLst>
                                  <p:childTnLst>
                                    <p:set>
                                      <p:cBhvr>
                                        <p:cTn id="236" dur="1" fill="hold">
                                          <p:stCondLst>
                                            <p:cond delay="0"/>
                                          </p:stCondLst>
                                        </p:cTn>
                                        <p:tgtEl>
                                          <p:spTgt spid="255"/>
                                        </p:tgtEl>
                                        <p:attrNameLst>
                                          <p:attrName>style.visibility</p:attrName>
                                        </p:attrNameLst>
                                      </p:cBhvr>
                                      <p:to>
                                        <p:strVal val="visible"/>
                                      </p:to>
                                    </p:set>
                                  </p:childTnLst>
                                </p:cTn>
                              </p:par>
                              <p:par>
                                <p:cTn id="237" presetID="1" presetClass="entr" fill="hold" nodeType="withEffect">
                                  <p:stCondLst>
                                    <p:cond delay="0"/>
                                  </p:stCondLst>
                                  <p:childTnLst>
                                    <p:set>
                                      <p:cBhvr>
                                        <p:cTn id="238" dur="1" fill="hold">
                                          <p:stCondLst>
                                            <p:cond delay="0"/>
                                          </p:stCondLst>
                                        </p:cTn>
                                        <p:tgtEl>
                                          <p:spTgt spid="256"/>
                                        </p:tgtEl>
                                        <p:attrNameLst>
                                          <p:attrName>style.visibility</p:attrName>
                                        </p:attrNameLst>
                                      </p:cBhvr>
                                      <p:to>
                                        <p:strVal val="visible"/>
                                      </p:to>
                                    </p:set>
                                  </p:childTnLst>
                                </p:cTn>
                              </p:par>
                              <p:par>
                                <p:cTn id="239" presetID="1" presetClass="entr" fill="hold" nodeType="withEffect">
                                  <p:stCondLst>
                                    <p:cond delay="0"/>
                                  </p:stCondLst>
                                  <p:childTnLst>
                                    <p:set>
                                      <p:cBhvr>
                                        <p:cTn id="240" dur="1" fill="hold">
                                          <p:stCondLst>
                                            <p:cond delay="0"/>
                                          </p:stCondLst>
                                        </p:cTn>
                                        <p:tgtEl>
                                          <p:spTgt spid="257"/>
                                        </p:tgtEl>
                                        <p:attrNameLst>
                                          <p:attrName>style.visibility</p:attrName>
                                        </p:attrNameLst>
                                      </p:cBhvr>
                                      <p:to>
                                        <p:strVal val="visible"/>
                                      </p:to>
                                    </p:set>
                                  </p:childTnLst>
                                </p:cTn>
                              </p:par>
                              <p:par>
                                <p:cTn id="241" presetID="1" presetClass="entr" fill="hold" nodeType="withEffect">
                                  <p:stCondLst>
                                    <p:cond delay="0"/>
                                  </p:stCondLst>
                                  <p:childTnLst>
                                    <p:set>
                                      <p:cBhvr>
                                        <p:cTn id="242" dur="1" fill="hold">
                                          <p:stCondLst>
                                            <p:cond delay="0"/>
                                          </p:stCondLst>
                                        </p:cTn>
                                        <p:tgtEl>
                                          <p:spTgt spid="258"/>
                                        </p:tgtEl>
                                        <p:attrNameLst>
                                          <p:attrName>style.visibility</p:attrName>
                                        </p:attrNameLst>
                                      </p:cBhvr>
                                      <p:to>
                                        <p:strVal val="visible"/>
                                      </p:to>
                                    </p:set>
                                  </p:childTnLst>
                                </p:cTn>
                              </p:par>
                              <p:par>
                                <p:cTn id="243" presetID="1" presetClass="entr" fill="hold" nodeType="withEffect">
                                  <p:stCondLst>
                                    <p:cond delay="0"/>
                                  </p:stCondLst>
                                  <p:childTnLst>
                                    <p:set>
                                      <p:cBhvr>
                                        <p:cTn id="244" dur="1" fill="hold">
                                          <p:stCondLst>
                                            <p:cond delay="0"/>
                                          </p:stCondLst>
                                        </p:cTn>
                                        <p:tgtEl>
                                          <p:spTgt spid="259"/>
                                        </p:tgtEl>
                                        <p:attrNameLst>
                                          <p:attrName>style.visibility</p:attrName>
                                        </p:attrNameLst>
                                      </p:cBhvr>
                                      <p:to>
                                        <p:strVal val="visible"/>
                                      </p:to>
                                    </p:set>
                                  </p:childTnLst>
                                </p:cTn>
                              </p:par>
                              <p:par>
                                <p:cTn id="245" presetID="1" presetClass="entr" fill="hold" nodeType="withEffect">
                                  <p:stCondLst>
                                    <p:cond delay="0"/>
                                  </p:stCondLst>
                                  <p:childTnLst>
                                    <p:set>
                                      <p:cBhvr>
                                        <p:cTn id="246" dur="1" fill="hold">
                                          <p:stCondLst>
                                            <p:cond delay="0"/>
                                          </p:stCondLst>
                                        </p:cTn>
                                        <p:tgtEl>
                                          <p:spTgt spid="260"/>
                                        </p:tgtEl>
                                        <p:attrNameLst>
                                          <p:attrName>style.visibility</p:attrName>
                                        </p:attrNameLst>
                                      </p:cBhvr>
                                      <p:to>
                                        <p:strVal val="visible"/>
                                      </p:to>
                                    </p:set>
                                  </p:childTnLst>
                                </p:cTn>
                              </p:par>
                              <p:par>
                                <p:cTn id="247" presetID="1" presetClass="entr" fill="hold" nodeType="withEffect">
                                  <p:stCondLst>
                                    <p:cond delay="0"/>
                                  </p:stCondLst>
                                  <p:childTnLst>
                                    <p:set>
                                      <p:cBhvr>
                                        <p:cTn id="248" dur="1" fill="hold">
                                          <p:stCondLst>
                                            <p:cond delay="0"/>
                                          </p:stCondLst>
                                        </p:cTn>
                                        <p:tgtEl>
                                          <p:spTgt spid="261"/>
                                        </p:tgtEl>
                                        <p:attrNameLst>
                                          <p:attrName>style.visibility</p:attrName>
                                        </p:attrNameLst>
                                      </p:cBhvr>
                                      <p:to>
                                        <p:strVal val="visible"/>
                                      </p:to>
                                    </p:set>
                                  </p:childTnLst>
                                </p:cTn>
                              </p:par>
                              <p:par>
                                <p:cTn id="249" presetID="1" presetClass="entr" fill="hold" nodeType="withEffect">
                                  <p:stCondLst>
                                    <p:cond delay="0"/>
                                  </p:stCondLst>
                                  <p:childTnLst>
                                    <p:set>
                                      <p:cBhvr>
                                        <p:cTn id="250" dur="1" fill="hold">
                                          <p:stCondLst>
                                            <p:cond delay="0"/>
                                          </p:stCondLst>
                                        </p:cTn>
                                        <p:tgtEl>
                                          <p:spTgt spid="262"/>
                                        </p:tgtEl>
                                        <p:attrNameLst>
                                          <p:attrName>style.visibility</p:attrName>
                                        </p:attrNameLst>
                                      </p:cBhvr>
                                      <p:to>
                                        <p:strVal val="visible"/>
                                      </p:to>
                                    </p:set>
                                  </p:childTnLst>
                                </p:cTn>
                              </p:par>
                              <p:par>
                                <p:cTn id="251" presetID="1" presetClass="entr" fill="hold" nodeType="withEffect">
                                  <p:stCondLst>
                                    <p:cond delay="0"/>
                                  </p:stCondLst>
                                  <p:childTnLst>
                                    <p:set>
                                      <p:cBhvr>
                                        <p:cTn id="252" dur="1" fill="hold">
                                          <p:stCondLst>
                                            <p:cond delay="0"/>
                                          </p:stCondLst>
                                        </p:cTn>
                                        <p:tgtEl>
                                          <p:spTgt spid="263"/>
                                        </p:tgtEl>
                                        <p:attrNameLst>
                                          <p:attrName>style.visibility</p:attrName>
                                        </p:attrNameLst>
                                      </p:cBhvr>
                                      <p:to>
                                        <p:strVal val="visible"/>
                                      </p:to>
                                    </p:set>
                                  </p:childTnLst>
                                </p:cTn>
                              </p:par>
                              <p:par>
                                <p:cTn id="253" presetID="1" presetClass="entr" fill="hold" nodeType="withEffect">
                                  <p:stCondLst>
                                    <p:cond delay="0"/>
                                  </p:stCondLst>
                                  <p:childTnLst>
                                    <p:set>
                                      <p:cBhvr>
                                        <p:cTn id="254" dur="1" fill="hold">
                                          <p:stCondLst>
                                            <p:cond delay="0"/>
                                          </p:stCondLst>
                                        </p:cTn>
                                        <p:tgtEl>
                                          <p:spTgt spid="264"/>
                                        </p:tgtEl>
                                        <p:attrNameLst>
                                          <p:attrName>style.visibility</p:attrName>
                                        </p:attrNameLst>
                                      </p:cBhvr>
                                      <p:to>
                                        <p:strVal val="visible"/>
                                      </p:to>
                                    </p:set>
                                  </p:childTnLst>
                                </p:cTn>
                              </p:par>
                              <p:par>
                                <p:cTn id="255" presetID="1" presetClass="entr" fill="hold" nodeType="withEffect">
                                  <p:stCondLst>
                                    <p:cond delay="0"/>
                                  </p:stCondLst>
                                  <p:childTnLst>
                                    <p:set>
                                      <p:cBhvr>
                                        <p:cTn id="256" dur="1" fill="hold">
                                          <p:stCondLst>
                                            <p:cond delay="0"/>
                                          </p:stCondLst>
                                        </p:cTn>
                                        <p:tgtEl>
                                          <p:spTgt spid="265"/>
                                        </p:tgtEl>
                                        <p:attrNameLst>
                                          <p:attrName>style.visibility</p:attrName>
                                        </p:attrNameLst>
                                      </p:cBhvr>
                                      <p:to>
                                        <p:strVal val="visible"/>
                                      </p:to>
                                    </p:set>
                                  </p:childTnLst>
                                </p:cTn>
                              </p:par>
                              <p:par>
                                <p:cTn id="257" presetID="1" presetClass="entr" fill="hold" nodeType="withEffect">
                                  <p:stCondLst>
                                    <p:cond delay="0"/>
                                  </p:stCondLst>
                                  <p:childTnLst>
                                    <p:set>
                                      <p:cBhvr>
                                        <p:cTn id="258" dur="1" fill="hold">
                                          <p:stCondLst>
                                            <p:cond delay="0"/>
                                          </p:stCondLst>
                                        </p:cTn>
                                        <p:tgtEl>
                                          <p:spTgt spid="266"/>
                                        </p:tgtEl>
                                        <p:attrNameLst>
                                          <p:attrName>style.visibility</p:attrName>
                                        </p:attrNameLst>
                                      </p:cBhvr>
                                      <p:to>
                                        <p:strVal val="visible"/>
                                      </p:to>
                                    </p:set>
                                  </p:childTnLst>
                                </p:cTn>
                              </p:par>
                              <p:par>
                                <p:cTn id="259" presetID="1" presetClass="entr" fill="hold" nodeType="withEffect">
                                  <p:stCondLst>
                                    <p:cond delay="0"/>
                                  </p:stCondLst>
                                  <p:childTnLst>
                                    <p:set>
                                      <p:cBhvr>
                                        <p:cTn id="260" dur="1" fill="hold">
                                          <p:stCondLst>
                                            <p:cond delay="0"/>
                                          </p:stCondLst>
                                        </p:cTn>
                                        <p:tgtEl>
                                          <p:spTgt spid="267"/>
                                        </p:tgtEl>
                                        <p:attrNameLst>
                                          <p:attrName>style.visibility</p:attrName>
                                        </p:attrNameLst>
                                      </p:cBhvr>
                                      <p:to>
                                        <p:strVal val="visible"/>
                                      </p:to>
                                    </p:set>
                                  </p:childTnLst>
                                </p:cTn>
                              </p:par>
                              <p:par>
                                <p:cTn id="261" presetID="1" presetClass="entr" fill="hold" nodeType="withEffect">
                                  <p:stCondLst>
                                    <p:cond delay="0"/>
                                  </p:stCondLst>
                                  <p:childTnLst>
                                    <p:set>
                                      <p:cBhvr>
                                        <p:cTn id="262" dur="1" fill="hold">
                                          <p:stCondLst>
                                            <p:cond delay="0"/>
                                          </p:stCondLst>
                                        </p:cTn>
                                        <p:tgtEl>
                                          <p:spTgt spid="268"/>
                                        </p:tgtEl>
                                        <p:attrNameLst>
                                          <p:attrName>style.visibility</p:attrName>
                                        </p:attrNameLst>
                                      </p:cBhvr>
                                      <p:to>
                                        <p:strVal val="visible"/>
                                      </p:to>
                                    </p:set>
                                  </p:childTnLst>
                                </p:cTn>
                              </p:par>
                              <p:par>
                                <p:cTn id="263" presetID="1" presetClass="entr" fill="hold" nodeType="withEffect">
                                  <p:stCondLst>
                                    <p:cond delay="0"/>
                                  </p:stCondLst>
                                  <p:childTnLst>
                                    <p:set>
                                      <p:cBhvr>
                                        <p:cTn id="264" dur="1" fill="hold">
                                          <p:stCondLst>
                                            <p:cond delay="0"/>
                                          </p:stCondLst>
                                        </p:cTn>
                                        <p:tgtEl>
                                          <p:spTgt spid="269"/>
                                        </p:tgtEl>
                                        <p:attrNameLst>
                                          <p:attrName>style.visibility</p:attrName>
                                        </p:attrNameLst>
                                      </p:cBhvr>
                                      <p:to>
                                        <p:strVal val="visible"/>
                                      </p:to>
                                    </p:set>
                                  </p:childTnLst>
                                </p:cTn>
                              </p:par>
                              <p:par>
                                <p:cTn id="265" presetID="1" presetClass="entr" fill="hold" nodeType="withEffect">
                                  <p:stCondLst>
                                    <p:cond delay="0"/>
                                  </p:stCondLst>
                                  <p:childTnLst>
                                    <p:set>
                                      <p:cBhvr>
                                        <p:cTn id="266" dur="1" fill="hold">
                                          <p:stCondLst>
                                            <p:cond delay="0"/>
                                          </p:stCondLst>
                                        </p:cTn>
                                        <p:tgtEl>
                                          <p:spTgt spid="270"/>
                                        </p:tgtEl>
                                        <p:attrNameLst>
                                          <p:attrName>style.visibility</p:attrName>
                                        </p:attrNameLst>
                                      </p:cBhvr>
                                      <p:to>
                                        <p:strVal val="visible"/>
                                      </p:to>
                                    </p:set>
                                  </p:childTnLst>
                                </p:cTn>
                              </p:par>
                              <p:par>
                                <p:cTn id="267" presetID="1" presetClass="entr" fill="hold" nodeType="withEffect">
                                  <p:stCondLst>
                                    <p:cond delay="0"/>
                                  </p:stCondLst>
                                  <p:childTnLst>
                                    <p:set>
                                      <p:cBhvr>
                                        <p:cTn id="268" dur="1" fill="hold">
                                          <p:stCondLst>
                                            <p:cond delay="0"/>
                                          </p:stCondLst>
                                        </p:cTn>
                                        <p:tgtEl>
                                          <p:spTgt spid="271"/>
                                        </p:tgtEl>
                                        <p:attrNameLst>
                                          <p:attrName>style.visibility</p:attrName>
                                        </p:attrNameLst>
                                      </p:cBhvr>
                                      <p:to>
                                        <p:strVal val="visible"/>
                                      </p:to>
                                    </p:set>
                                  </p:childTnLst>
                                </p:cTn>
                              </p:par>
                              <p:par>
                                <p:cTn id="269" presetID="1" presetClass="entr" fill="hold" nodeType="withEffect">
                                  <p:stCondLst>
                                    <p:cond delay="0"/>
                                  </p:stCondLst>
                                  <p:childTnLst>
                                    <p:set>
                                      <p:cBhvr>
                                        <p:cTn id="270" dur="1" fill="hold">
                                          <p:stCondLst>
                                            <p:cond delay="0"/>
                                          </p:stCondLst>
                                        </p:cTn>
                                        <p:tgtEl>
                                          <p:spTgt spid="272"/>
                                        </p:tgtEl>
                                        <p:attrNameLst>
                                          <p:attrName>style.visibility</p:attrName>
                                        </p:attrNameLst>
                                      </p:cBhvr>
                                      <p:to>
                                        <p:strVal val="visible"/>
                                      </p:to>
                                    </p:set>
                                  </p:childTnLst>
                                </p:cTn>
                              </p:par>
                              <p:par>
                                <p:cTn id="271" presetID="1" presetClass="entr" fill="hold" nodeType="withEffect">
                                  <p:stCondLst>
                                    <p:cond delay="0"/>
                                  </p:stCondLst>
                                  <p:childTnLst>
                                    <p:set>
                                      <p:cBhvr>
                                        <p:cTn id="272" dur="1" fill="hold">
                                          <p:stCondLst>
                                            <p:cond delay="0"/>
                                          </p:stCondLst>
                                        </p:cTn>
                                        <p:tgtEl>
                                          <p:spTgt spid="273"/>
                                        </p:tgtEl>
                                        <p:attrNameLst>
                                          <p:attrName>style.visibility</p:attrName>
                                        </p:attrNameLst>
                                      </p:cBhvr>
                                      <p:to>
                                        <p:strVal val="visible"/>
                                      </p:to>
                                    </p:set>
                                  </p:childTnLst>
                                </p:cTn>
                              </p:par>
                              <p:par>
                                <p:cTn id="273" presetID="1" presetClass="entr" fill="hold" nodeType="withEffect">
                                  <p:stCondLst>
                                    <p:cond delay="0"/>
                                  </p:stCondLst>
                                  <p:childTnLst>
                                    <p:set>
                                      <p:cBhvr>
                                        <p:cTn id="274" dur="1" fill="hold">
                                          <p:stCondLst>
                                            <p:cond delay="0"/>
                                          </p:stCondLst>
                                        </p:cTn>
                                        <p:tgtEl>
                                          <p:spTgt spid="274"/>
                                        </p:tgtEl>
                                        <p:attrNameLst>
                                          <p:attrName>style.visibility</p:attrName>
                                        </p:attrNameLst>
                                      </p:cBhvr>
                                      <p:to>
                                        <p:strVal val="visible"/>
                                      </p:to>
                                    </p:set>
                                  </p:childTnLst>
                                </p:cTn>
                              </p:par>
                              <p:par>
                                <p:cTn id="275" presetID="1" presetClass="entr" fill="hold" nodeType="withEffect">
                                  <p:stCondLst>
                                    <p:cond delay="0"/>
                                  </p:stCondLst>
                                  <p:childTnLst>
                                    <p:set>
                                      <p:cBhvr>
                                        <p:cTn id="276" dur="1" fill="hold">
                                          <p:stCondLst>
                                            <p:cond delay="0"/>
                                          </p:stCondLst>
                                        </p:cTn>
                                        <p:tgtEl>
                                          <p:spTgt spid="2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82B"/>
        </a:solidFill>
      </p:bgPr>
    </p:bg>
    <p:spTree>
      <p:nvGrpSpPr>
        <p:cNvPr id="1" name=""/>
        <p:cNvGrpSpPr/>
        <p:nvPr/>
      </p:nvGrpSpPr>
      <p:grpSpPr>
        <a:xfrm>
          <a:off x="0" y="0"/>
          <a:ext cx="0" cy="0"/>
          <a:chOff x="0" y="0"/>
          <a:chExt cx="0" cy="0"/>
        </a:xfrm>
      </p:grpSpPr>
      <p:sp>
        <p:nvSpPr>
          <p:cNvPr id="278" name="Text 0"/>
          <p:cNvSpPr/>
          <p:nvPr/>
        </p:nvSpPr>
        <p:spPr>
          <a:xfrm>
            <a:off x="457200" y="6464880"/>
            <a:ext cx="27424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harness</a:t>
            </a:r>
            <a:r>
              <a:rPr lang="en-US" sz="1200" b="1" u="none" strike="noStrike">
                <a:solidFill>
                  <a:srgbClr val="00ADE4"/>
                </a:solidFill>
                <a:effectLst/>
                <a:uFillTx/>
                <a:latin typeface="Arial"/>
                <a:ea typeface="Arial"/>
              </a:rPr>
              <a:t>  FME</a:t>
            </a:r>
            <a:endParaRPr lang="en-US" sz="1200" b="0" u="none" strike="noStrike">
              <a:solidFill>
                <a:srgbClr val="FFFFFF"/>
              </a:solidFill>
              <a:effectLst/>
              <a:uFillTx/>
              <a:latin typeface="Arial"/>
            </a:endParaRPr>
          </a:p>
        </p:txBody>
      </p:sp>
      <p:sp>
        <p:nvSpPr>
          <p:cNvPr id="279" name="Text 1"/>
          <p:cNvSpPr/>
          <p:nvPr/>
        </p:nvSpPr>
        <p:spPr>
          <a:xfrm>
            <a:off x="5943600" y="6464880"/>
            <a:ext cx="5211360" cy="365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9FB3C8"/>
                </a:solidFill>
                <a:effectLst/>
                <a:uFillTx/>
                <a:latin typeface="Arial"/>
                <a:ea typeface="Arial"/>
              </a:rPr>
              <a:t>Odido × Harness  |  Confidential</a:t>
            </a:r>
            <a:endParaRPr lang="en-US" sz="900" b="0" u="none" strike="noStrike">
              <a:solidFill>
                <a:srgbClr val="FFFFFF"/>
              </a:solidFill>
              <a:effectLst/>
              <a:uFillTx/>
              <a:latin typeface="Arial"/>
            </a:endParaRPr>
          </a:p>
        </p:txBody>
      </p:sp>
      <p:sp>
        <p:nvSpPr>
          <p:cNvPr id="280" name="Shape 2"/>
          <p:cNvSpPr/>
          <p:nvPr/>
        </p:nvSpPr>
        <p:spPr>
          <a:xfrm>
            <a:off x="7863840" y="-2194560"/>
            <a:ext cx="6765840" cy="6765840"/>
          </a:xfrm>
          <a:prstGeom prst="ellipse">
            <a:avLst/>
          </a:prstGeom>
          <a:solidFill>
            <a:srgbClr val="0278D5">
              <a:alpha val="75000"/>
            </a:srgbClr>
          </a:solidFill>
          <a:ln w="12700">
            <a:solidFill>
              <a:srgbClr val="0278D5">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281" name="Shape 3"/>
          <p:cNvSpPr/>
          <p:nvPr/>
        </p:nvSpPr>
        <p:spPr>
          <a:xfrm>
            <a:off x="9692640" y="1828800"/>
            <a:ext cx="3839760" cy="3839760"/>
          </a:xfrm>
          <a:prstGeom prst="ellipse">
            <a:avLst/>
          </a:prstGeom>
          <a:solidFill>
            <a:srgbClr val="7D4DD3">
              <a:alpha val="70000"/>
            </a:srgbClr>
          </a:solidFill>
          <a:ln w="12700">
            <a:solidFill>
              <a:srgbClr val="7D4DD3">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282" name="PlaceHolder 1"/>
          <p:cNvSpPr>
            <a:spLocks noGrp="1"/>
          </p:cNvSpPr>
          <p:nvPr>
            <p:ph type="sldNum" idx="14"/>
          </p:nvPr>
        </p:nvSpPr>
        <p:spPr>
          <a:xfrm>
            <a:off x="11338560" y="6519600"/>
            <a:ext cx="456480" cy="2736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900" b="0" u="none" strike="noStrike">
                <a:solidFill>
                  <a:srgbClr val="9FB3C8"/>
                </a:solidFill>
                <a:effectLst/>
                <a:uFillTx/>
                <a:latin typeface="Arial"/>
                <a:ea typeface="Arial"/>
              </a:defRPr>
            </a:lvl1pPr>
          </a:lstStyle>
          <a:p>
            <a:pPr indent="0" algn="l" defTabSz="914400">
              <a:lnSpc>
                <a:spcPct val="100000"/>
              </a:lnSpc>
              <a:buNone/>
              <a:tabLst>
                <a:tab pos="0" algn="l"/>
              </a:tabLst>
            </a:pPr>
            <a:fld id="{A19758ED-8159-4500-8390-AFDE13388389}" type="slidenum">
              <a:rPr lang="en-US" sz="900" b="0" u="none" strike="noStrike">
                <a:solidFill>
                  <a:srgbClr val="9FB3C8"/>
                </a:solidFill>
                <a:effectLst/>
                <a:uFillTx/>
                <a:latin typeface="Arial"/>
                <a:ea typeface="Arial"/>
              </a:rPr>
              <a:t>1</a:t>
            </a:fld>
            <a:endParaRPr lang="en-US" sz="900" b="0" u="none" strike="noStrike">
              <a:solidFill>
                <a:srgbClr val="FFFFFF"/>
              </a:solidFill>
              <a:effectLst/>
              <a:uFillTx/>
              <a:latin typeface="Times New Roman"/>
            </a:endParaRPr>
          </a:p>
        </p:txBody>
      </p:sp>
      <p:sp>
        <p:nvSpPr>
          <p:cNvPr id="283" name="Rectangle 25"/>
          <p:cNvSpPr/>
          <p:nvPr/>
        </p:nvSpPr>
        <p:spPr>
          <a:xfrm>
            <a:off x="548640" y="2240280"/>
            <a:ext cx="822240" cy="63360"/>
          </a:xfrm>
          <a:prstGeom prst="rect">
            <a:avLst/>
          </a:prstGeom>
          <a:solidFill>
            <a:srgbClr val="E79A00"/>
          </a:solidFill>
          <a:ln>
            <a:noFill/>
          </a:ln>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284" name="TextBox 26"/>
          <p:cNvSpPr/>
          <p:nvPr/>
        </p:nvSpPr>
        <p:spPr>
          <a:xfrm>
            <a:off x="548640" y="2468880"/>
            <a:ext cx="5485680" cy="6393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3000" b="1" u="none" strike="noStrike">
                <a:solidFill>
                  <a:srgbClr val="E79A00"/>
                </a:solidFill>
                <a:effectLst/>
                <a:uFillTx/>
                <a:latin typeface="Arial"/>
              </a:rPr>
              <a:t>05</a:t>
            </a:r>
            <a:endParaRPr lang="en-US" sz="3000" b="0" u="none" strike="noStrike">
              <a:solidFill>
                <a:srgbClr val="FFFFFF"/>
              </a:solidFill>
              <a:effectLst/>
              <a:uFillTx/>
              <a:latin typeface="Arial"/>
            </a:endParaRPr>
          </a:p>
        </p:txBody>
      </p:sp>
      <p:sp>
        <p:nvSpPr>
          <p:cNvPr id="285" name="TextBox 27"/>
          <p:cNvSpPr/>
          <p:nvPr/>
        </p:nvSpPr>
        <p:spPr>
          <a:xfrm>
            <a:off x="548640" y="3063240"/>
            <a:ext cx="7771680" cy="10051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5400" b="1" u="none" strike="noStrike">
                <a:solidFill>
                  <a:srgbClr val="FFFFFF"/>
                </a:solidFill>
                <a:effectLst/>
                <a:uFillTx/>
                <a:latin typeface="Arial"/>
              </a:rPr>
              <a:t>Next Steps</a:t>
            </a:r>
            <a:endParaRPr lang="en-US" sz="5400" b="0" u="none" strike="noStrike">
              <a:solidFill>
                <a:srgbClr val="FFFFFF"/>
              </a:solidFill>
              <a:effectLst/>
              <a:uFillTx/>
              <a:latin typeface="Arial"/>
            </a:endParaRPr>
          </a:p>
        </p:txBody>
      </p:sp>
      <p:sp>
        <p:nvSpPr>
          <p:cNvPr id="286" name="TextBox 28"/>
          <p:cNvSpPr/>
          <p:nvPr/>
        </p:nvSpPr>
        <p:spPr>
          <a:xfrm>
            <a:off x="548640" y="4114800"/>
            <a:ext cx="7497360" cy="7308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800" b="0" u="none" strike="noStrike">
                <a:solidFill>
                  <a:srgbClr val="C9D6E3"/>
                </a:solidFill>
                <a:effectLst/>
                <a:uFillTx/>
                <a:latin typeface="Arial"/>
              </a:rPr>
              <a:t>Your concerns first, then a plan we both commit to.</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5F7FA"/>
        </a:solidFill>
      </p:bgPr>
    </p:bg>
    <p:spTree>
      <p:nvGrpSpPr>
        <p:cNvPr id="1" name=""/>
        <p:cNvGrpSpPr/>
        <p:nvPr/>
      </p:nvGrpSpPr>
      <p:grpSpPr>
        <a:xfrm>
          <a:off x="0" y="0"/>
          <a:ext cx="0" cy="0"/>
          <a:chOff x="0" y="0"/>
          <a:chExt cx="0" cy="0"/>
        </a:xfrm>
      </p:grpSpPr>
      <p:sp>
        <p:nvSpPr>
          <p:cNvPr id="287" name="Shape 0"/>
          <p:cNvSpPr/>
          <p:nvPr/>
        </p:nvSpPr>
        <p:spPr>
          <a:xfrm>
            <a:off x="0" y="6446520"/>
            <a:ext cx="12191040" cy="410760"/>
          </a:xfrm>
          <a:prstGeom prst="rect">
            <a:avLst/>
          </a:prstGeom>
          <a:solidFill>
            <a:srgbClr val="07182B"/>
          </a:solidFill>
          <a:ln w="12700">
            <a:solidFill>
              <a:srgbClr val="07182B"/>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288" name="Text 1"/>
          <p:cNvSpPr/>
          <p:nvPr/>
        </p:nvSpPr>
        <p:spPr>
          <a:xfrm>
            <a:off x="457200" y="6464880"/>
            <a:ext cx="27424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harness</a:t>
            </a:r>
            <a:r>
              <a:rPr lang="en-US" sz="1200" b="1" u="none" strike="noStrike">
                <a:solidFill>
                  <a:srgbClr val="00ADE4"/>
                </a:solidFill>
                <a:effectLst/>
                <a:uFillTx/>
                <a:latin typeface="Arial"/>
                <a:ea typeface="Arial"/>
              </a:rPr>
              <a:t>  FME</a:t>
            </a:r>
            <a:endParaRPr lang="en-US" sz="1200" b="0" u="none" strike="noStrike">
              <a:solidFill>
                <a:srgbClr val="000000"/>
              </a:solidFill>
              <a:effectLst/>
              <a:uFillTx/>
              <a:latin typeface="Arial"/>
            </a:endParaRPr>
          </a:p>
        </p:txBody>
      </p:sp>
      <p:sp>
        <p:nvSpPr>
          <p:cNvPr id="289" name="Text 2"/>
          <p:cNvSpPr/>
          <p:nvPr/>
        </p:nvSpPr>
        <p:spPr>
          <a:xfrm>
            <a:off x="5943600" y="6464880"/>
            <a:ext cx="5211360" cy="365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9FB3C8"/>
                </a:solidFill>
                <a:effectLst/>
                <a:uFillTx/>
                <a:latin typeface="Arial"/>
                <a:ea typeface="Arial"/>
              </a:rPr>
              <a:t>Odido × Harness  |  Confidential</a:t>
            </a:r>
            <a:endParaRPr lang="en-US" sz="900" b="0" u="none" strike="noStrike">
              <a:solidFill>
                <a:srgbClr val="000000"/>
              </a:solidFill>
              <a:effectLst/>
              <a:uFillTx/>
              <a:latin typeface="Arial"/>
            </a:endParaRPr>
          </a:p>
        </p:txBody>
      </p:sp>
      <p:sp>
        <p:nvSpPr>
          <p:cNvPr id="290" name="Text 3"/>
          <p:cNvSpPr/>
          <p:nvPr/>
        </p:nvSpPr>
        <p:spPr>
          <a:xfrm>
            <a:off x="457200" y="274320"/>
            <a:ext cx="11246400" cy="593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800" b="1" u="none" strike="noStrike">
                <a:solidFill>
                  <a:srgbClr val="0B1A2B"/>
                </a:solidFill>
                <a:effectLst/>
                <a:uFillTx/>
                <a:latin typeface="Arial"/>
                <a:ea typeface="Arial"/>
              </a:rPr>
              <a:t>Next Steps: a six-week path to a decision</a:t>
            </a:r>
            <a:endParaRPr lang="en-US" sz="2800" b="0" u="none" strike="noStrike">
              <a:solidFill>
                <a:srgbClr val="000000"/>
              </a:solidFill>
              <a:effectLst/>
              <a:uFillTx/>
              <a:latin typeface="Arial"/>
            </a:endParaRPr>
          </a:p>
        </p:txBody>
      </p:sp>
      <p:sp>
        <p:nvSpPr>
          <p:cNvPr id="291" name="Text 4"/>
          <p:cNvSpPr/>
          <p:nvPr/>
        </p:nvSpPr>
        <p:spPr>
          <a:xfrm>
            <a:off x="457200" y="841320"/>
            <a:ext cx="11246400" cy="3193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300" b="0" i="1" u="none" strike="noStrike">
                <a:solidFill>
                  <a:srgbClr val="5B6B7F"/>
                </a:solidFill>
                <a:effectLst/>
                <a:uFillTx/>
                <a:latin typeface="Arial"/>
                <a:ea typeface="Arial"/>
              </a:rPr>
              <a:t>Proven on Odido's own journey, judged on the metrics we agreed in Our Understanding.</a:t>
            </a:r>
            <a:endParaRPr lang="en-US" sz="1300" b="0" u="none" strike="noStrike">
              <a:solidFill>
                <a:srgbClr val="000000"/>
              </a:solidFill>
              <a:effectLst/>
              <a:uFillTx/>
              <a:latin typeface="Arial"/>
            </a:endParaRPr>
          </a:p>
        </p:txBody>
      </p:sp>
      <p:sp>
        <p:nvSpPr>
          <p:cNvPr id="292" name="PlaceHolder 1"/>
          <p:cNvSpPr>
            <a:spLocks noGrp="1"/>
          </p:cNvSpPr>
          <p:nvPr>
            <p:ph type="sldNum" idx="15"/>
          </p:nvPr>
        </p:nvSpPr>
        <p:spPr>
          <a:xfrm>
            <a:off x="11338560" y="6519600"/>
            <a:ext cx="456480" cy="2736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900" b="0" u="none" strike="noStrike">
                <a:solidFill>
                  <a:srgbClr val="9FB3C8"/>
                </a:solidFill>
                <a:effectLst/>
                <a:uFillTx/>
                <a:latin typeface="Arial"/>
                <a:ea typeface="Arial"/>
              </a:defRPr>
            </a:lvl1pPr>
          </a:lstStyle>
          <a:p>
            <a:pPr indent="0" algn="l" defTabSz="914400">
              <a:lnSpc>
                <a:spcPct val="100000"/>
              </a:lnSpc>
              <a:buNone/>
              <a:tabLst>
                <a:tab pos="0" algn="l"/>
              </a:tabLst>
            </a:pPr>
            <a:fld id="{C34CDDAD-9458-4C45-B25D-9F2200DD0D0A}" type="slidenum">
              <a:rPr lang="en-US" sz="900" b="0" u="none" strike="noStrike">
                <a:solidFill>
                  <a:srgbClr val="9FB3C8"/>
                </a:solidFill>
                <a:effectLst/>
                <a:uFillTx/>
                <a:latin typeface="Arial"/>
                <a:ea typeface="Arial"/>
              </a:rPr>
              <a:t>1</a:t>
            </a:fld>
            <a:endParaRPr lang="en-US" sz="900" b="0" u="none" strike="noStrike">
              <a:solidFill>
                <a:srgbClr val="000000"/>
              </a:solidFill>
              <a:effectLst/>
              <a:uFillTx/>
              <a:latin typeface="Times New Roman"/>
            </a:endParaRPr>
          </a:p>
        </p:txBody>
      </p:sp>
      <p:cxnSp>
        <p:nvCxnSpPr>
          <p:cNvPr id="293" name="Connector 25"/>
          <p:cNvCxnSpPr/>
          <p:nvPr/>
        </p:nvCxnSpPr>
        <p:spPr>
          <a:xfrm>
            <a:off x="1581840" y="1938240"/>
            <a:ext cx="8998200" cy="720"/>
          </a:xfrm>
          <a:prstGeom prst="straightConnector1">
            <a:avLst/>
          </a:prstGeom>
          <a:ln w="28575">
            <a:solidFill>
              <a:srgbClr val="C9D3DF"/>
            </a:solidFill>
            <a:round/>
          </a:ln>
        </p:spPr>
      </p:cxnSp>
      <p:sp>
        <p:nvSpPr>
          <p:cNvPr id="294" name="TextBox 26"/>
          <p:cNvSpPr/>
          <p:nvPr/>
        </p:nvSpPr>
        <p:spPr>
          <a:xfrm>
            <a:off x="457200" y="1298520"/>
            <a:ext cx="2248560" cy="2736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100" b="1" u="none" strike="noStrike">
                <a:solidFill>
                  <a:srgbClr val="0278D5"/>
                </a:solidFill>
                <a:effectLst/>
                <a:uFillTx/>
                <a:latin typeface="Arial"/>
              </a:rPr>
              <a:t>TODAY</a:t>
            </a:r>
            <a:endParaRPr lang="en-US" sz="1100" b="0" u="none" strike="noStrike">
              <a:solidFill>
                <a:srgbClr val="000000"/>
              </a:solidFill>
              <a:effectLst/>
              <a:uFillTx/>
              <a:latin typeface="Arial"/>
            </a:endParaRPr>
          </a:p>
        </p:txBody>
      </p:sp>
      <p:sp>
        <p:nvSpPr>
          <p:cNvPr id="295" name="Oval 27"/>
          <p:cNvSpPr/>
          <p:nvPr/>
        </p:nvSpPr>
        <p:spPr>
          <a:xfrm>
            <a:off x="1252800" y="1609200"/>
            <a:ext cx="657720" cy="657720"/>
          </a:xfrm>
          <a:prstGeom prst="ellipse">
            <a:avLst/>
          </a:prstGeom>
          <a:solidFill>
            <a:srgbClr val="0278D5"/>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pic>
        <p:nvPicPr>
          <p:cNvPr id="296" name="Picture 28" descr="ic-handshake-FFFFFF.png"/>
          <p:cNvPicPr/>
          <p:nvPr/>
        </p:nvPicPr>
        <p:blipFill>
          <a:blip r:embed="rId1"/>
          <a:stretch/>
        </p:blipFill>
        <p:spPr>
          <a:xfrm>
            <a:off x="1408320" y="1764720"/>
            <a:ext cx="346680" cy="346680"/>
          </a:xfrm>
          <a:prstGeom prst="rect">
            <a:avLst/>
          </a:prstGeom>
          <a:noFill/>
          <a:ln w="0">
            <a:noFill/>
          </a:ln>
        </p:spPr>
      </p:pic>
      <p:sp>
        <p:nvSpPr>
          <p:cNvPr id="297" name="TextBox 29"/>
          <p:cNvSpPr/>
          <p:nvPr/>
        </p:nvSpPr>
        <p:spPr>
          <a:xfrm>
            <a:off x="530280" y="2395800"/>
            <a:ext cx="2102400" cy="2736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1" u="none" strike="noStrike">
                <a:solidFill>
                  <a:srgbClr val="0B1A2B"/>
                </a:solidFill>
                <a:effectLst/>
                <a:uFillTx/>
                <a:latin typeface="Arial"/>
              </a:rPr>
              <a:t>Agree the plan</a:t>
            </a:r>
            <a:endParaRPr lang="en-US" sz="1300" b="0" u="none" strike="noStrike">
              <a:solidFill>
                <a:srgbClr val="000000"/>
              </a:solidFill>
              <a:effectLst/>
              <a:uFillTx/>
              <a:latin typeface="Arial"/>
            </a:endParaRPr>
          </a:p>
        </p:txBody>
      </p:sp>
      <p:sp>
        <p:nvSpPr>
          <p:cNvPr id="298" name="TextBox 30"/>
          <p:cNvSpPr/>
          <p:nvPr/>
        </p:nvSpPr>
        <p:spPr>
          <a:xfrm>
            <a:off x="530280" y="2697480"/>
            <a:ext cx="2102400" cy="54792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050" b="0" u="none" strike="noStrike">
                <a:solidFill>
                  <a:srgbClr val="2B3947"/>
                </a:solidFill>
                <a:effectLst/>
                <a:uFillTx/>
                <a:latin typeface="Arial"/>
              </a:rPr>
              <a:t>Name an executive sponsor and a pilot squad. Share the LD flag export.</a:t>
            </a:r>
            <a:endParaRPr lang="en-US" sz="1050" b="0" u="none" strike="noStrike">
              <a:solidFill>
                <a:srgbClr val="000000"/>
              </a:solidFill>
              <a:effectLst/>
              <a:uFillTx/>
              <a:latin typeface="Arial"/>
            </a:endParaRPr>
          </a:p>
        </p:txBody>
      </p:sp>
      <p:sp>
        <p:nvSpPr>
          <p:cNvPr id="299" name="TextBox 31"/>
          <p:cNvSpPr/>
          <p:nvPr/>
        </p:nvSpPr>
        <p:spPr>
          <a:xfrm>
            <a:off x="530280" y="3310200"/>
            <a:ext cx="2102400" cy="41076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950" b="0" u="none" strike="noStrike">
                <a:solidFill>
                  <a:srgbClr val="5B6B7F"/>
                </a:solidFill>
                <a:effectLst/>
                <a:uFillTx/>
                <a:latin typeface="Arial"/>
              </a:rPr>
              <a:t>Odido: CTO, CCO</a:t>
            </a:r>
            <a:endParaRPr lang="en-US" sz="950" b="0" u="none" strike="noStrike">
              <a:solidFill>
                <a:srgbClr val="000000"/>
              </a:solidFill>
              <a:effectLst/>
              <a:uFillTx/>
              <a:latin typeface="Arial"/>
            </a:endParaRPr>
          </a:p>
          <a:p>
            <a:pPr algn="ctr" defTabSz="914400">
              <a:lnSpc>
                <a:spcPct val="100000"/>
              </a:lnSpc>
            </a:pPr>
            <a:r>
              <a:rPr lang="en-US" sz="950" b="0" u="none" strike="noStrike">
                <a:solidFill>
                  <a:srgbClr val="5B6B7F"/>
                </a:solidFill>
                <a:effectLst/>
                <a:uFillTx/>
                <a:latin typeface="Arial"/>
              </a:rPr>
              <a:t>Harness: AE, SE</a:t>
            </a:r>
            <a:endParaRPr lang="en-US" sz="950" b="0" u="none" strike="noStrike">
              <a:solidFill>
                <a:srgbClr val="000000"/>
              </a:solidFill>
              <a:effectLst/>
              <a:uFillTx/>
              <a:latin typeface="Arial"/>
            </a:endParaRPr>
          </a:p>
        </p:txBody>
      </p:sp>
      <p:sp>
        <p:nvSpPr>
          <p:cNvPr id="300" name="TextBox 32"/>
          <p:cNvSpPr/>
          <p:nvPr/>
        </p:nvSpPr>
        <p:spPr>
          <a:xfrm>
            <a:off x="2706480" y="1298520"/>
            <a:ext cx="2248560" cy="2736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100" b="1" u="none" strike="noStrike">
                <a:solidFill>
                  <a:srgbClr val="00ADE4"/>
                </a:solidFill>
                <a:effectLst/>
                <a:uFillTx/>
                <a:latin typeface="Arial"/>
              </a:rPr>
              <a:t>WEEK 1</a:t>
            </a:r>
            <a:endParaRPr lang="en-US" sz="1100" b="0" u="none" strike="noStrike">
              <a:solidFill>
                <a:srgbClr val="000000"/>
              </a:solidFill>
              <a:effectLst/>
              <a:uFillTx/>
              <a:latin typeface="Arial"/>
            </a:endParaRPr>
          </a:p>
        </p:txBody>
      </p:sp>
      <p:sp>
        <p:nvSpPr>
          <p:cNvPr id="301" name="Oval 33"/>
          <p:cNvSpPr/>
          <p:nvPr/>
        </p:nvSpPr>
        <p:spPr>
          <a:xfrm>
            <a:off x="3502080" y="1609200"/>
            <a:ext cx="657720" cy="657720"/>
          </a:xfrm>
          <a:prstGeom prst="ellipse">
            <a:avLst/>
          </a:prstGeom>
          <a:solidFill>
            <a:srgbClr val="00ADE4"/>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pic>
        <p:nvPicPr>
          <p:cNvPr id="302" name="Picture 34" descr="ic-target-FFFFFF.png"/>
          <p:cNvPicPr/>
          <p:nvPr/>
        </p:nvPicPr>
        <p:blipFill>
          <a:blip r:embed="rId2"/>
          <a:stretch/>
        </p:blipFill>
        <p:spPr>
          <a:xfrm>
            <a:off x="3657600" y="1764720"/>
            <a:ext cx="346680" cy="346680"/>
          </a:xfrm>
          <a:prstGeom prst="rect">
            <a:avLst/>
          </a:prstGeom>
          <a:noFill/>
          <a:ln w="0">
            <a:noFill/>
          </a:ln>
        </p:spPr>
      </p:pic>
      <p:sp>
        <p:nvSpPr>
          <p:cNvPr id="303" name="TextBox 35"/>
          <p:cNvSpPr/>
          <p:nvPr/>
        </p:nvSpPr>
        <p:spPr>
          <a:xfrm>
            <a:off x="2779920" y="2395800"/>
            <a:ext cx="2102400" cy="2736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1" u="none" strike="noStrike">
                <a:solidFill>
                  <a:srgbClr val="0B1A2B"/>
                </a:solidFill>
                <a:effectLst/>
                <a:uFillTx/>
                <a:latin typeface="Arial"/>
              </a:rPr>
              <a:t>Success criteria workshop</a:t>
            </a:r>
            <a:endParaRPr lang="en-US" sz="1300" b="0" u="none" strike="noStrike">
              <a:solidFill>
                <a:srgbClr val="000000"/>
              </a:solidFill>
              <a:effectLst/>
              <a:uFillTx/>
              <a:latin typeface="Arial"/>
            </a:endParaRPr>
          </a:p>
        </p:txBody>
      </p:sp>
      <p:sp>
        <p:nvSpPr>
          <p:cNvPr id="304" name="TextBox 36"/>
          <p:cNvSpPr/>
          <p:nvPr/>
        </p:nvSpPr>
        <p:spPr>
          <a:xfrm>
            <a:off x="2779920" y="2697480"/>
            <a:ext cx="2102400" cy="54792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050" b="0" u="none" strike="noStrike">
                <a:solidFill>
                  <a:srgbClr val="2B3947"/>
                </a:solidFill>
                <a:effectLst/>
                <a:uFillTx/>
                <a:latin typeface="Arial"/>
              </a:rPr>
              <a:t>Confirm the plan upgrade journey and baseline the metrics.</a:t>
            </a:r>
            <a:endParaRPr lang="en-US" sz="1050" b="0" u="none" strike="noStrike">
              <a:solidFill>
                <a:srgbClr val="000000"/>
              </a:solidFill>
              <a:effectLst/>
              <a:uFillTx/>
              <a:latin typeface="Arial"/>
            </a:endParaRPr>
          </a:p>
        </p:txBody>
      </p:sp>
      <p:sp>
        <p:nvSpPr>
          <p:cNvPr id="305" name="TextBox 37"/>
          <p:cNvSpPr/>
          <p:nvPr/>
        </p:nvSpPr>
        <p:spPr>
          <a:xfrm>
            <a:off x="2779920" y="3310200"/>
            <a:ext cx="2102400" cy="41076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950" b="0" u="none" strike="noStrike">
                <a:solidFill>
                  <a:srgbClr val="5B6B7F"/>
                </a:solidFill>
                <a:effectLst/>
                <a:uFillTx/>
                <a:latin typeface="Arial"/>
              </a:rPr>
              <a:t>Odido: Head of Digital, app lead</a:t>
            </a:r>
            <a:endParaRPr lang="en-US" sz="950" b="0" u="none" strike="noStrike">
              <a:solidFill>
                <a:srgbClr val="000000"/>
              </a:solidFill>
              <a:effectLst/>
              <a:uFillTx/>
              <a:latin typeface="Arial"/>
            </a:endParaRPr>
          </a:p>
          <a:p>
            <a:pPr algn="ctr" defTabSz="914400">
              <a:lnSpc>
                <a:spcPct val="100000"/>
              </a:lnSpc>
            </a:pPr>
            <a:r>
              <a:rPr lang="en-US" sz="950" b="0" u="none" strike="noStrike">
                <a:solidFill>
                  <a:srgbClr val="5B6B7F"/>
                </a:solidFill>
                <a:effectLst/>
                <a:uFillTx/>
                <a:latin typeface="Arial"/>
              </a:rPr>
              <a:t>Harness: AE, SE</a:t>
            </a:r>
            <a:endParaRPr lang="en-US" sz="950" b="0" u="none" strike="noStrike">
              <a:solidFill>
                <a:srgbClr val="000000"/>
              </a:solidFill>
              <a:effectLst/>
              <a:uFillTx/>
              <a:latin typeface="Arial"/>
            </a:endParaRPr>
          </a:p>
        </p:txBody>
      </p:sp>
      <p:sp>
        <p:nvSpPr>
          <p:cNvPr id="306" name="TextBox 38"/>
          <p:cNvSpPr/>
          <p:nvPr/>
        </p:nvSpPr>
        <p:spPr>
          <a:xfrm>
            <a:off x="4956120" y="1298520"/>
            <a:ext cx="2248560" cy="2736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100" b="1" u="none" strike="noStrike">
                <a:solidFill>
                  <a:srgbClr val="7D4DD3"/>
                </a:solidFill>
                <a:effectLst/>
                <a:uFillTx/>
                <a:latin typeface="Arial"/>
              </a:rPr>
              <a:t>WEEK 2</a:t>
            </a:r>
            <a:endParaRPr lang="en-US" sz="1100" b="0" u="none" strike="noStrike">
              <a:solidFill>
                <a:srgbClr val="000000"/>
              </a:solidFill>
              <a:effectLst/>
              <a:uFillTx/>
              <a:latin typeface="Arial"/>
            </a:endParaRPr>
          </a:p>
        </p:txBody>
      </p:sp>
      <p:sp>
        <p:nvSpPr>
          <p:cNvPr id="307" name="Oval 39"/>
          <p:cNvSpPr/>
          <p:nvPr/>
        </p:nvSpPr>
        <p:spPr>
          <a:xfrm>
            <a:off x="5751720" y="1609200"/>
            <a:ext cx="657720" cy="657720"/>
          </a:xfrm>
          <a:prstGeom prst="ellipse">
            <a:avLst/>
          </a:prstGeom>
          <a:solidFill>
            <a:srgbClr val="7D4DD3"/>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pic>
        <p:nvPicPr>
          <p:cNvPr id="308" name="Picture 40" descr="ic-shield-check-FFFFFF.png"/>
          <p:cNvPicPr/>
          <p:nvPr/>
        </p:nvPicPr>
        <p:blipFill>
          <a:blip r:embed="rId3"/>
          <a:stretch/>
        </p:blipFill>
        <p:spPr>
          <a:xfrm>
            <a:off x="5906880" y="1764720"/>
            <a:ext cx="346680" cy="346680"/>
          </a:xfrm>
          <a:prstGeom prst="rect">
            <a:avLst/>
          </a:prstGeom>
          <a:noFill/>
          <a:ln w="0">
            <a:noFill/>
          </a:ln>
        </p:spPr>
      </p:pic>
      <p:sp>
        <p:nvSpPr>
          <p:cNvPr id="309" name="TextBox 41"/>
          <p:cNvSpPr/>
          <p:nvPr/>
        </p:nvSpPr>
        <p:spPr>
          <a:xfrm>
            <a:off x="5029200" y="2395800"/>
            <a:ext cx="2102400" cy="2736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1" u="none" strike="noStrike">
                <a:solidFill>
                  <a:srgbClr val="0B1A2B"/>
                </a:solidFill>
                <a:effectLst/>
                <a:uFillTx/>
                <a:latin typeface="Arial"/>
              </a:rPr>
              <a:t>Security &amp; architecture</a:t>
            </a:r>
            <a:endParaRPr lang="en-US" sz="1300" b="0" u="none" strike="noStrike">
              <a:solidFill>
                <a:srgbClr val="000000"/>
              </a:solidFill>
              <a:effectLst/>
              <a:uFillTx/>
              <a:latin typeface="Arial"/>
            </a:endParaRPr>
          </a:p>
        </p:txBody>
      </p:sp>
      <p:sp>
        <p:nvSpPr>
          <p:cNvPr id="310" name="TextBox 42"/>
          <p:cNvSpPr/>
          <p:nvPr/>
        </p:nvSpPr>
        <p:spPr>
          <a:xfrm>
            <a:off x="5029200" y="2697480"/>
            <a:ext cx="2102400" cy="54792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050" b="0" u="none" strike="noStrike">
                <a:solidFill>
                  <a:srgbClr val="2B3947"/>
                </a:solidFill>
                <a:effectLst/>
                <a:uFillTx/>
                <a:latin typeface="Arial"/>
              </a:rPr>
              <a:t>Data flows, SSO, EU data residency, SDK review.</a:t>
            </a:r>
            <a:endParaRPr lang="en-US" sz="1050" b="0" u="none" strike="noStrike">
              <a:solidFill>
                <a:srgbClr val="000000"/>
              </a:solidFill>
              <a:effectLst/>
              <a:uFillTx/>
              <a:latin typeface="Arial"/>
            </a:endParaRPr>
          </a:p>
        </p:txBody>
      </p:sp>
      <p:sp>
        <p:nvSpPr>
          <p:cNvPr id="311" name="TextBox 43"/>
          <p:cNvSpPr/>
          <p:nvPr/>
        </p:nvSpPr>
        <p:spPr>
          <a:xfrm>
            <a:off x="5029200" y="3310200"/>
            <a:ext cx="2102400" cy="41076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950" b="0" u="none" strike="noStrike">
                <a:solidFill>
                  <a:srgbClr val="5B6B7F"/>
                </a:solidFill>
                <a:effectLst/>
                <a:uFillTx/>
                <a:latin typeface="Arial"/>
              </a:rPr>
              <a:t>Odido: InfoSec, Platform Eng.</a:t>
            </a:r>
            <a:endParaRPr lang="en-US" sz="950" b="0" u="none" strike="noStrike">
              <a:solidFill>
                <a:srgbClr val="000000"/>
              </a:solidFill>
              <a:effectLst/>
              <a:uFillTx/>
              <a:latin typeface="Arial"/>
            </a:endParaRPr>
          </a:p>
          <a:p>
            <a:pPr algn="ctr" defTabSz="914400">
              <a:lnSpc>
                <a:spcPct val="100000"/>
              </a:lnSpc>
            </a:pPr>
            <a:r>
              <a:rPr lang="en-US" sz="950" b="0" u="none" strike="noStrike">
                <a:solidFill>
                  <a:srgbClr val="5B6B7F"/>
                </a:solidFill>
                <a:effectLst/>
                <a:uFillTx/>
                <a:latin typeface="Arial"/>
              </a:rPr>
              <a:t>Harness: SE, Security</a:t>
            </a:r>
            <a:endParaRPr lang="en-US" sz="950" b="0" u="none" strike="noStrike">
              <a:solidFill>
                <a:srgbClr val="000000"/>
              </a:solidFill>
              <a:effectLst/>
              <a:uFillTx/>
              <a:latin typeface="Arial"/>
            </a:endParaRPr>
          </a:p>
        </p:txBody>
      </p:sp>
      <p:sp>
        <p:nvSpPr>
          <p:cNvPr id="312" name="TextBox 44"/>
          <p:cNvSpPr/>
          <p:nvPr/>
        </p:nvSpPr>
        <p:spPr>
          <a:xfrm>
            <a:off x="7205400" y="1298520"/>
            <a:ext cx="2248560" cy="2736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100" b="1" u="none" strike="noStrike">
                <a:solidFill>
                  <a:srgbClr val="1FA971"/>
                </a:solidFill>
                <a:effectLst/>
                <a:uFillTx/>
                <a:latin typeface="Arial"/>
              </a:rPr>
              <a:t>WEEKS 2–5</a:t>
            </a:r>
            <a:endParaRPr lang="en-US" sz="1100" b="0" u="none" strike="noStrike">
              <a:solidFill>
                <a:srgbClr val="000000"/>
              </a:solidFill>
              <a:effectLst/>
              <a:uFillTx/>
              <a:latin typeface="Arial"/>
            </a:endParaRPr>
          </a:p>
        </p:txBody>
      </p:sp>
      <p:sp>
        <p:nvSpPr>
          <p:cNvPr id="313" name="Oval 45"/>
          <p:cNvSpPr/>
          <p:nvPr/>
        </p:nvSpPr>
        <p:spPr>
          <a:xfrm>
            <a:off x="8001000" y="1609200"/>
            <a:ext cx="657720" cy="657720"/>
          </a:xfrm>
          <a:prstGeom prst="ellipse">
            <a:avLst/>
          </a:prstGeom>
          <a:solidFill>
            <a:srgbClr val="1FA971"/>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pic>
        <p:nvPicPr>
          <p:cNvPr id="314" name="Picture 46" descr="ic-rocket-FFFFFF.png"/>
          <p:cNvPicPr/>
          <p:nvPr/>
        </p:nvPicPr>
        <p:blipFill>
          <a:blip r:embed="rId4"/>
          <a:stretch/>
        </p:blipFill>
        <p:spPr>
          <a:xfrm>
            <a:off x="8156520" y="1764720"/>
            <a:ext cx="346680" cy="346680"/>
          </a:xfrm>
          <a:prstGeom prst="rect">
            <a:avLst/>
          </a:prstGeom>
          <a:noFill/>
          <a:ln w="0">
            <a:noFill/>
          </a:ln>
        </p:spPr>
      </p:pic>
      <p:sp>
        <p:nvSpPr>
          <p:cNvPr id="315" name="TextBox 47"/>
          <p:cNvSpPr/>
          <p:nvPr/>
        </p:nvSpPr>
        <p:spPr>
          <a:xfrm>
            <a:off x="7278480" y="2395800"/>
            <a:ext cx="2102400" cy="2736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1" u="none" strike="noStrike">
                <a:solidFill>
                  <a:srgbClr val="0B1A2B"/>
                </a:solidFill>
                <a:effectLst/>
                <a:uFillTx/>
                <a:latin typeface="Arial"/>
              </a:rPr>
              <a:t>Pilot on a real release</a:t>
            </a:r>
            <a:endParaRPr lang="en-US" sz="1300" b="0" u="none" strike="noStrike">
              <a:solidFill>
                <a:srgbClr val="000000"/>
              </a:solidFill>
              <a:effectLst/>
              <a:uFillTx/>
              <a:latin typeface="Arial"/>
            </a:endParaRPr>
          </a:p>
        </p:txBody>
      </p:sp>
      <p:sp>
        <p:nvSpPr>
          <p:cNvPr id="316" name="TextBox 48"/>
          <p:cNvSpPr/>
          <p:nvPr/>
        </p:nvSpPr>
        <p:spPr>
          <a:xfrm>
            <a:off x="7278480" y="2697480"/>
            <a:ext cx="2102400" cy="54792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050" b="0" u="none" strike="noStrike">
                <a:solidFill>
                  <a:srgbClr val="2B3947"/>
                </a:solidFill>
                <a:effectLst/>
                <a:uFillTx/>
                <a:latin typeface="Arial"/>
              </a:rPr>
              <a:t>One squad ships with guardrails and runs one offer experiment.</a:t>
            </a:r>
            <a:endParaRPr lang="en-US" sz="1050" b="0" u="none" strike="noStrike">
              <a:solidFill>
                <a:srgbClr val="000000"/>
              </a:solidFill>
              <a:effectLst/>
              <a:uFillTx/>
              <a:latin typeface="Arial"/>
            </a:endParaRPr>
          </a:p>
        </p:txBody>
      </p:sp>
      <p:sp>
        <p:nvSpPr>
          <p:cNvPr id="317" name="TextBox 49"/>
          <p:cNvSpPr/>
          <p:nvPr/>
        </p:nvSpPr>
        <p:spPr>
          <a:xfrm>
            <a:off x="7278480" y="3310200"/>
            <a:ext cx="2102400" cy="41076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950" b="0" u="none" strike="noStrike">
                <a:solidFill>
                  <a:srgbClr val="5B6B7F"/>
                </a:solidFill>
                <a:effectLst/>
                <a:uFillTx/>
                <a:latin typeface="Arial"/>
              </a:rPr>
              <a:t>Odido: pilot squad, PO</a:t>
            </a:r>
            <a:endParaRPr lang="en-US" sz="950" b="0" u="none" strike="noStrike">
              <a:solidFill>
                <a:srgbClr val="000000"/>
              </a:solidFill>
              <a:effectLst/>
              <a:uFillTx/>
              <a:latin typeface="Arial"/>
            </a:endParaRPr>
          </a:p>
          <a:p>
            <a:pPr algn="ctr" defTabSz="914400">
              <a:lnSpc>
                <a:spcPct val="100000"/>
              </a:lnSpc>
            </a:pPr>
            <a:r>
              <a:rPr lang="en-US" sz="950" b="0" u="none" strike="noStrike">
                <a:solidFill>
                  <a:srgbClr val="5B6B7F"/>
                </a:solidFill>
                <a:effectLst/>
                <a:uFillTx/>
                <a:latin typeface="Arial"/>
              </a:rPr>
              <a:t>Harness: weekly SE check-in</a:t>
            </a:r>
            <a:endParaRPr lang="en-US" sz="950" b="0" u="none" strike="noStrike">
              <a:solidFill>
                <a:srgbClr val="000000"/>
              </a:solidFill>
              <a:effectLst/>
              <a:uFillTx/>
              <a:latin typeface="Arial"/>
            </a:endParaRPr>
          </a:p>
        </p:txBody>
      </p:sp>
      <p:sp>
        <p:nvSpPr>
          <p:cNvPr id="318" name="TextBox 50"/>
          <p:cNvSpPr/>
          <p:nvPr/>
        </p:nvSpPr>
        <p:spPr>
          <a:xfrm>
            <a:off x="9455040" y="1298520"/>
            <a:ext cx="2248560" cy="2736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100" b="1" u="none" strike="noStrike">
                <a:solidFill>
                  <a:srgbClr val="E79A00"/>
                </a:solidFill>
                <a:effectLst/>
                <a:uFillTx/>
                <a:latin typeface="Arial"/>
              </a:rPr>
              <a:t>WEEK 6</a:t>
            </a:r>
            <a:endParaRPr lang="en-US" sz="1100" b="0" u="none" strike="noStrike">
              <a:solidFill>
                <a:srgbClr val="000000"/>
              </a:solidFill>
              <a:effectLst/>
              <a:uFillTx/>
              <a:latin typeface="Arial"/>
            </a:endParaRPr>
          </a:p>
        </p:txBody>
      </p:sp>
      <p:sp>
        <p:nvSpPr>
          <p:cNvPr id="319" name="Oval 51"/>
          <p:cNvSpPr/>
          <p:nvPr/>
        </p:nvSpPr>
        <p:spPr>
          <a:xfrm>
            <a:off x="10250280" y="1609200"/>
            <a:ext cx="657720" cy="657720"/>
          </a:xfrm>
          <a:prstGeom prst="ellipse">
            <a:avLst/>
          </a:prstGeom>
          <a:solidFill>
            <a:srgbClr val="E79A0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endParaRPr lang="en-US" sz="1800" b="0" u="none" strike="noStrike">
              <a:solidFill>
                <a:schemeClr val="lt1"/>
              </a:solidFill>
              <a:effectLst/>
              <a:uFillTx/>
              <a:latin typeface="Calibri"/>
            </a:endParaRPr>
          </a:p>
        </p:txBody>
      </p:sp>
      <p:pic>
        <p:nvPicPr>
          <p:cNvPr id="320" name="Picture 52" descr="ic-flag-FFFFFF.png"/>
          <p:cNvPicPr/>
          <p:nvPr/>
        </p:nvPicPr>
        <p:blipFill>
          <a:blip r:embed="rId5"/>
          <a:stretch/>
        </p:blipFill>
        <p:spPr>
          <a:xfrm>
            <a:off x="10405800" y="1764720"/>
            <a:ext cx="346680" cy="346680"/>
          </a:xfrm>
          <a:prstGeom prst="rect">
            <a:avLst/>
          </a:prstGeom>
          <a:noFill/>
          <a:ln w="0">
            <a:noFill/>
          </a:ln>
        </p:spPr>
      </p:pic>
      <p:sp>
        <p:nvSpPr>
          <p:cNvPr id="321" name="TextBox 53"/>
          <p:cNvSpPr/>
          <p:nvPr/>
        </p:nvSpPr>
        <p:spPr>
          <a:xfrm>
            <a:off x="9528120" y="2395800"/>
            <a:ext cx="2102400" cy="27360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300" b="1" u="none" strike="noStrike">
                <a:solidFill>
                  <a:srgbClr val="0B1A2B"/>
                </a:solidFill>
                <a:effectLst/>
                <a:uFillTx/>
                <a:latin typeface="Arial"/>
              </a:rPr>
              <a:t>Readout and decision</a:t>
            </a:r>
            <a:endParaRPr lang="en-US" sz="1300" b="0" u="none" strike="noStrike">
              <a:solidFill>
                <a:srgbClr val="000000"/>
              </a:solidFill>
              <a:effectLst/>
              <a:uFillTx/>
              <a:latin typeface="Arial"/>
            </a:endParaRPr>
          </a:p>
        </p:txBody>
      </p:sp>
      <p:sp>
        <p:nvSpPr>
          <p:cNvPr id="322" name="TextBox 54"/>
          <p:cNvSpPr/>
          <p:nvPr/>
        </p:nvSpPr>
        <p:spPr>
          <a:xfrm>
            <a:off x="9528120" y="2697480"/>
            <a:ext cx="2102400" cy="54792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1050" b="0" u="none" strike="noStrike">
                <a:solidFill>
                  <a:srgbClr val="2B3947"/>
                </a:solidFill>
                <a:effectLst/>
                <a:uFillTx/>
                <a:latin typeface="Arial"/>
              </a:rPr>
              <a:t>Results vs success criteria, LD migration plan, commercial proposal.</a:t>
            </a:r>
            <a:endParaRPr lang="en-US" sz="1050" b="0" u="none" strike="noStrike">
              <a:solidFill>
                <a:srgbClr val="000000"/>
              </a:solidFill>
              <a:effectLst/>
              <a:uFillTx/>
              <a:latin typeface="Arial"/>
            </a:endParaRPr>
          </a:p>
        </p:txBody>
      </p:sp>
      <p:sp>
        <p:nvSpPr>
          <p:cNvPr id="323" name="TextBox 55"/>
          <p:cNvSpPr/>
          <p:nvPr/>
        </p:nvSpPr>
        <p:spPr>
          <a:xfrm>
            <a:off x="9528120" y="3310200"/>
            <a:ext cx="2102400" cy="410760"/>
          </a:xfrm>
          <a:prstGeom prst="rect">
            <a:avLst/>
          </a:prstGeom>
          <a:noFill/>
          <a:ln w="0">
            <a:noFill/>
          </a:ln>
        </p:spPr>
        <p:style>
          <a:lnRef idx="0"/>
          <a:fillRef idx="0"/>
          <a:effectRef idx="0"/>
          <a:fontRef idx="minor"/>
        </p:style>
        <p:txBody>
          <a:bodyPr lIns="0" tIns="0" rIns="0" bIns="0" anchor="t">
            <a:spAutoFit/>
          </a:bodyPr>
          <a:p>
            <a:pPr algn="ctr" defTabSz="914400">
              <a:lnSpc>
                <a:spcPct val="100000"/>
              </a:lnSpc>
            </a:pPr>
            <a:r>
              <a:rPr lang="en-US" sz="950" b="0" u="none" strike="noStrike">
                <a:solidFill>
                  <a:srgbClr val="5B6B7F"/>
                </a:solidFill>
                <a:effectLst/>
                <a:uFillTx/>
                <a:latin typeface="Arial"/>
              </a:rPr>
              <a:t>Odido: executive sponsor</a:t>
            </a:r>
            <a:endParaRPr lang="en-US" sz="950" b="0" u="none" strike="noStrike">
              <a:solidFill>
                <a:srgbClr val="000000"/>
              </a:solidFill>
              <a:effectLst/>
              <a:uFillTx/>
              <a:latin typeface="Arial"/>
            </a:endParaRPr>
          </a:p>
          <a:p>
            <a:pPr algn="ctr" defTabSz="914400">
              <a:lnSpc>
                <a:spcPct val="100000"/>
              </a:lnSpc>
            </a:pPr>
            <a:r>
              <a:rPr lang="en-US" sz="950" b="0" u="none" strike="noStrike">
                <a:solidFill>
                  <a:srgbClr val="5B6B7F"/>
                </a:solidFill>
                <a:effectLst/>
                <a:uFillTx/>
                <a:latin typeface="Arial"/>
              </a:rPr>
              <a:t>Harness: AE, SE, leadership</a:t>
            </a:r>
            <a:endParaRPr lang="en-US" sz="950" b="0" u="none" strike="noStrike">
              <a:solidFill>
                <a:srgbClr val="000000"/>
              </a:solidFill>
              <a:effectLst/>
              <a:uFillTx/>
              <a:latin typeface="Arial"/>
            </a:endParaRPr>
          </a:p>
        </p:txBody>
      </p:sp>
      <p:sp>
        <p:nvSpPr>
          <p:cNvPr id="324" name="Rectangle 56"/>
          <p:cNvSpPr/>
          <p:nvPr/>
        </p:nvSpPr>
        <p:spPr>
          <a:xfrm>
            <a:off x="457200" y="3977640"/>
            <a:ext cx="5531400" cy="233100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lnSpc>
                <a:spcPct val="100000"/>
              </a:lnSpc>
            </a:pPr>
            <a:endParaRPr lang="en-US" sz="1800" b="0" u="none" strike="noStrike">
              <a:solidFill>
                <a:schemeClr val="lt1"/>
              </a:solidFill>
              <a:effectLst/>
              <a:uFillTx/>
              <a:latin typeface="Calibri"/>
            </a:endParaRPr>
          </a:p>
        </p:txBody>
      </p:sp>
      <p:sp>
        <p:nvSpPr>
          <p:cNvPr id="325" name="Rectangle 57"/>
          <p:cNvSpPr/>
          <p:nvPr/>
        </p:nvSpPr>
        <p:spPr>
          <a:xfrm>
            <a:off x="457200" y="3977640"/>
            <a:ext cx="5531400" cy="54000"/>
          </a:xfrm>
          <a:prstGeom prst="rect">
            <a:avLst/>
          </a:prstGeom>
          <a:solidFill>
            <a:srgbClr val="7D4DD3"/>
          </a:solidFill>
          <a:ln>
            <a:noFill/>
          </a:ln>
        </p:spPr>
        <p:style>
          <a:lnRef idx="1">
            <a:schemeClr val="accent1"/>
          </a:lnRef>
          <a:fillRef idx="3">
            <a:schemeClr val="accent1"/>
          </a:fillRef>
          <a:effectRef idx="2">
            <a:schemeClr val="accent1"/>
          </a:effectRef>
          <a:fontRef idx="minor"/>
        </p:style>
        <p:txBody>
          <a:bodyPr lIns="90000" tIns="9720" rIns="90000" bIns="9720" anchor="ctr">
            <a:noAutofit/>
          </a:bodyPr>
          <a:p>
            <a:pPr>
              <a:lnSpc>
                <a:spcPct val="100000"/>
              </a:lnSpc>
            </a:pPr>
            <a:endParaRPr lang="en-US" sz="1800" b="0" u="none" strike="noStrike">
              <a:solidFill>
                <a:schemeClr val="lt1"/>
              </a:solidFill>
              <a:effectLst/>
              <a:uFillTx/>
              <a:latin typeface="Calibri"/>
            </a:endParaRPr>
          </a:p>
        </p:txBody>
      </p:sp>
      <p:sp>
        <p:nvSpPr>
          <p:cNvPr id="326" name="TextBox 58"/>
          <p:cNvSpPr/>
          <p:nvPr/>
        </p:nvSpPr>
        <p:spPr>
          <a:xfrm>
            <a:off x="640080" y="4105800"/>
            <a:ext cx="5165640" cy="2919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100" b="1" u="none" strike="noStrike">
                <a:solidFill>
                  <a:srgbClr val="7D4DD3"/>
                </a:solidFill>
                <a:effectLst/>
                <a:uFillTx/>
                <a:latin typeface="Arial"/>
              </a:rPr>
              <a:t>BUSINESS CASE TO VALIDATE IN WEEK 1</a:t>
            </a:r>
            <a:endParaRPr lang="en-US" sz="1100" b="0" u="none" strike="noStrike">
              <a:solidFill>
                <a:srgbClr val="000000"/>
              </a:solidFill>
              <a:effectLst/>
              <a:uFillTx/>
              <a:latin typeface="Arial"/>
            </a:endParaRPr>
          </a:p>
        </p:txBody>
      </p:sp>
      <p:sp>
        <p:nvSpPr>
          <p:cNvPr id="327" name="Oval 59"/>
          <p:cNvSpPr/>
          <p:nvPr/>
        </p:nvSpPr>
        <p:spPr>
          <a:xfrm>
            <a:off x="658440" y="4462200"/>
            <a:ext cx="328320" cy="328320"/>
          </a:xfrm>
          <a:prstGeom prst="ellipse">
            <a:avLst/>
          </a:prstGeom>
          <a:solidFill>
            <a:srgbClr val="EFE9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lnSpc>
                <a:spcPct val="100000"/>
              </a:lnSpc>
            </a:pPr>
            <a:endParaRPr lang="en-US" sz="1800" b="0" u="none" strike="noStrike">
              <a:solidFill>
                <a:schemeClr val="lt1"/>
              </a:solidFill>
              <a:effectLst/>
              <a:uFillTx/>
              <a:latin typeface="Calibri"/>
            </a:endParaRPr>
          </a:p>
        </p:txBody>
      </p:sp>
      <p:pic>
        <p:nvPicPr>
          <p:cNvPr id="328" name="Picture 60" descr="ic-trending-up-7D4DD3.png"/>
          <p:cNvPicPr/>
          <p:nvPr/>
        </p:nvPicPr>
        <p:blipFill>
          <a:blip r:embed="rId6"/>
          <a:stretch/>
        </p:blipFill>
        <p:spPr>
          <a:xfrm>
            <a:off x="731520" y="4535280"/>
            <a:ext cx="182160" cy="182160"/>
          </a:xfrm>
          <a:prstGeom prst="rect">
            <a:avLst/>
          </a:prstGeom>
          <a:noFill/>
          <a:ln w="0">
            <a:noFill/>
          </a:ln>
        </p:spPr>
      </p:pic>
      <p:sp>
        <p:nvSpPr>
          <p:cNvPr id="329" name="TextBox 61"/>
          <p:cNvSpPr/>
          <p:nvPr/>
        </p:nvSpPr>
        <p:spPr>
          <a:xfrm>
            <a:off x="1097280" y="4425840"/>
            <a:ext cx="4754160" cy="4197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100" b="1" u="none" strike="noStrike">
                <a:solidFill>
                  <a:srgbClr val="0B1A2B"/>
                </a:solidFill>
                <a:effectLst/>
                <a:uFillTx/>
                <a:latin typeface="Arial"/>
              </a:rPr>
              <a:t>Revenue: </a:t>
            </a:r>
            <a:r>
              <a:rPr lang="en-US" sz="1100" b="0" u="none" strike="noStrike">
                <a:solidFill>
                  <a:srgbClr val="2B3947"/>
                </a:solidFill>
                <a:effectLst/>
                <a:uFillTx/>
                <a:latin typeface="Arial"/>
              </a:rPr>
              <a:t>250k eligible customers a month × +1 pt conversion × €10/month ≈ €3.6M run-rate in year one.</a:t>
            </a:r>
            <a:endParaRPr lang="en-US" sz="1100" b="0" u="none" strike="noStrike">
              <a:solidFill>
                <a:srgbClr val="000000"/>
              </a:solidFill>
              <a:effectLst/>
              <a:uFillTx/>
              <a:latin typeface="Arial"/>
            </a:endParaRPr>
          </a:p>
        </p:txBody>
      </p:sp>
      <p:sp>
        <p:nvSpPr>
          <p:cNvPr id="330" name="Oval 62"/>
          <p:cNvSpPr/>
          <p:nvPr/>
        </p:nvSpPr>
        <p:spPr>
          <a:xfrm>
            <a:off x="658440" y="4910400"/>
            <a:ext cx="328320" cy="328320"/>
          </a:xfrm>
          <a:prstGeom prst="ellipse">
            <a:avLst/>
          </a:prstGeom>
          <a:solidFill>
            <a:srgbClr val="EFE9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lnSpc>
                <a:spcPct val="100000"/>
              </a:lnSpc>
            </a:pPr>
            <a:endParaRPr lang="en-US" sz="1800" b="0" u="none" strike="noStrike">
              <a:solidFill>
                <a:schemeClr val="lt1"/>
              </a:solidFill>
              <a:effectLst/>
              <a:uFillTx/>
              <a:latin typeface="Calibri"/>
            </a:endParaRPr>
          </a:p>
        </p:txBody>
      </p:sp>
      <p:pic>
        <p:nvPicPr>
          <p:cNvPr id="331" name="Picture 63" descr="ic-code-7D4DD3.png"/>
          <p:cNvPicPr/>
          <p:nvPr/>
        </p:nvPicPr>
        <p:blipFill>
          <a:blip r:embed="rId7"/>
          <a:stretch/>
        </p:blipFill>
        <p:spPr>
          <a:xfrm>
            <a:off x="731520" y="4983480"/>
            <a:ext cx="182160" cy="182160"/>
          </a:xfrm>
          <a:prstGeom prst="rect">
            <a:avLst/>
          </a:prstGeom>
          <a:noFill/>
          <a:ln w="0">
            <a:noFill/>
          </a:ln>
        </p:spPr>
      </p:pic>
      <p:sp>
        <p:nvSpPr>
          <p:cNvPr id="332" name="TextBox 64"/>
          <p:cNvSpPr/>
          <p:nvPr/>
        </p:nvSpPr>
        <p:spPr>
          <a:xfrm>
            <a:off x="1097280" y="4873680"/>
            <a:ext cx="4754160" cy="4197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100" b="1" u="none" strike="noStrike">
                <a:solidFill>
                  <a:srgbClr val="0B1A2B"/>
                </a:solidFill>
                <a:effectLst/>
                <a:uFillTx/>
                <a:latin typeface="Arial"/>
              </a:rPr>
              <a:t>Engineering: </a:t>
            </a:r>
            <a:r>
              <a:rPr lang="en-US" sz="1100" b="0" u="none" strike="noStrike">
                <a:solidFill>
                  <a:srgbClr val="2B3947"/>
                </a:solidFill>
                <a:effectLst/>
                <a:uFillTx/>
                <a:latin typeface="Arial"/>
              </a:rPr>
              <a:t>40 engineers × 2 h/week saved × €100/h ≈ €400k a year.</a:t>
            </a:r>
            <a:endParaRPr lang="en-US" sz="1100" b="0" u="none" strike="noStrike">
              <a:solidFill>
                <a:srgbClr val="000000"/>
              </a:solidFill>
              <a:effectLst/>
              <a:uFillTx/>
              <a:latin typeface="Arial"/>
            </a:endParaRPr>
          </a:p>
        </p:txBody>
      </p:sp>
      <p:sp>
        <p:nvSpPr>
          <p:cNvPr id="333" name="Oval 65"/>
          <p:cNvSpPr/>
          <p:nvPr/>
        </p:nvSpPr>
        <p:spPr>
          <a:xfrm>
            <a:off x="658440" y="5358240"/>
            <a:ext cx="328320" cy="328320"/>
          </a:xfrm>
          <a:prstGeom prst="ellipse">
            <a:avLst/>
          </a:prstGeom>
          <a:solidFill>
            <a:srgbClr val="EFE9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lnSpc>
                <a:spcPct val="100000"/>
              </a:lnSpc>
            </a:pPr>
            <a:endParaRPr lang="en-US" sz="1800" b="0" u="none" strike="noStrike">
              <a:solidFill>
                <a:schemeClr val="lt1"/>
              </a:solidFill>
              <a:effectLst/>
              <a:uFillTx/>
              <a:latin typeface="Calibri"/>
            </a:endParaRPr>
          </a:p>
        </p:txBody>
      </p:sp>
      <p:pic>
        <p:nvPicPr>
          <p:cNvPr id="334" name="Picture 66" descr="ic-shield-7D4DD3.png"/>
          <p:cNvPicPr/>
          <p:nvPr/>
        </p:nvPicPr>
        <p:blipFill>
          <a:blip r:embed="rId8"/>
          <a:stretch/>
        </p:blipFill>
        <p:spPr>
          <a:xfrm>
            <a:off x="731520" y="5431680"/>
            <a:ext cx="182160" cy="182160"/>
          </a:xfrm>
          <a:prstGeom prst="rect">
            <a:avLst/>
          </a:prstGeom>
          <a:noFill/>
          <a:ln w="0">
            <a:noFill/>
          </a:ln>
        </p:spPr>
      </p:pic>
      <p:sp>
        <p:nvSpPr>
          <p:cNvPr id="335" name="TextBox 67"/>
          <p:cNvSpPr/>
          <p:nvPr/>
        </p:nvSpPr>
        <p:spPr>
          <a:xfrm>
            <a:off x="1097280" y="5321880"/>
            <a:ext cx="4754160" cy="4197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100" b="1" u="none" strike="noStrike">
                <a:solidFill>
                  <a:srgbClr val="0B1A2B"/>
                </a:solidFill>
                <a:effectLst/>
                <a:uFillTx/>
                <a:latin typeface="Arial"/>
              </a:rPr>
              <a:t>Risk: </a:t>
            </a:r>
            <a:r>
              <a:rPr lang="en-US" sz="1100" b="0" u="none" strike="noStrike">
                <a:solidFill>
                  <a:srgbClr val="2B3947"/>
                </a:solidFill>
                <a:effectLst/>
                <a:uFillTx/>
                <a:latin typeface="Arial"/>
              </a:rPr>
              <a:t>Fewer customer-facing incidents and hotfix releases.</a:t>
            </a:r>
            <a:endParaRPr lang="en-US" sz="1100" b="0" u="none" strike="noStrike">
              <a:solidFill>
                <a:srgbClr val="000000"/>
              </a:solidFill>
              <a:effectLst/>
              <a:uFillTx/>
              <a:latin typeface="Arial"/>
            </a:endParaRPr>
          </a:p>
        </p:txBody>
      </p:sp>
      <p:sp>
        <p:nvSpPr>
          <p:cNvPr id="336" name="Oval 68"/>
          <p:cNvSpPr/>
          <p:nvPr/>
        </p:nvSpPr>
        <p:spPr>
          <a:xfrm>
            <a:off x="658440" y="5806440"/>
            <a:ext cx="328320" cy="328320"/>
          </a:xfrm>
          <a:prstGeom prst="ellipse">
            <a:avLst/>
          </a:prstGeom>
          <a:solidFill>
            <a:srgbClr val="EFE9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lnSpc>
                <a:spcPct val="100000"/>
              </a:lnSpc>
            </a:pPr>
            <a:endParaRPr lang="en-US" sz="1800" b="0" u="none" strike="noStrike">
              <a:solidFill>
                <a:schemeClr val="lt1"/>
              </a:solidFill>
              <a:effectLst/>
              <a:uFillTx/>
              <a:latin typeface="Calibri"/>
            </a:endParaRPr>
          </a:p>
        </p:txBody>
      </p:sp>
      <p:pic>
        <p:nvPicPr>
          <p:cNvPr id="337" name="Picture 69" descr="ic-wallet-7D4DD3.png"/>
          <p:cNvPicPr/>
          <p:nvPr/>
        </p:nvPicPr>
        <p:blipFill>
          <a:blip r:embed="rId9"/>
          <a:stretch/>
        </p:blipFill>
        <p:spPr>
          <a:xfrm>
            <a:off x="731520" y="5879520"/>
            <a:ext cx="182160" cy="182160"/>
          </a:xfrm>
          <a:prstGeom prst="rect">
            <a:avLst/>
          </a:prstGeom>
          <a:noFill/>
          <a:ln w="0">
            <a:noFill/>
          </a:ln>
        </p:spPr>
      </p:pic>
      <p:sp>
        <p:nvSpPr>
          <p:cNvPr id="338" name="TextBox 70"/>
          <p:cNvSpPr/>
          <p:nvPr/>
        </p:nvSpPr>
        <p:spPr>
          <a:xfrm>
            <a:off x="1097280" y="5769720"/>
            <a:ext cx="4754160" cy="4197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100" b="1" u="none" strike="noStrike">
                <a:solidFill>
                  <a:srgbClr val="0B1A2B"/>
                </a:solidFill>
                <a:effectLst/>
                <a:uFillTx/>
                <a:latin typeface="Arial"/>
              </a:rPr>
              <a:t>Cost: </a:t>
            </a:r>
            <a:r>
              <a:rPr lang="en-US" sz="1100" b="0" u="none" strike="noStrike">
                <a:solidFill>
                  <a:srgbClr val="2B3947"/>
                </a:solidFill>
                <a:effectLst/>
                <a:uFillTx/>
                <a:latin typeface="Arial"/>
              </a:rPr>
              <a:t>One platform replaces LD plus manual analysis.</a:t>
            </a:r>
            <a:endParaRPr lang="en-US" sz="1100" b="0" u="none" strike="noStrike">
              <a:solidFill>
                <a:srgbClr val="000000"/>
              </a:solidFill>
              <a:effectLst/>
              <a:uFillTx/>
              <a:latin typeface="Arial"/>
            </a:endParaRPr>
          </a:p>
        </p:txBody>
      </p:sp>
      <p:sp>
        <p:nvSpPr>
          <p:cNvPr id="339" name="Rectangle 71"/>
          <p:cNvSpPr/>
          <p:nvPr/>
        </p:nvSpPr>
        <p:spPr>
          <a:xfrm>
            <a:off x="6172200" y="3977640"/>
            <a:ext cx="5531400" cy="2331000"/>
          </a:xfrm>
          <a:prstGeom prst="rect">
            <a:avLst/>
          </a:prstGeom>
          <a:solidFill>
            <a:srgbClr val="07182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pPr>
              <a:lnSpc>
                <a:spcPct val="100000"/>
              </a:lnSpc>
            </a:pPr>
            <a:endParaRPr lang="en-US" sz="1800" b="0" u="none" strike="noStrike">
              <a:solidFill>
                <a:schemeClr val="lt1"/>
              </a:solidFill>
              <a:effectLst/>
              <a:uFillTx/>
              <a:latin typeface="Calibri"/>
            </a:endParaRPr>
          </a:p>
        </p:txBody>
      </p:sp>
      <p:sp>
        <p:nvSpPr>
          <p:cNvPr id="340" name="TextBox 72"/>
          <p:cNvSpPr/>
          <p:nvPr/>
        </p:nvSpPr>
        <p:spPr>
          <a:xfrm>
            <a:off x="6355080" y="4114800"/>
            <a:ext cx="5211360" cy="27360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100" b="1" u="none" strike="noStrike">
                <a:solidFill>
                  <a:srgbClr val="C8F169"/>
                </a:solidFill>
                <a:effectLst/>
                <a:uFillTx/>
                <a:latin typeface="Arial"/>
              </a:rPr>
              <a:t>OUR ASK TODAY</a:t>
            </a:r>
            <a:endParaRPr lang="en-US" sz="1100" b="0" u="none" strike="noStrike">
              <a:solidFill>
                <a:srgbClr val="000000"/>
              </a:solidFill>
              <a:effectLst/>
              <a:uFillTx/>
              <a:latin typeface="Arial"/>
            </a:endParaRPr>
          </a:p>
        </p:txBody>
      </p:sp>
      <p:pic>
        <p:nvPicPr>
          <p:cNvPr id="341" name="Picture 73" descr="ic-user-check-C8F169.png"/>
          <p:cNvPicPr/>
          <p:nvPr/>
        </p:nvPicPr>
        <p:blipFill>
          <a:blip r:embed="rId10"/>
          <a:stretch/>
        </p:blipFill>
        <p:spPr>
          <a:xfrm>
            <a:off x="6373440" y="4535280"/>
            <a:ext cx="236880" cy="236880"/>
          </a:xfrm>
          <a:prstGeom prst="rect">
            <a:avLst/>
          </a:prstGeom>
          <a:noFill/>
          <a:ln w="0">
            <a:noFill/>
          </a:ln>
        </p:spPr>
      </p:pic>
      <p:sp>
        <p:nvSpPr>
          <p:cNvPr id="342" name="TextBox 74"/>
          <p:cNvSpPr/>
          <p:nvPr/>
        </p:nvSpPr>
        <p:spPr>
          <a:xfrm>
            <a:off x="6766560" y="4498920"/>
            <a:ext cx="4799880" cy="3103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350" b="0" u="none" strike="noStrike">
                <a:solidFill>
                  <a:srgbClr val="FFFFFF"/>
                </a:solidFill>
                <a:effectLst/>
                <a:uFillTx/>
                <a:latin typeface="Arial"/>
              </a:rPr>
              <a:t>Name an executive sponsor and a pilot squad.</a:t>
            </a:r>
            <a:endParaRPr lang="en-US" sz="1350" b="0" u="none" strike="noStrike">
              <a:solidFill>
                <a:srgbClr val="000000"/>
              </a:solidFill>
              <a:effectLst/>
              <a:uFillTx/>
              <a:latin typeface="Arial"/>
            </a:endParaRPr>
          </a:p>
        </p:txBody>
      </p:sp>
      <p:pic>
        <p:nvPicPr>
          <p:cNvPr id="343" name="Picture 75" descr="ic-calendar-check-C8F169.png"/>
          <p:cNvPicPr/>
          <p:nvPr/>
        </p:nvPicPr>
        <p:blipFill>
          <a:blip r:embed="rId11"/>
          <a:stretch/>
        </p:blipFill>
        <p:spPr>
          <a:xfrm>
            <a:off x="6373440" y="4937760"/>
            <a:ext cx="236880" cy="236880"/>
          </a:xfrm>
          <a:prstGeom prst="rect">
            <a:avLst/>
          </a:prstGeom>
          <a:noFill/>
          <a:ln w="0">
            <a:noFill/>
          </a:ln>
        </p:spPr>
      </p:pic>
      <p:sp>
        <p:nvSpPr>
          <p:cNvPr id="344" name="TextBox 76"/>
          <p:cNvSpPr/>
          <p:nvPr/>
        </p:nvSpPr>
        <p:spPr>
          <a:xfrm>
            <a:off x="6766560" y="4901040"/>
            <a:ext cx="4799880" cy="3103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350" b="0" u="none" strike="noStrike">
                <a:solidFill>
                  <a:srgbClr val="FFFFFF"/>
                </a:solidFill>
                <a:effectLst/>
                <a:uFillTx/>
                <a:latin typeface="Arial"/>
              </a:rPr>
              <a:t>Book the week 1 workshop before we leave the room.</a:t>
            </a:r>
            <a:endParaRPr lang="en-US" sz="1350" b="0" u="none" strike="noStrike">
              <a:solidFill>
                <a:srgbClr val="000000"/>
              </a:solidFill>
              <a:effectLst/>
              <a:uFillTx/>
              <a:latin typeface="Arial"/>
            </a:endParaRPr>
          </a:p>
        </p:txBody>
      </p:sp>
      <p:pic>
        <p:nvPicPr>
          <p:cNvPr id="345" name="Picture 77" descr="ic-file-down-C8F169.png"/>
          <p:cNvPicPr/>
          <p:nvPr/>
        </p:nvPicPr>
        <p:blipFill>
          <a:blip r:embed="rId12"/>
          <a:stretch/>
        </p:blipFill>
        <p:spPr>
          <a:xfrm>
            <a:off x="6373440" y="5340240"/>
            <a:ext cx="236880" cy="236880"/>
          </a:xfrm>
          <a:prstGeom prst="rect">
            <a:avLst/>
          </a:prstGeom>
          <a:noFill/>
          <a:ln w="0">
            <a:noFill/>
          </a:ln>
        </p:spPr>
      </p:pic>
      <p:sp>
        <p:nvSpPr>
          <p:cNvPr id="346" name="TextBox 78"/>
          <p:cNvSpPr/>
          <p:nvPr/>
        </p:nvSpPr>
        <p:spPr>
          <a:xfrm>
            <a:off x="6766560" y="5303520"/>
            <a:ext cx="4799880" cy="31032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350" b="0" u="none" strike="noStrike">
                <a:solidFill>
                  <a:srgbClr val="FFFFFF"/>
                </a:solidFill>
                <a:effectLst/>
                <a:uFillTx/>
                <a:latin typeface="Arial"/>
              </a:rPr>
              <a:t>Share the LD flag export and current analytics setup.</a:t>
            </a:r>
            <a:endParaRPr lang="en-US" sz="1350" b="0" u="none" strike="noStrike">
              <a:solidFill>
                <a:srgbClr val="000000"/>
              </a:solidFill>
              <a:effectLst/>
              <a:uFillTx/>
              <a:latin typeface="Arial"/>
            </a:endParaRPr>
          </a:p>
        </p:txBody>
      </p:sp>
      <p:sp>
        <p:nvSpPr>
          <p:cNvPr id="347" name="TextBox 79"/>
          <p:cNvSpPr/>
          <p:nvPr/>
        </p:nvSpPr>
        <p:spPr>
          <a:xfrm>
            <a:off x="6355080" y="5760720"/>
            <a:ext cx="5211360" cy="410760"/>
          </a:xfrm>
          <a:prstGeom prst="rect">
            <a:avLst/>
          </a:prstGeom>
          <a:noFill/>
          <a:ln w="0">
            <a:noFill/>
          </a:ln>
        </p:spPr>
        <p:style>
          <a:lnRef idx="0"/>
          <a:fillRef idx="0"/>
          <a:effectRef idx="0"/>
          <a:fontRef idx="minor"/>
        </p:style>
        <p:txBody>
          <a:bodyPr lIns="0" tIns="0" rIns="0" bIns="0" anchor="ctr">
            <a:spAutoFit/>
          </a:bodyPr>
          <a:p>
            <a:pPr defTabSz="914400">
              <a:lnSpc>
                <a:spcPct val="100000"/>
              </a:lnSpc>
            </a:pPr>
            <a:r>
              <a:rPr lang="en-US" sz="1250" b="0" u="none" strike="noStrike">
                <a:solidFill>
                  <a:srgbClr val="00ADE4"/>
                </a:solidFill>
                <a:effectLst/>
                <a:uFillTx/>
                <a:latin typeface="Arial"/>
              </a:rPr>
              <a:t>One winning experiment on one journey can pay for the platform.</a:t>
            </a:r>
            <a:endParaRPr lang="en-US" sz="1250" b="0" u="none" strike="noStrike">
              <a:solidFill>
                <a:srgbClr val="000000"/>
              </a:solidFill>
              <a:effectLst/>
              <a:uFillTx/>
              <a:latin typeface="Arial"/>
            </a:endParaRPr>
          </a:p>
        </p:txBody>
      </p:sp>
      <p:pic>
        <p:nvPicPr>
          <p:cNvPr id="348" name=""/>
          <p:cNvPicPr/>
          <p:nvPr/>
        </p:nvPicPr>
        <p:blipFill>
          <a:blip r:embed="rId13"/>
          <a:stretch/>
        </p:blipFill>
        <p:spPr>
          <a:xfrm>
            <a:off x="10515600" y="228960"/>
            <a:ext cx="1143360" cy="303120"/>
          </a:xfrm>
          <a:prstGeom prst="rect">
            <a:avLst/>
          </a:prstGeom>
          <a:noFill/>
          <a:ln w="38160">
            <a:noFill/>
          </a:ln>
        </p:spPr>
      </p:pic>
    </p:spTree>
  </p:cSld>
  <mc:AlternateContent>
    <mc:Choice Requires="p14">
      <p:transition spd="slow" p14:dur="2000"/>
    </mc:Choice>
    <mc:Fallback>
      <p:transition spd="slow"/>
    </mc:Fallback>
  </mc:AlternateContent>
  <p:timing>
    <p:tnLst>
      <p:par>
        <p:cTn id="277" dur="indefinite" restart="never" nodeType="tmRoot">
          <p:childTnLst>
            <p:seq>
              <p:cTn id="278" dur="indefinite" nodeType="mainSeq">
                <p:childTnLst>
                  <p:par>
                    <p:cTn id="279" fill="hold">
                      <p:stCondLst>
                        <p:cond delay="indefinite"/>
                      </p:stCondLst>
                      <p:childTnLst>
                        <p:par>
                          <p:cTn id="280" fill="hold">
                            <p:stCondLst>
                              <p:cond delay="0"/>
                            </p:stCondLst>
                            <p:childTnLst>
                              <p:par>
                                <p:cTn id="281" presetID="1" presetClass="entr" fill="hold" nodeType="clickEffect">
                                  <p:stCondLst>
                                    <p:cond delay="0"/>
                                  </p:stCondLst>
                                  <p:childTnLst>
                                    <p:set>
                                      <p:cBhvr>
                                        <p:cTn id="282" dur="1" fill="hold">
                                          <p:stCondLst>
                                            <p:cond delay="0"/>
                                          </p:stCondLst>
                                        </p:cTn>
                                        <p:tgtEl>
                                          <p:spTgt spid="324"/>
                                        </p:tgtEl>
                                        <p:attrNameLst>
                                          <p:attrName>style.visibility</p:attrName>
                                        </p:attrNameLst>
                                      </p:cBhvr>
                                      <p:to>
                                        <p:strVal val="visible"/>
                                      </p:to>
                                    </p:set>
                                  </p:childTnLst>
                                </p:cTn>
                              </p:par>
                              <p:par>
                                <p:cTn id="283" presetID="1" presetClass="entr" fill="hold" nodeType="withEffect">
                                  <p:stCondLst>
                                    <p:cond delay="0"/>
                                  </p:stCondLst>
                                  <p:childTnLst>
                                    <p:set>
                                      <p:cBhvr>
                                        <p:cTn id="284" dur="1" fill="hold">
                                          <p:stCondLst>
                                            <p:cond delay="0"/>
                                          </p:stCondLst>
                                        </p:cTn>
                                        <p:tgtEl>
                                          <p:spTgt spid="325"/>
                                        </p:tgtEl>
                                        <p:attrNameLst>
                                          <p:attrName>style.visibility</p:attrName>
                                        </p:attrNameLst>
                                      </p:cBhvr>
                                      <p:to>
                                        <p:strVal val="visible"/>
                                      </p:to>
                                    </p:set>
                                  </p:childTnLst>
                                </p:cTn>
                              </p:par>
                              <p:par>
                                <p:cTn id="285" presetID="1" presetClass="entr" fill="hold" nodeType="withEffect">
                                  <p:stCondLst>
                                    <p:cond delay="0"/>
                                  </p:stCondLst>
                                  <p:childTnLst>
                                    <p:set>
                                      <p:cBhvr>
                                        <p:cTn id="286" dur="1" fill="hold">
                                          <p:stCondLst>
                                            <p:cond delay="0"/>
                                          </p:stCondLst>
                                        </p:cTn>
                                        <p:tgtEl>
                                          <p:spTgt spid="326"/>
                                        </p:tgtEl>
                                        <p:attrNameLst>
                                          <p:attrName>style.visibility</p:attrName>
                                        </p:attrNameLst>
                                      </p:cBhvr>
                                      <p:to>
                                        <p:strVal val="visible"/>
                                      </p:to>
                                    </p:set>
                                  </p:childTnLst>
                                </p:cTn>
                              </p:par>
                              <p:par>
                                <p:cTn id="287" presetID="1" presetClass="entr" fill="hold" nodeType="withEffect">
                                  <p:stCondLst>
                                    <p:cond delay="0"/>
                                  </p:stCondLst>
                                  <p:childTnLst>
                                    <p:set>
                                      <p:cBhvr>
                                        <p:cTn id="288" dur="1" fill="hold">
                                          <p:stCondLst>
                                            <p:cond delay="0"/>
                                          </p:stCondLst>
                                        </p:cTn>
                                        <p:tgtEl>
                                          <p:spTgt spid="327"/>
                                        </p:tgtEl>
                                        <p:attrNameLst>
                                          <p:attrName>style.visibility</p:attrName>
                                        </p:attrNameLst>
                                      </p:cBhvr>
                                      <p:to>
                                        <p:strVal val="visible"/>
                                      </p:to>
                                    </p:set>
                                  </p:childTnLst>
                                </p:cTn>
                              </p:par>
                              <p:par>
                                <p:cTn id="289" presetID="1" presetClass="entr" fill="hold" nodeType="withEffect">
                                  <p:stCondLst>
                                    <p:cond delay="0"/>
                                  </p:stCondLst>
                                  <p:childTnLst>
                                    <p:set>
                                      <p:cBhvr>
                                        <p:cTn id="290" dur="1" fill="hold">
                                          <p:stCondLst>
                                            <p:cond delay="0"/>
                                          </p:stCondLst>
                                        </p:cTn>
                                        <p:tgtEl>
                                          <p:spTgt spid="328"/>
                                        </p:tgtEl>
                                        <p:attrNameLst>
                                          <p:attrName>style.visibility</p:attrName>
                                        </p:attrNameLst>
                                      </p:cBhvr>
                                      <p:to>
                                        <p:strVal val="visible"/>
                                      </p:to>
                                    </p:set>
                                  </p:childTnLst>
                                </p:cTn>
                              </p:par>
                              <p:par>
                                <p:cTn id="291" presetID="1" presetClass="entr" fill="hold" nodeType="withEffect">
                                  <p:stCondLst>
                                    <p:cond delay="0"/>
                                  </p:stCondLst>
                                  <p:childTnLst>
                                    <p:set>
                                      <p:cBhvr>
                                        <p:cTn id="292" dur="1" fill="hold">
                                          <p:stCondLst>
                                            <p:cond delay="0"/>
                                          </p:stCondLst>
                                        </p:cTn>
                                        <p:tgtEl>
                                          <p:spTgt spid="329"/>
                                        </p:tgtEl>
                                        <p:attrNameLst>
                                          <p:attrName>style.visibility</p:attrName>
                                        </p:attrNameLst>
                                      </p:cBhvr>
                                      <p:to>
                                        <p:strVal val="visible"/>
                                      </p:to>
                                    </p:set>
                                  </p:childTnLst>
                                </p:cTn>
                              </p:par>
                              <p:par>
                                <p:cTn id="293" presetID="1" presetClass="entr" fill="hold" nodeType="withEffect">
                                  <p:stCondLst>
                                    <p:cond delay="0"/>
                                  </p:stCondLst>
                                  <p:childTnLst>
                                    <p:set>
                                      <p:cBhvr>
                                        <p:cTn id="294" dur="1" fill="hold">
                                          <p:stCondLst>
                                            <p:cond delay="0"/>
                                          </p:stCondLst>
                                        </p:cTn>
                                        <p:tgtEl>
                                          <p:spTgt spid="330"/>
                                        </p:tgtEl>
                                        <p:attrNameLst>
                                          <p:attrName>style.visibility</p:attrName>
                                        </p:attrNameLst>
                                      </p:cBhvr>
                                      <p:to>
                                        <p:strVal val="visible"/>
                                      </p:to>
                                    </p:set>
                                  </p:childTnLst>
                                </p:cTn>
                              </p:par>
                              <p:par>
                                <p:cTn id="295" presetID="1" presetClass="entr" fill="hold" nodeType="withEffect">
                                  <p:stCondLst>
                                    <p:cond delay="0"/>
                                  </p:stCondLst>
                                  <p:childTnLst>
                                    <p:set>
                                      <p:cBhvr>
                                        <p:cTn id="296" dur="1" fill="hold">
                                          <p:stCondLst>
                                            <p:cond delay="0"/>
                                          </p:stCondLst>
                                        </p:cTn>
                                        <p:tgtEl>
                                          <p:spTgt spid="331"/>
                                        </p:tgtEl>
                                        <p:attrNameLst>
                                          <p:attrName>style.visibility</p:attrName>
                                        </p:attrNameLst>
                                      </p:cBhvr>
                                      <p:to>
                                        <p:strVal val="visible"/>
                                      </p:to>
                                    </p:set>
                                  </p:childTnLst>
                                </p:cTn>
                              </p:par>
                              <p:par>
                                <p:cTn id="297" presetID="1" presetClass="entr" fill="hold" nodeType="withEffect">
                                  <p:stCondLst>
                                    <p:cond delay="0"/>
                                  </p:stCondLst>
                                  <p:childTnLst>
                                    <p:set>
                                      <p:cBhvr>
                                        <p:cTn id="298" dur="1" fill="hold">
                                          <p:stCondLst>
                                            <p:cond delay="0"/>
                                          </p:stCondLst>
                                        </p:cTn>
                                        <p:tgtEl>
                                          <p:spTgt spid="332"/>
                                        </p:tgtEl>
                                        <p:attrNameLst>
                                          <p:attrName>style.visibility</p:attrName>
                                        </p:attrNameLst>
                                      </p:cBhvr>
                                      <p:to>
                                        <p:strVal val="visible"/>
                                      </p:to>
                                    </p:set>
                                  </p:childTnLst>
                                </p:cTn>
                              </p:par>
                              <p:par>
                                <p:cTn id="299" presetID="1" presetClass="entr" fill="hold" nodeType="withEffect">
                                  <p:stCondLst>
                                    <p:cond delay="0"/>
                                  </p:stCondLst>
                                  <p:childTnLst>
                                    <p:set>
                                      <p:cBhvr>
                                        <p:cTn id="300" dur="1" fill="hold">
                                          <p:stCondLst>
                                            <p:cond delay="0"/>
                                          </p:stCondLst>
                                        </p:cTn>
                                        <p:tgtEl>
                                          <p:spTgt spid="333"/>
                                        </p:tgtEl>
                                        <p:attrNameLst>
                                          <p:attrName>style.visibility</p:attrName>
                                        </p:attrNameLst>
                                      </p:cBhvr>
                                      <p:to>
                                        <p:strVal val="visible"/>
                                      </p:to>
                                    </p:set>
                                  </p:childTnLst>
                                </p:cTn>
                              </p:par>
                              <p:par>
                                <p:cTn id="301" presetID="1" presetClass="entr" fill="hold" nodeType="withEffect">
                                  <p:stCondLst>
                                    <p:cond delay="0"/>
                                  </p:stCondLst>
                                  <p:childTnLst>
                                    <p:set>
                                      <p:cBhvr>
                                        <p:cTn id="302" dur="1" fill="hold">
                                          <p:stCondLst>
                                            <p:cond delay="0"/>
                                          </p:stCondLst>
                                        </p:cTn>
                                        <p:tgtEl>
                                          <p:spTgt spid="334"/>
                                        </p:tgtEl>
                                        <p:attrNameLst>
                                          <p:attrName>style.visibility</p:attrName>
                                        </p:attrNameLst>
                                      </p:cBhvr>
                                      <p:to>
                                        <p:strVal val="visible"/>
                                      </p:to>
                                    </p:set>
                                  </p:childTnLst>
                                </p:cTn>
                              </p:par>
                              <p:par>
                                <p:cTn id="303" presetID="1" presetClass="entr" fill="hold" nodeType="withEffect">
                                  <p:stCondLst>
                                    <p:cond delay="0"/>
                                  </p:stCondLst>
                                  <p:childTnLst>
                                    <p:set>
                                      <p:cBhvr>
                                        <p:cTn id="304" dur="1" fill="hold">
                                          <p:stCondLst>
                                            <p:cond delay="0"/>
                                          </p:stCondLst>
                                        </p:cTn>
                                        <p:tgtEl>
                                          <p:spTgt spid="335"/>
                                        </p:tgtEl>
                                        <p:attrNameLst>
                                          <p:attrName>style.visibility</p:attrName>
                                        </p:attrNameLst>
                                      </p:cBhvr>
                                      <p:to>
                                        <p:strVal val="visible"/>
                                      </p:to>
                                    </p:set>
                                  </p:childTnLst>
                                </p:cTn>
                              </p:par>
                              <p:par>
                                <p:cTn id="305" presetID="1" presetClass="entr" fill="hold" nodeType="withEffect">
                                  <p:stCondLst>
                                    <p:cond delay="0"/>
                                  </p:stCondLst>
                                  <p:childTnLst>
                                    <p:set>
                                      <p:cBhvr>
                                        <p:cTn id="306" dur="1" fill="hold">
                                          <p:stCondLst>
                                            <p:cond delay="0"/>
                                          </p:stCondLst>
                                        </p:cTn>
                                        <p:tgtEl>
                                          <p:spTgt spid="336"/>
                                        </p:tgtEl>
                                        <p:attrNameLst>
                                          <p:attrName>style.visibility</p:attrName>
                                        </p:attrNameLst>
                                      </p:cBhvr>
                                      <p:to>
                                        <p:strVal val="visible"/>
                                      </p:to>
                                    </p:set>
                                  </p:childTnLst>
                                </p:cTn>
                              </p:par>
                              <p:par>
                                <p:cTn id="307" presetID="1" presetClass="entr" fill="hold" nodeType="withEffect">
                                  <p:stCondLst>
                                    <p:cond delay="0"/>
                                  </p:stCondLst>
                                  <p:childTnLst>
                                    <p:set>
                                      <p:cBhvr>
                                        <p:cTn id="308" dur="1" fill="hold">
                                          <p:stCondLst>
                                            <p:cond delay="0"/>
                                          </p:stCondLst>
                                        </p:cTn>
                                        <p:tgtEl>
                                          <p:spTgt spid="337"/>
                                        </p:tgtEl>
                                        <p:attrNameLst>
                                          <p:attrName>style.visibility</p:attrName>
                                        </p:attrNameLst>
                                      </p:cBhvr>
                                      <p:to>
                                        <p:strVal val="visible"/>
                                      </p:to>
                                    </p:set>
                                  </p:childTnLst>
                                </p:cTn>
                              </p:par>
                              <p:par>
                                <p:cTn id="309" presetID="1" presetClass="entr" fill="hold" nodeType="withEffect">
                                  <p:stCondLst>
                                    <p:cond delay="0"/>
                                  </p:stCondLst>
                                  <p:childTnLst>
                                    <p:set>
                                      <p:cBhvr>
                                        <p:cTn id="310" dur="1" fill="hold">
                                          <p:stCondLst>
                                            <p:cond delay="0"/>
                                          </p:stCondLst>
                                        </p:cTn>
                                        <p:tgtEl>
                                          <p:spTgt spid="338"/>
                                        </p:tgtEl>
                                        <p:attrNameLst>
                                          <p:attrName>style.visibility</p:attrName>
                                        </p:attrNameLst>
                                      </p:cBhvr>
                                      <p:to>
                                        <p:strVal val="visible"/>
                                      </p:to>
                                    </p:set>
                                  </p:childTnLst>
                                </p:cTn>
                              </p:par>
                            </p:childTnLst>
                          </p:cTn>
                        </p:par>
                      </p:childTnLst>
                    </p:cTn>
                  </p:par>
                  <p:par>
                    <p:cTn id="311" fill="hold">
                      <p:stCondLst>
                        <p:cond delay="indefinite"/>
                      </p:stCondLst>
                      <p:childTnLst>
                        <p:par>
                          <p:cTn id="312" fill="hold">
                            <p:stCondLst>
                              <p:cond delay="0"/>
                            </p:stCondLst>
                            <p:childTnLst>
                              <p:par>
                                <p:cTn id="313" presetID="1" presetClass="entr" fill="hold" nodeType="clickEffect">
                                  <p:stCondLst>
                                    <p:cond delay="0"/>
                                  </p:stCondLst>
                                  <p:childTnLst>
                                    <p:set>
                                      <p:cBhvr>
                                        <p:cTn id="314" dur="1" fill="hold">
                                          <p:stCondLst>
                                            <p:cond delay="0"/>
                                          </p:stCondLst>
                                        </p:cTn>
                                        <p:tgtEl>
                                          <p:spTgt spid="339"/>
                                        </p:tgtEl>
                                        <p:attrNameLst>
                                          <p:attrName>style.visibility</p:attrName>
                                        </p:attrNameLst>
                                      </p:cBhvr>
                                      <p:to>
                                        <p:strVal val="visible"/>
                                      </p:to>
                                    </p:set>
                                  </p:childTnLst>
                                </p:cTn>
                              </p:par>
                              <p:par>
                                <p:cTn id="315" presetID="1" presetClass="entr" fill="hold" nodeType="withEffect">
                                  <p:stCondLst>
                                    <p:cond delay="0"/>
                                  </p:stCondLst>
                                  <p:childTnLst>
                                    <p:set>
                                      <p:cBhvr>
                                        <p:cTn id="316" dur="1" fill="hold">
                                          <p:stCondLst>
                                            <p:cond delay="0"/>
                                          </p:stCondLst>
                                        </p:cTn>
                                        <p:tgtEl>
                                          <p:spTgt spid="340"/>
                                        </p:tgtEl>
                                        <p:attrNameLst>
                                          <p:attrName>style.visibility</p:attrName>
                                        </p:attrNameLst>
                                      </p:cBhvr>
                                      <p:to>
                                        <p:strVal val="visible"/>
                                      </p:to>
                                    </p:set>
                                  </p:childTnLst>
                                </p:cTn>
                              </p:par>
                              <p:par>
                                <p:cTn id="317" presetID="1" presetClass="entr" fill="hold" nodeType="withEffect">
                                  <p:stCondLst>
                                    <p:cond delay="0"/>
                                  </p:stCondLst>
                                  <p:childTnLst>
                                    <p:set>
                                      <p:cBhvr>
                                        <p:cTn id="318" dur="1" fill="hold">
                                          <p:stCondLst>
                                            <p:cond delay="0"/>
                                          </p:stCondLst>
                                        </p:cTn>
                                        <p:tgtEl>
                                          <p:spTgt spid="341"/>
                                        </p:tgtEl>
                                        <p:attrNameLst>
                                          <p:attrName>style.visibility</p:attrName>
                                        </p:attrNameLst>
                                      </p:cBhvr>
                                      <p:to>
                                        <p:strVal val="visible"/>
                                      </p:to>
                                    </p:set>
                                  </p:childTnLst>
                                </p:cTn>
                              </p:par>
                              <p:par>
                                <p:cTn id="319" presetID="1" presetClass="entr" fill="hold" nodeType="withEffect">
                                  <p:stCondLst>
                                    <p:cond delay="0"/>
                                  </p:stCondLst>
                                  <p:childTnLst>
                                    <p:set>
                                      <p:cBhvr>
                                        <p:cTn id="320" dur="1" fill="hold">
                                          <p:stCondLst>
                                            <p:cond delay="0"/>
                                          </p:stCondLst>
                                        </p:cTn>
                                        <p:tgtEl>
                                          <p:spTgt spid="342"/>
                                        </p:tgtEl>
                                        <p:attrNameLst>
                                          <p:attrName>style.visibility</p:attrName>
                                        </p:attrNameLst>
                                      </p:cBhvr>
                                      <p:to>
                                        <p:strVal val="visible"/>
                                      </p:to>
                                    </p:set>
                                  </p:childTnLst>
                                </p:cTn>
                              </p:par>
                              <p:par>
                                <p:cTn id="321" presetID="1" presetClass="entr" fill="hold" nodeType="withEffect">
                                  <p:stCondLst>
                                    <p:cond delay="0"/>
                                  </p:stCondLst>
                                  <p:childTnLst>
                                    <p:set>
                                      <p:cBhvr>
                                        <p:cTn id="322" dur="1" fill="hold">
                                          <p:stCondLst>
                                            <p:cond delay="0"/>
                                          </p:stCondLst>
                                        </p:cTn>
                                        <p:tgtEl>
                                          <p:spTgt spid="343"/>
                                        </p:tgtEl>
                                        <p:attrNameLst>
                                          <p:attrName>style.visibility</p:attrName>
                                        </p:attrNameLst>
                                      </p:cBhvr>
                                      <p:to>
                                        <p:strVal val="visible"/>
                                      </p:to>
                                    </p:set>
                                  </p:childTnLst>
                                </p:cTn>
                              </p:par>
                              <p:par>
                                <p:cTn id="323" presetID="1" presetClass="entr" fill="hold" nodeType="withEffect">
                                  <p:stCondLst>
                                    <p:cond delay="0"/>
                                  </p:stCondLst>
                                  <p:childTnLst>
                                    <p:set>
                                      <p:cBhvr>
                                        <p:cTn id="324" dur="1" fill="hold">
                                          <p:stCondLst>
                                            <p:cond delay="0"/>
                                          </p:stCondLst>
                                        </p:cTn>
                                        <p:tgtEl>
                                          <p:spTgt spid="344"/>
                                        </p:tgtEl>
                                        <p:attrNameLst>
                                          <p:attrName>style.visibility</p:attrName>
                                        </p:attrNameLst>
                                      </p:cBhvr>
                                      <p:to>
                                        <p:strVal val="visible"/>
                                      </p:to>
                                    </p:set>
                                  </p:childTnLst>
                                </p:cTn>
                              </p:par>
                              <p:par>
                                <p:cTn id="325" presetID="1" presetClass="entr" fill="hold" nodeType="withEffect">
                                  <p:stCondLst>
                                    <p:cond delay="0"/>
                                  </p:stCondLst>
                                  <p:childTnLst>
                                    <p:set>
                                      <p:cBhvr>
                                        <p:cTn id="326" dur="1" fill="hold">
                                          <p:stCondLst>
                                            <p:cond delay="0"/>
                                          </p:stCondLst>
                                        </p:cTn>
                                        <p:tgtEl>
                                          <p:spTgt spid="345"/>
                                        </p:tgtEl>
                                        <p:attrNameLst>
                                          <p:attrName>style.visibility</p:attrName>
                                        </p:attrNameLst>
                                      </p:cBhvr>
                                      <p:to>
                                        <p:strVal val="visible"/>
                                      </p:to>
                                    </p:set>
                                  </p:childTnLst>
                                </p:cTn>
                              </p:par>
                              <p:par>
                                <p:cTn id="327" presetID="1" presetClass="entr" fill="hold" nodeType="withEffect">
                                  <p:stCondLst>
                                    <p:cond delay="0"/>
                                  </p:stCondLst>
                                  <p:childTnLst>
                                    <p:set>
                                      <p:cBhvr>
                                        <p:cTn id="328" dur="1" fill="hold">
                                          <p:stCondLst>
                                            <p:cond delay="0"/>
                                          </p:stCondLst>
                                        </p:cTn>
                                        <p:tgtEl>
                                          <p:spTgt spid="346"/>
                                        </p:tgtEl>
                                        <p:attrNameLst>
                                          <p:attrName>style.visibility</p:attrName>
                                        </p:attrNameLst>
                                      </p:cBhvr>
                                      <p:to>
                                        <p:strVal val="visible"/>
                                      </p:to>
                                    </p:set>
                                  </p:childTnLst>
                                </p:cTn>
                              </p:par>
                              <p:par>
                                <p:cTn id="329" presetID="1" presetClass="entr" fill="hold" nodeType="withEffect">
                                  <p:stCondLst>
                                    <p:cond delay="0"/>
                                  </p:stCondLst>
                                  <p:childTnLst>
                                    <p:set>
                                      <p:cBhvr>
                                        <p:cTn id="330" dur="1" fill="hold">
                                          <p:stCondLst>
                                            <p:cond delay="0"/>
                                          </p:stCondLst>
                                        </p:cTn>
                                        <p:tgtEl>
                                          <p:spTgt spid="3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7182B"/>
        </a:solidFill>
      </p:bgPr>
    </p:bg>
    <p:spTree>
      <p:nvGrpSpPr>
        <p:cNvPr id="1" name=""/>
        <p:cNvGrpSpPr/>
        <p:nvPr/>
      </p:nvGrpSpPr>
      <p:grpSpPr>
        <a:xfrm>
          <a:off x="0" y="0"/>
          <a:ext cx="0" cy="0"/>
          <a:chOff x="0" y="0"/>
          <a:chExt cx="0" cy="0"/>
        </a:xfrm>
      </p:grpSpPr>
      <p:sp>
        <p:nvSpPr>
          <p:cNvPr id="349" name="Text 29"/>
          <p:cNvSpPr/>
          <p:nvPr/>
        </p:nvSpPr>
        <p:spPr>
          <a:xfrm>
            <a:off x="457200" y="6464880"/>
            <a:ext cx="2742480" cy="3650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200" b="1" u="none" strike="noStrike">
                <a:solidFill>
                  <a:srgbClr val="FFFFFF"/>
                </a:solidFill>
                <a:effectLst/>
                <a:uFillTx/>
                <a:latin typeface="Arial"/>
                <a:ea typeface="Arial"/>
              </a:rPr>
              <a:t>harness</a:t>
            </a:r>
            <a:r>
              <a:rPr lang="en-US" sz="1200" b="1" u="none" strike="noStrike">
                <a:solidFill>
                  <a:srgbClr val="00ADE4"/>
                </a:solidFill>
                <a:effectLst/>
                <a:uFillTx/>
                <a:latin typeface="Arial"/>
                <a:ea typeface="Arial"/>
              </a:rPr>
              <a:t>  FME</a:t>
            </a:r>
            <a:endParaRPr lang="en-US" sz="1200" b="0" u="none" strike="noStrike">
              <a:solidFill>
                <a:srgbClr val="FFFFFF"/>
              </a:solidFill>
              <a:effectLst/>
              <a:uFillTx/>
              <a:latin typeface="Arial"/>
            </a:endParaRPr>
          </a:p>
        </p:txBody>
      </p:sp>
      <p:sp>
        <p:nvSpPr>
          <p:cNvPr id="350" name="Text 30"/>
          <p:cNvSpPr/>
          <p:nvPr/>
        </p:nvSpPr>
        <p:spPr>
          <a:xfrm>
            <a:off x="5943600" y="6464880"/>
            <a:ext cx="5211360" cy="3650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900" b="0" u="none" strike="noStrike">
                <a:solidFill>
                  <a:srgbClr val="9FB3C8"/>
                </a:solidFill>
                <a:effectLst/>
                <a:uFillTx/>
                <a:latin typeface="Arial"/>
                <a:ea typeface="Arial"/>
              </a:rPr>
              <a:t>Odido × Harness  |  Confidential</a:t>
            </a:r>
            <a:endParaRPr lang="en-US" sz="900" b="0" u="none" strike="noStrike">
              <a:solidFill>
                <a:srgbClr val="FFFFFF"/>
              </a:solidFill>
              <a:effectLst/>
              <a:uFillTx/>
              <a:latin typeface="Arial"/>
            </a:endParaRPr>
          </a:p>
        </p:txBody>
      </p:sp>
      <p:sp>
        <p:nvSpPr>
          <p:cNvPr id="351" name="Shape 2"/>
          <p:cNvSpPr/>
          <p:nvPr/>
        </p:nvSpPr>
        <p:spPr>
          <a:xfrm>
            <a:off x="7863840" y="-2194560"/>
            <a:ext cx="6765840" cy="6765840"/>
          </a:xfrm>
          <a:prstGeom prst="ellipse">
            <a:avLst/>
          </a:prstGeom>
          <a:solidFill>
            <a:srgbClr val="0278D5">
              <a:alpha val="75000"/>
            </a:srgbClr>
          </a:solidFill>
          <a:ln w="12700">
            <a:solidFill>
              <a:srgbClr val="0278D5">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352" name="Shape 3"/>
          <p:cNvSpPr/>
          <p:nvPr/>
        </p:nvSpPr>
        <p:spPr>
          <a:xfrm>
            <a:off x="9692640" y="1828800"/>
            <a:ext cx="3839760" cy="3839760"/>
          </a:xfrm>
          <a:prstGeom prst="ellipse">
            <a:avLst/>
          </a:prstGeom>
          <a:solidFill>
            <a:srgbClr val="7D4DD3">
              <a:alpha val="70000"/>
            </a:srgbClr>
          </a:solidFill>
          <a:ln w="12700">
            <a:solidFill>
              <a:srgbClr val="7D4DD3">
                <a:alpha val="0"/>
              </a:srgbClr>
            </a:solidFill>
            <a:round/>
          </a:ln>
        </p:spPr>
        <p:style>
          <a:lnRef idx="0"/>
          <a:fillRef idx="0"/>
          <a:effectRef idx="0"/>
          <a:fontRef idx="minor"/>
        </p:style>
        <p:txBody>
          <a:bodyPr lIns="90000" tIns="45000" rIns="90000" bIns="45000" anchor="t">
            <a:noAutofit/>
          </a:bodyPr>
          <a:p>
            <a:pPr/>
            <a:endParaRPr lang="en-US" sz="1800" b="0" u="none" strike="noStrike">
              <a:solidFill>
                <a:schemeClr val="dk1"/>
              </a:solidFill>
              <a:effectLst/>
              <a:uFillTx/>
              <a:latin typeface="Calibri"/>
            </a:endParaRPr>
          </a:p>
        </p:txBody>
      </p:sp>
      <p:sp>
        <p:nvSpPr>
          <p:cNvPr id="353" name="PlaceHolder 1"/>
          <p:cNvSpPr>
            <a:spLocks noGrp="1"/>
          </p:cNvSpPr>
          <p:nvPr>
            <p:ph type="sldNum" idx="16"/>
          </p:nvPr>
        </p:nvSpPr>
        <p:spPr>
          <a:xfrm>
            <a:off x="11338560" y="6519600"/>
            <a:ext cx="456480" cy="27360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en-US" sz="900" b="0" u="none" strike="noStrike">
                <a:solidFill>
                  <a:srgbClr val="9FB3C8"/>
                </a:solidFill>
                <a:effectLst/>
                <a:uFillTx/>
                <a:latin typeface="Arial"/>
                <a:ea typeface="Arial"/>
              </a:defRPr>
            </a:lvl1pPr>
          </a:lstStyle>
          <a:p>
            <a:pPr indent="0" algn="l" defTabSz="914400">
              <a:lnSpc>
                <a:spcPct val="100000"/>
              </a:lnSpc>
              <a:buNone/>
              <a:tabLst>
                <a:tab pos="0" algn="l"/>
              </a:tabLst>
            </a:pPr>
            <a:fld id="{3945DD9A-B8F4-4BD5-B8B8-2D172A180EC1}" type="slidenum">
              <a:rPr lang="en-US" sz="900" b="0" u="none" strike="noStrike">
                <a:solidFill>
                  <a:srgbClr val="9FB3C8"/>
                </a:solidFill>
                <a:effectLst/>
                <a:uFillTx/>
                <a:latin typeface="Arial"/>
                <a:ea typeface="Arial"/>
              </a:rPr>
              <a:t>&lt;number&gt;</a:t>
            </a:fld>
            <a:endParaRPr lang="en-US" sz="900" b="0" u="none" strike="noStrike">
              <a:solidFill>
                <a:srgbClr val="FFFFFF"/>
              </a:solidFill>
              <a:effectLst/>
              <a:uFillTx/>
              <a:latin typeface="Times New Roman"/>
            </a:endParaRPr>
          </a:p>
        </p:txBody>
      </p:sp>
      <p:sp>
        <p:nvSpPr>
          <p:cNvPr id="354" name="Rectangle 25"/>
          <p:cNvSpPr/>
          <p:nvPr/>
        </p:nvSpPr>
        <p:spPr>
          <a:xfrm>
            <a:off x="548640" y="2240280"/>
            <a:ext cx="822240" cy="63360"/>
          </a:xfrm>
          <a:prstGeom prst="rect">
            <a:avLst/>
          </a:prstGeom>
          <a:solidFill>
            <a:srgbClr val="E79A00"/>
          </a:solidFill>
          <a:ln>
            <a:noFill/>
          </a:ln>
        </p:spPr>
        <p:style>
          <a:lnRef idx="1">
            <a:schemeClr val="accent1"/>
          </a:lnRef>
          <a:fillRef idx="3">
            <a:schemeClr val="accent1"/>
          </a:fillRef>
          <a:effectRef idx="2">
            <a:schemeClr val="accent1"/>
          </a:effectRef>
          <a:fontRef idx="minor"/>
        </p:style>
        <p:txBody>
          <a:bodyPr lIns="90000" tIns="19080" rIns="90000" bIns="19080" anchor="ctr">
            <a:noAutofit/>
          </a:bodyPr>
          <a:p>
            <a:pPr/>
            <a:endParaRPr lang="en-US" sz="1800" b="0" u="none" strike="noStrike">
              <a:solidFill>
                <a:schemeClr val="lt1"/>
              </a:solidFill>
              <a:effectLst/>
              <a:uFillTx/>
              <a:latin typeface="Calibri"/>
            </a:endParaRPr>
          </a:p>
        </p:txBody>
      </p:sp>
      <p:sp>
        <p:nvSpPr>
          <p:cNvPr id="355" name="TextBox 5"/>
          <p:cNvSpPr/>
          <p:nvPr/>
        </p:nvSpPr>
        <p:spPr>
          <a:xfrm>
            <a:off x="548640" y="3063240"/>
            <a:ext cx="7771680" cy="82296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5400" b="1" u="none" strike="noStrike">
                <a:solidFill>
                  <a:srgbClr val="FFFFFF"/>
                </a:solidFill>
                <a:effectLst/>
                <a:uFillTx/>
                <a:latin typeface="Arial"/>
              </a:rPr>
              <a:t>Thank You.</a:t>
            </a:r>
            <a:endParaRPr lang="en-US" sz="5400" b="0" u="none" strike="noStrike">
              <a:solidFill>
                <a:srgbClr val="FFFFFF"/>
              </a:solidFill>
              <a:effectLst/>
              <a:uFillTx/>
              <a:latin typeface="Arial"/>
            </a:endParaRPr>
          </a:p>
        </p:txBody>
      </p:sp>
      <p:sp>
        <p:nvSpPr>
          <p:cNvPr id="356" name="TextBox 6"/>
          <p:cNvSpPr/>
          <p:nvPr/>
        </p:nvSpPr>
        <p:spPr>
          <a:xfrm>
            <a:off x="548640" y="4114800"/>
            <a:ext cx="7497360" cy="274320"/>
          </a:xfrm>
          <a:prstGeom prst="rect">
            <a:avLst/>
          </a:prstGeom>
          <a:noFill/>
          <a:ln w="0">
            <a:noFill/>
          </a:ln>
        </p:spPr>
        <p:style>
          <a:lnRef idx="0"/>
          <a:fillRef idx="0"/>
          <a:effectRef idx="0"/>
          <a:fontRef idx="minor"/>
        </p:style>
        <p:txBody>
          <a:bodyPr lIns="0" tIns="0" rIns="0" bIns="0" anchor="t">
            <a:spAutoFit/>
          </a:bodyPr>
          <a:p>
            <a:pPr defTabSz="914400">
              <a:lnSpc>
                <a:spcPct val="100000"/>
              </a:lnSpc>
            </a:pPr>
            <a:r>
              <a:rPr lang="en-US" sz="1800" b="0" u="none" strike="noStrike">
                <a:solidFill>
                  <a:srgbClr val="C9D6E3"/>
                </a:solidFill>
                <a:effectLst/>
                <a:uFillTx/>
                <a:latin typeface="Arial"/>
              </a:rPr>
              <a:t>Release with confidence. Grow with evidence.</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pitchFamily="0" charset="1"/>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19</TotalTime>
  <Application>LibreOffice/26.8.0.3$MacOSX_AARCH64 LibreOffice_project/bce0998afefdbc355585ca324285661a2170ba77</Application>
  <AppVersion>15.0000</AppVersion>
  <Words>0</Words>
  <Paragraphs>0</Paragraphs>
  <Company>Harness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2026-10-20T10:22:07Z</dcterms:created>
  <dc:creator>Iram Khan</dc:creator>
  <dc:description/>
  <dc:language>en-US</dc:language>
  <cp:lastModifiedBy/>
  <dcterms:modified xsi:type="dcterms:W3CDTF">2026-10-22T23:17:30Z</dcterms:modified>
  <cp:revision>4</cp:revision>
  <dc:subject>PptxGenJS Presentation</dc:subject>
  <dc:title>Odido x Harness FME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On-screen Show (16:9)</vt:lpwstr>
  </property>
  <property fmtid="{D5CDD505-2E9C-101B-9397-08002B2CF9AE}" pid="4" name="Slides">
    <vt:i4>7</vt:i4>
  </property>
</Properties>
</file>